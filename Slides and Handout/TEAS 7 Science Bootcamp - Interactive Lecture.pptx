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wav" ContentType="audio/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0D63918-E059-88BD-FD08-E2C0833CE538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Hour 1 · Foundations" id="{FEBC6FEB-6714-1FBB-E3B2-DF666CA9A2E4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Hour 2 · Heart &amp; lungs" id="{84D1B811-C5C1-A9A9-E34C-EFAD8E3A7CF9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Hour 3 · Nervous &amp; endocrine" id="{22A44E51-D1D8-448E-473A-15D97C692A8A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Hour 4 · Digestive &amp; urinary" id="{2237A6BE-701C-FC86-7548-5EC93487D812}">
          <p14:sldIdLst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Hour 5 · Bones, muscles, skin" id="{F47DFD98-B19E-611E-44CD-95FEED67FFC2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Hour 6 · Immune &amp; reproductive" id="{60B647AD-BFE3-7033-80DE-91DBFB4A796D}">
          <p14:sldIdLst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Hour 7 · Biology &amp; chemistry" id="{8F146F51-029B-A8A6-E0FB-CCE2A4AF0CA1}">
          <p14:sldIdLst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Hour 8 · Scientific reasoning" id="{EDF83B46-DE8D-0BCE-B8D3-A1B5067ECFB7}">
          <p14:sldIdLst>
            <p14:sldId id="325"/>
            <p14:sldId id="326"/>
            <p14:sldId id="327"/>
            <p14:sldId id="328"/>
            <p14:sldId id="329"/>
          </p14:sldIdLst>
        </p14:section>
        <p14:section name="Final review" id="{B08B1052-F6E5-24C8-445F-CFB8182BF0F7}">
          <p14:sldIdLst>
            <p14:sldId id="330"/>
            <p14:sldId id="331"/>
            <p14:sldId id="332"/>
            <p14:sldId id="333"/>
            <p14:sldId id="334"/>
            <p14:sldId id="335"/>
            <p14:sldId id="3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2EEFF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F2EEFF"/>
                </a:solidFill>
                <a:latin typeface="+mn-lt"/>
              </a:rPr>
              <a:t>Scored questions by topic (44)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Scored questions</c:v>
                </c:pt>
              </c:strCache>
            </c:strRef>
          </c:tx>
          <c:spPr>
            <a:solidFill>
              <a:srgbClr val="E9B9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2EE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Chemistry ★</c:v>
                </c:pt>
                <c:pt idx="1">
                  <c:v>Scientific reasoning ★★</c:v>
                </c:pt>
                <c:pt idx="2">
                  <c:v>Biology ★★</c:v>
                </c:pt>
                <c:pt idx="3">
                  <c:v>Anatomy &amp; Physiology ★★★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9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2A-41D9-B2F9-F19738117A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2EE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2EEFF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F2EEFF"/>
                </a:solidFill>
                <a:latin typeface="+mn-lt"/>
              </a:rPr>
              <a:t>Minutes per hour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48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44B-4F30-9B51-C194DF3D3AE9}"/>
              </c:ext>
            </c:extLst>
          </c:dPt>
          <c:dPt>
            <c:idx val="1"/>
            <c:bubble3D val="0"/>
            <c:spPr>
              <a:solidFill>
                <a:srgbClr val="E9B9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4B-4F30-9B51-C194DF3D3AE9}"/>
              </c:ext>
            </c:extLst>
          </c:dPt>
          <c:dPt>
            <c:idx val="2"/>
            <c:bubble3D val="0"/>
            <c:spPr>
              <a:solidFill>
                <a:srgbClr val="6FE0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44B-4F30-9B51-C194DF3D3AE9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0B0D1C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4B-4F30-9B51-C194DF3D3AE9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0B0D1C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44B-4F30-9B51-C194DF3D3AE9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0B0D1C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44B-4F30-9B51-C194DF3D3AE9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Teach</c:v>
                </c:pt>
                <c:pt idx="1">
                  <c:v>Quiz or game realm</c:v>
                </c:pt>
                <c:pt idx="2">
                  <c:v>Break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10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44B-4F30-9B51-C194DF3D3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F2EE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59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open: the intro video and the background soundtrack start automatically. The music loops quietly until the next realm divider, where it starts again. Click the gold "Music on / off" button (here and on every realm divider) to pause or resume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Two days, eight one-hour realms. Every hour: teach, play, rest. The profile video plays automatically when this slide opens (click it to pause or replay).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Science = 50 questions in 60 minutes, about 1 minute each. A&amp;P is 18 of the 44 scored questions, so we start with A&amp;P. Priority stars come from the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hot-spot, ordered-response and fill-in items. Study loop from the guide: read, cover, recall, practice questions, revisit in 2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hour has a matching game realm. Click any realm tile in Slide Show to jump to that hour; each realm title slide has a "Realm map" link to come back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hour = 45 minutes teaching + 10 minutes quiz or game realm + 5 minutes break. Lunch and breaks between days are outside the 8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Realms of Anatomica: one realm per bootcamp hour, 50 questions each. No student sign-in; play both days on the same device and browser because progress is saved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1 (Day 1): Exam basics + A&amp;P foundations. Plan: 45 minutes teaching, 10 minutes quiz or game realm (Gloomhallow Manor), 5 minutes break. Goal: Name planes, directions, tissues and feedback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stand in anatomical position. Point superior/inferior, anterior/posterior, medial/lateral. Proximal/distal is for limbs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Sagittal splits left | right, Frontal (coronal) splits front | back, Transverse splits top | bottom: "Split Front Top".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Interactive: in Slide Show, click each quadrant to reveal its organs (RUQ liver/gallbladder, LUQ stomach/spleen, RLQ appendix, LLQ sigmoid colon). Remind students: the patient's right is on your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Levels: Chemical → Cell → Tissue → Organ → Organ system → Organism ("Cats Can Take Over Our Office"). Tissues: ECMN, "Every Cell Must Network". Epithelium has no blood vessels.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feedback reverses the change (most hormones and body temperature). Positive feedback amplifies until an event ends: labor, clotting, breastfeeding. Hook: Positive = Babies and Blood.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(Sagittal). Why: Sagittal = left/right.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B (Distal). Why: Farther from where the arm attaches.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D (Contractions during labor). Why: Labor amplifies until birth.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2 (Day 1): Heart &amp; blood + lungs. Plan: 45 minutes teaching, 10 minutes quiz or game realm (Emberheart Caldera), 5 minutes break. Goal: Recite blood flow through the heart; explain acidosis vs alkalosis.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Video: animated path of a red blood cell through the heart (about 24 seconds). Ask students to say each step out loud with the video. Click the video to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Ordered-response practice: have the class call out the next step before each click. Valves: Try Pulling My Aorta.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Arteries carry blood away from the heart. LV has the thickest wall. SA node = pacemaker. Nursing link: left heart failure backs up into the lungs; right heart failure causes swollen legs.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RBC = O2 (hemoglobin, iron), WBC = infection, platelets = clotting, plasma = 55% mostly water. BP normal &lt; 120/80; systolic = squeeze, diastolic = relax.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 path: nose → pharynx → larynx → trachea → bronchi → bronchioles → alveoli. Mnemonic: Please Let The Breath Be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Interactive: click SLOW or FAST to reveal the outcome. Slow breathing keeps CO2 (acidosis); fast breathing blows it off (alkalosis).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B (Pulmonary artery). Why: Right ventricle → pulmonary artery → lungs.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(Pulmonary vein). Why: Pulmonary veins bring O₂-rich blood from the lungs.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B (Respiratory alkalosis). Why: Fast breathing blows off CO₂ → pH rises.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3 (Day 1): Nervous + endocrine. Plan: 45 minutes teaching, 10 minutes quiz or game realm (Stormspire Nexus), 5 minutes break. Goal: Compare sympathetic vs parasympathetic; match glands to hormones.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Sympathetic = fight or flight (↑HR, ↑BP, big pupils, digestion stops). Parasympathetic = rest and digest (↓HR, digestion on, vagus nerve).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flows one way: dendrite → cell body → axon ("Don't Call Again"). SAME: Sensory Afferent, Motor Efferent. Cerebellum = balance; medulla = breathing and heart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hormones are controlled by negative feedback. Steroid hormones (cortisol, estrogen, testosterone) are made from cholesterol.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Interactive: ask the class what each cue means, then click the locked card to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(Dilated pupils). Why: Fight or flight: big pupils.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B (Hypothalamus, posterior pituitary). Why: Hypothalamus makes, posterior pituitary releases.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(Parathyroid hormone). Why: PTH pulls calcium up.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4 (Day 1): Digestive + urinary. Plan: 45 minutes teaching, 10 minutes quiz or game realm (The Gumdrop Gut Works), 5 minutes break. Goal: Trace food and urine; explain ADH and aldosterone.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 path: mouth → esophagus → stomach → small intestine (Dow Jones Industrial) → large intestine → rectum.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ADH holds water; aldosterone holds salt. Kidneys make EPO and renin, so kidney failure causes anemia and high blood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B (Stomach). Why: Pepsin + acid in the stomach.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(Liver, gallbladder). Why: Liver makes, gallbladder stores.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(Glomerulus). Why: Filtering happens at the glomerulus.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Remind students to finish realms 1-4 in the game and lock in their finals before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5 (Day 2): Bones, muscles, skin. Plan: 45 minutes teaching, 10 minutes quiz or game realm (The Rattling Gymnasium), 5 minutes break. Goal: Explain blast vs clast, muscle types, skin layers and glands.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5 minutes of Hour 5: rapid recall of Day 1. Click each gold prompt to reveal the answer after students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206 bones. Blast = build, clast = crush. Ligament links bone to bone; tendon tugs muscle to bone. Vertebrae 7-12-5.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abduct and adduct their arms. Contraction: nerve signal → calcium → myosin grabs actin and pulls → shortens; needs ATP.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Layers top to bottom: epidermis (no blood vessels), dermis (vessels, nerves, glands, hair), hypodermis (fat). Glands: eccrine, apocrine, sebaceous.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B (Osteoclast). Why: Clast = crush.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(Tendons). Why: Tendon = tug.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(Sebaceous). Why: Sebaceous = sebum.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6 (Day 2): Immune/lymphatic + reproductive. Plan: 45 minutes teaching, 10 minutes quiz or game realm (Bastion of Wards), 5 minutes break. Goal: Fill in the active/passive immunity grid; name antibody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grid: click each "?" to reveal it. Natural active = catch the disease; natural passive = mom to baby; artificial active = vaccine; artificial passive = antibody 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IgG = most common, crosses the placenta (Gestation). IgA = tears, saliva, breast milk. IgM = first responder (Main first). IgE = allergies (Eek!).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Testosterone is the main androgen. Fertilization happens in the fallopian tube. LH surge triggers ovulation around day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(Natural passive). Why: Borrowed from mom = natural passive.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B (B cells). Why: B cells → antibodies.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(Fallopian tube). Why: Fallopian tube.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7 (Day 2): Biology + chemistry. Plan: 45 minutes teaching, 10 minutes quiz or game realm (The Mad Alchemist's Lab), 5 minutes break. Goal: Match organelles; do a Punnett square; read pH; name reaction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Factory analogy: nucleus = boss, mitochondria = power plant (ATP), ribosomes = workers (proteins), Golgi = shipping.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shows PMAT: Prophase (condense), Metaphase (middle), Anaphase (apart), Telophase (two nuclei). Mitosis makes 2 identical cells; meiosis makes 4 unique sex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DNA pairs A–T, C–G; RNA uses U instead of T. Transcription DNA → mRNA in the nucleus; translation mRNA → protein at the ribosome.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Interactive: click each "?" in the Punnett square. Bb × Bb gives 1 BB : 2 Bb : 1 bb, a 3:1 dominant-to-recessive look (75%/25%).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 N: Carbohydrates, Lipids, Proteins, Nucleic acids. Antibiotics do not work on viruses.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PEN: Protons positive, Electrons negative, Neutrons neutral. Atomic number = protons.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Ionic = I give; covalent = cooperate (share). Reaction hooks: marriage, divorce, cut in on the dance, partner swap, fire.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 0–14: below 7 acid, 7 neutral, above 7 base; each step is 10×.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(Mitochondria). Why: Power plant.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B (25%). Why: Only bb (1 of 4).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(Proton). Why: Protons = atomic number.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(Acidic). Why: Below 7 = acid.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8 (Day 2): Scientific reasoning + timed quiz + cram sheet. Plan: 45 minutes teaching, 10 minutes quiz or game realm (The Sandglass Archive), 5 minutes break. Goal: Identify variables; score 75%+ on the timed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→ Question → Hypothesis → Experiment → Analyze → Conclude. Independent = what I change; dependent = what I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Practice: 2.5 L = 2,500 mL (three steps down, × 1,000).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B (Plant height). Why: Height depends on fertilizer.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question: click an answer card in Slide Show. A wrong card shows "Try again" with a buzz; the right card rings and reveals the explanation. Answer: C (2,500). Why: 1 L = 1,000 mL. Tip: ask students to vote with fingers (1-4) before you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all 24 questions timed (24 minutes) in Day 2 Hour 8, or use the interactive boss-battle slides after each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from the bootcamp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from the bootcamp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fact together; students cover the right half and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fact together; students cover the right half and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Test-day tips from the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you! Remind students to submit their PDF report after all 8 realms.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097280" y="3200400"/>
            <a:ext cx="99669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B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 7 Science Bootcamp  |  Dr. Joannes Paulus Tolentino Hernandez  |  Fall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 7 Science Bootcamp  |  Dr. Joannes Paulus Tolentino Hernandez  |  Fall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2.m4a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.xml"/><Relationship Id="rId4" Type="http://schemas.openxmlformats.org/officeDocument/2006/relationships/audio" Target="../media/media2.m4a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6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.jpe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50.xml"/><Relationship Id="rId3" Type="http://schemas.openxmlformats.org/officeDocument/2006/relationships/slide" Target="slide8.xml"/><Relationship Id="rId7" Type="http://schemas.openxmlformats.org/officeDocument/2006/relationships/slide" Target="slide4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10" Type="http://schemas.openxmlformats.org/officeDocument/2006/relationships/slide" Target="slide70.xml"/><Relationship Id="rId4" Type="http://schemas.openxmlformats.org/officeDocument/2006/relationships/slide" Target="slide17.xml"/><Relationship Id="rId9" Type="http://schemas.openxmlformats.org/officeDocument/2006/relationships/slide" Target="slide5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hyperlink" Target="https://stellarlifetech.github.io/ANATOMICA/" TargetMode="Externa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8.png"/><Relationship Id="rIdFx1" Type="http://schemas.openxmlformats.org/officeDocument/2006/relationships/audio" Target="../media/audio2.wav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7.jpe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4.png"/><Relationship Id="rIdFx1" Type="http://schemas.openxmlformats.org/officeDocument/2006/relationships/audio" Target="../media/audio2.wav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3.jpe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17.xml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6.png"/><Relationship Id="rIdFx1" Type="http://schemas.openxmlformats.org/officeDocument/2006/relationships/audio" Target="../media/audio2.wav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5.jpe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27.xml"/><Relationship Id="rId9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1.png"/><Relationship Id="rIdFx1" Type="http://schemas.openxmlformats.org/officeDocument/2006/relationships/audio" Target="../media/audio2.wav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0.jpe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35.xml"/><Relationship Id="rId9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Fx1" Type="http://schemas.openxmlformats.org/officeDocument/2006/relationships/audio" Target="../media/audio7.wav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4.png"/><Relationship Id="rIdFx1" Type="http://schemas.openxmlformats.org/officeDocument/2006/relationships/audio" Target="../media/audio2.wav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3.jpe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42.xml"/><Relationship Id="rId9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6.png"/><Relationship Id="rIdFx1" Type="http://schemas.openxmlformats.org/officeDocument/2006/relationships/audio" Target="../media/audio2.wav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5.jpe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50.xml"/><Relationship Id="rId9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8.png"/><Relationship Id="rIdFx1" Type="http://schemas.openxmlformats.org/officeDocument/2006/relationships/audio" Target="../media/audio2.wav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7.jpe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57.xml"/><Relationship Id="rId9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50.png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57.png"/><Relationship Id="rIdFx1" Type="http://schemas.openxmlformats.org/officeDocument/2006/relationships/audio" Target="../media/audio2.wav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56.jpe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70.xml"/><Relationship Id="rId9" Type="http://schemas.openxmlformats.org/officeDocument/2006/relationships/image" Target="../media/image5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Fx3" Type="http://schemas.openxmlformats.org/officeDocument/2006/relationships/audio" Target="../media/audio4.wav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hyperlink" Target="https://stellarlifetech.github.io/ANATOMICA/" TargetMode="External"/><Relationship Id="rIdFx1" Type="http://schemas.openxmlformats.org/officeDocument/2006/relationships/audio" Target="../media/audio2.wav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Fx1" Type="http://schemas.openxmlformats.org/officeDocument/2006/relationships/audio" Target="../media/audio7.wav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ellarlifetech.github.io/ANATOMIC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TEAS 7 Science Bootcamp</a:t>
            </a:r>
            <a:endParaRPr lang="en-US" sz="5000" dirty="0"/>
          </a:p>
        </p:txBody>
      </p:sp>
      <p:pic>
        <p:nvPicPr>
          <p:cNvPr id="4" name="intro_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bg_music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097280" y="182880"/>
            <a:ext cx="548640" cy="548640"/>
          </a:xfrm>
          <a:prstGeom prst="rect">
            <a:avLst/>
          </a:prstGeom>
        </p:spPr>
      </p:pic>
      <p:sp>
        <p:nvSpPr>
          <p:cNvPr id="5" name="music_btn"/>
          <p:cNvSpPr/>
          <p:nvPr/>
        </p:nvSpPr>
        <p:spPr>
          <a:xfrm>
            <a:off x="320040" y="621792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0B0D1C">
              <a:alpha val="75000"/>
            </a:srgbClr>
          </a:solidFill>
          <a:ln w="15875">
            <a:solidFill>
              <a:srgbClr val="E9B9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949"/>
                </a:solidFill>
              </a:rPr>
              <a:t>♪  Music on / off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9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audio>
              <p:cMediaNode vol="45000" numSld="7" showWhenStopped="0">
                <p:cTn id="2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TEAS 7 Science Bootcamp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Anatomy &amp; Physiology + Nursing Science Review</a:t>
            </a:r>
            <a:endParaRPr lang="en-US" sz="2400" dirty="0"/>
          </a:p>
        </p:txBody>
      </p:sp>
      <p:sp>
        <p:nvSpPr>
          <p:cNvPr id="4" name="by_1"/>
          <p:cNvSpPr txBox="1"/>
          <p:nvPr/>
        </p:nvSpPr>
        <p:spPr>
          <a:xfrm>
            <a:off x="731520" y="416052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B949"/>
                </a:solidFill>
              </a:rPr>
              <a:t>By Dr. Joannes Paulus Tolentino Hernandez</a:t>
            </a:r>
            <a:endParaRPr lang="en-US" sz="2200" dirty="0"/>
          </a:p>
        </p:txBody>
      </p:sp>
      <p:sp>
        <p:nvSpPr>
          <p:cNvPr id="5" name="fall_2"/>
          <p:cNvSpPr txBox="1"/>
          <p:nvPr/>
        </p:nvSpPr>
        <p:spPr>
          <a:xfrm>
            <a:off x="731520" y="46634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2EEFF"/>
                </a:solidFill>
              </a:rPr>
              <a:t>2 Days × 4 Hours  ·  Fall 2026  ·  j.hernandez@amg.edu</a:t>
            </a:r>
            <a:endParaRPr lang="en-US" sz="1600" dirty="0"/>
          </a:p>
        </p:txBody>
      </p:sp>
      <p:pic>
        <p:nvPicPr>
          <p:cNvPr id="8" name="profile_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57616" y="1499616"/>
            <a:ext cx="3401568" cy="3401568"/>
          </a:xfrm>
          <a:prstGeom prst="ellipse">
            <a:avLst/>
          </a:prstGeom>
        </p:spPr>
      </p:pic>
      <p:sp>
        <p:nvSpPr>
          <p:cNvPr id="7" name="profile_ring"/>
          <p:cNvSpPr/>
          <p:nvPr/>
        </p:nvSpPr>
        <p:spPr>
          <a:xfrm>
            <a:off x="8339328" y="1481328"/>
            <a:ext cx="3438144" cy="3438144"/>
          </a:xfrm>
          <a:prstGeom prst="ellipse">
            <a:avLst/>
          </a:prstGeom>
          <a:solidFill>
            <a:srgbClr val="0B0D1C">
              <a:alpha val="0"/>
            </a:srgbClr>
          </a:solidFill>
          <a:ln w="50800">
            <a:solidFill>
              <a:srgbClr val="E9B949"/>
            </a:solidFill>
            <a:prstDash val="solid"/>
          </a:ln>
        </p:spPr>
      </p:sp>
    </p:spTree>
  </p:cSld>
  <p:clrMapOvr>
    <a:masterClrMapping/>
  </p:clrMapOvr>
  <p:transition spd="med">
    <p:fade/>
    <p:sndAc>
      <p:stSnd>
        <p:snd r:embed="rId5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mission: the TEAS science section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37160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8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questions</a:t>
            </a:r>
            <a:endParaRPr lang="en-US" sz="4800" dirty="0"/>
          </a:p>
        </p:txBody>
      </p:sp>
      <p:sp>
        <p:nvSpPr>
          <p:cNvPr id="4" name="card_2"/>
          <p:cNvSpPr/>
          <p:nvPr/>
        </p:nvSpPr>
        <p:spPr>
          <a:xfrm>
            <a:off x="2423160" y="137160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8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minutes</a:t>
            </a:r>
            <a:endParaRPr lang="en-US" sz="4800" dirty="0"/>
          </a:p>
        </p:txBody>
      </p:sp>
      <p:sp>
        <p:nvSpPr>
          <p:cNvPr id="5" name="card_3"/>
          <p:cNvSpPr/>
          <p:nvPr/>
        </p:nvSpPr>
        <p:spPr>
          <a:xfrm>
            <a:off x="4297680" y="137160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</a:t>
            </a:r>
            <a:endParaRPr lang="en-US" sz="48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minute each</a:t>
            </a:r>
            <a:endParaRPr lang="en-US" sz="4800" dirty="0"/>
          </a:p>
        </p:txBody>
      </p:sp>
      <p:sp>
        <p:nvSpPr>
          <p:cNvPr id="6" name="card_4"/>
          <p:cNvSpPr/>
          <p:nvPr/>
        </p:nvSpPr>
        <p:spPr>
          <a:xfrm>
            <a:off x="548640" y="31546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E9B949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A&amp;P first!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Anatomy &amp; Physiology is 18 of the 44 scored questions: the biggest piece of the science score.</a:t>
            </a:r>
            <a:endParaRPr lang="en-US" sz="2000" dirty="0"/>
          </a:p>
        </p:txBody>
      </p:sp>
      <p:sp>
        <p:nvSpPr>
          <p:cNvPr id="7" name="card_5"/>
          <p:cNvSpPr/>
          <p:nvPr/>
        </p:nvSpPr>
        <p:spPr>
          <a:xfrm>
            <a:off x="548640" y="4754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75%+ in science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No partial credit on "select all" items.</a:t>
            </a:r>
            <a:endParaRPr lang="en-US" sz="2000" dirty="0"/>
          </a:p>
        </p:txBody>
      </p:sp>
      <p:graphicFrame>
        <p:nvGraphicFramePr>
          <p:cNvPr id="8" name="chart"/>
          <p:cNvGraphicFramePr/>
          <p:nvPr/>
        </p:nvGraphicFramePr>
        <p:xfrm>
          <a:off x="6309360" y="1325880"/>
          <a:ext cx="53492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win: question types and the study loop</a:t>
            </a:r>
            <a:endParaRPr lang="en-US" sz="3600" dirty="0"/>
          </a:p>
        </p:txBody>
      </p:sp>
      <p:sp>
        <p:nvSpPr>
          <p:cNvPr id="3" name="dot_1"/>
          <p:cNvSpPr/>
          <p:nvPr/>
        </p:nvSpPr>
        <p:spPr>
          <a:xfrm>
            <a:off x="548640" y="1417320"/>
            <a:ext cx="868680" cy="86868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4" name="ico_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" y="1573682"/>
            <a:ext cx="555955" cy="555955"/>
          </a:xfrm>
          <a:prstGeom prst="rect">
            <a:avLst/>
          </a:prstGeom>
        </p:spPr>
      </p:pic>
      <p:sp>
        <p:nvSpPr>
          <p:cNvPr id="5" name="card_3"/>
          <p:cNvSpPr/>
          <p:nvPr/>
        </p:nvSpPr>
        <p:spPr>
          <a:xfrm>
            <a:off x="1600200" y="137160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181C40">
              <a:alpha val="6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Click the organ or region on a picture</a:t>
            </a:r>
            <a:endParaRPr lang="en-US" sz="1800" dirty="0"/>
          </a:p>
        </p:txBody>
      </p:sp>
      <p:sp>
        <p:nvSpPr>
          <p:cNvPr id="6" name="dot_4"/>
          <p:cNvSpPr/>
          <p:nvPr/>
        </p:nvSpPr>
        <p:spPr>
          <a:xfrm>
            <a:off x="548640" y="2560320"/>
            <a:ext cx="868680" cy="86868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7" name="ico_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" y="2716682"/>
            <a:ext cx="555955" cy="555955"/>
          </a:xfrm>
          <a:prstGeom prst="rect">
            <a:avLst/>
          </a:prstGeom>
        </p:spPr>
      </p:pic>
      <p:sp>
        <p:nvSpPr>
          <p:cNvPr id="8" name="card_6"/>
          <p:cNvSpPr/>
          <p:nvPr/>
        </p:nvSpPr>
        <p:spPr>
          <a:xfrm>
            <a:off x="1600200" y="251460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181C40">
              <a:alpha val="6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response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Drag steps into order (like blood flow)</a:t>
            </a:r>
            <a:endParaRPr lang="en-US" sz="1800" dirty="0"/>
          </a:p>
        </p:txBody>
      </p:sp>
      <p:sp>
        <p:nvSpPr>
          <p:cNvPr id="9" name="dot_7"/>
          <p:cNvSpPr/>
          <p:nvPr/>
        </p:nvSpPr>
        <p:spPr>
          <a:xfrm>
            <a:off x="548640" y="3703320"/>
            <a:ext cx="868680" cy="86868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10" name="ico_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" y="3859682"/>
            <a:ext cx="555955" cy="555955"/>
          </a:xfrm>
          <a:prstGeom prst="rect">
            <a:avLst/>
          </a:prstGeom>
        </p:spPr>
      </p:pic>
      <p:sp>
        <p:nvSpPr>
          <p:cNvPr id="11" name="card_9"/>
          <p:cNvSpPr/>
          <p:nvPr/>
        </p:nvSpPr>
        <p:spPr>
          <a:xfrm>
            <a:off x="1600200" y="365760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181C40">
              <a:alpha val="6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Type the term from memory</a:t>
            </a:r>
            <a:endParaRPr lang="en-US" sz="1800" dirty="0"/>
          </a:p>
        </p:txBody>
      </p:sp>
      <p:sp>
        <p:nvSpPr>
          <p:cNvPr id="12" name="lt_10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B949"/>
                </a:solidFill>
              </a:rPr>
              <a:t>The study loop</a:t>
            </a:r>
            <a:endParaRPr lang="en-US" sz="2200" dirty="0"/>
          </a:p>
        </p:txBody>
      </p:sp>
      <p:sp>
        <p:nvSpPr>
          <p:cNvPr id="13" name="chip_11"/>
          <p:cNvSpPr/>
          <p:nvPr/>
        </p:nvSpPr>
        <p:spPr>
          <a:xfrm>
            <a:off x="6400800" y="20116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22275A"/>
          </a:solidFill>
          <a:ln w="19050">
            <a:solidFill>
              <a:srgbClr val="B48C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Read</a:t>
            </a:r>
            <a:endParaRPr lang="en-US" sz="1700" dirty="0"/>
          </a:p>
        </p:txBody>
      </p:sp>
      <p:sp>
        <p:nvSpPr>
          <p:cNvPr id="14" name="chip_12"/>
          <p:cNvSpPr/>
          <p:nvPr/>
        </p:nvSpPr>
        <p:spPr>
          <a:xfrm>
            <a:off x="9098280" y="20116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Cover</a:t>
            </a:r>
            <a:endParaRPr lang="en-US" sz="1700" dirty="0"/>
          </a:p>
        </p:txBody>
      </p:sp>
      <p:sp>
        <p:nvSpPr>
          <p:cNvPr id="15" name="chip_13"/>
          <p:cNvSpPr/>
          <p:nvPr/>
        </p:nvSpPr>
        <p:spPr>
          <a:xfrm>
            <a:off x="6400800" y="320040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22275A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Recall</a:t>
            </a:r>
            <a:endParaRPr lang="en-US" sz="1700" dirty="0"/>
          </a:p>
        </p:txBody>
      </p:sp>
      <p:sp>
        <p:nvSpPr>
          <p:cNvPr id="16" name="chip_14"/>
          <p:cNvSpPr/>
          <p:nvPr/>
        </p:nvSpPr>
        <p:spPr>
          <a:xfrm>
            <a:off x="9098280" y="320040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Practice questions</a:t>
            </a:r>
            <a:endParaRPr lang="en-US" sz="1700" dirty="0"/>
          </a:p>
        </p:txBody>
      </p:sp>
      <p:sp>
        <p:nvSpPr>
          <p:cNvPr id="17" name="chip_15"/>
          <p:cNvSpPr/>
          <p:nvPr/>
        </p:nvSpPr>
        <p:spPr>
          <a:xfrm>
            <a:off x="6400800" y="43891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22275A"/>
          </a:solidFill>
          <a:ln w="19050">
            <a:solidFill>
              <a:srgbClr val="7FE0A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Revisit in 2 days</a:t>
            </a:r>
            <a:endParaRPr lang="en-US" sz="1700" dirty="0"/>
          </a:p>
        </p:txBody>
      </p:sp>
      <p:sp>
        <p:nvSpPr>
          <p:cNvPr id="18" name="card_16"/>
          <p:cNvSpPr/>
          <p:nvPr/>
        </p:nvSpPr>
        <p:spPr>
          <a:xfrm>
            <a:off x="6400800" y="5486400"/>
            <a:ext cx="5074920" cy="685800"/>
          </a:xfrm>
          <a:prstGeom prst="roundRect">
            <a:avLst>
              <a:gd name="adj" fmla="val 16000"/>
            </a:avLst>
          </a:prstGeom>
          <a:solidFill>
            <a:srgbClr val="0B0D1C">
              <a:alpha val="92000"/>
            </a:srgbClr>
          </a:solidFill>
          <a:ln w="12700">
            <a:solidFill>
              <a:srgbClr val="E9B949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Repeat the loop: spaced recall beats rereading.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decel="10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decel="10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decel="10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decel="10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decel="10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Bootcamp map: 2 days × 8 realms</a:t>
            </a:r>
            <a:endParaRPr lang="en-US" sz="3600" dirty="0"/>
          </a:p>
        </p:txBody>
      </p:sp>
      <p:sp>
        <p:nvSpPr>
          <p:cNvPr id="3" name="hint_1"/>
          <p:cNvSpPr txBox="1"/>
          <p:nvPr/>
        </p:nvSpPr>
        <p:spPr>
          <a:xfrm>
            <a:off x="7498080" y="3840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FE0D6"/>
                </a:solidFill>
              </a:rPr>
              <a:t>Click a realm to jump to its hour</a:t>
            </a:r>
            <a:endParaRPr lang="en-US" sz="1400" dirty="0"/>
          </a:p>
        </p:txBody>
      </p:sp>
      <p:sp>
        <p:nvSpPr>
          <p:cNvPr id="4" name="day_2"/>
          <p:cNvSpPr txBox="1"/>
          <p:nvPr/>
        </p:nvSpPr>
        <p:spPr>
          <a:xfrm>
            <a:off x="54864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9B949"/>
                </a:solidFill>
              </a:rPr>
              <a:t>DAY 1</a:t>
            </a:r>
            <a:endParaRPr lang="en-US" sz="1600" dirty="0"/>
          </a:p>
        </p:txBody>
      </p:sp>
      <p:sp>
        <p:nvSpPr>
          <p:cNvPr id="5" name="realm_3">
            <a:hlinkClick r:id="rId3" action="ppaction://hlinksldjump" tooltip="Go to this realm"/>
          </p:cNvPr>
          <p:cNvSpPr/>
          <p:nvPr/>
        </p:nvSpPr>
        <p:spPr>
          <a:xfrm>
            <a:off x="548640" y="173736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181C40">
              <a:alpha val="95000"/>
            </a:srgbClr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52400" rIns="152400" bIns="1270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B8CFF"/>
                </a:solidFill>
              </a:rPr>
              <a:t>Hour 1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Gloomhallow Manor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B5D6"/>
                </a:solidFill>
              </a:rPr>
              <a:t>Exam basics + A&amp;P foundations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2EEFF"/>
                </a:solidFill>
              </a:rPr>
              <a:t>Name planes, directions, tissues and feedback types</a:t>
            </a:r>
            <a:endParaRPr lang="en-US" sz="1400" dirty="0"/>
          </a:p>
        </p:txBody>
      </p:sp>
      <p:sp>
        <p:nvSpPr>
          <p:cNvPr id="6" name="realm_4">
            <a:hlinkClick r:id="rId4" action="ppaction://hlinksldjump" tooltip="Go to this realm"/>
          </p:cNvPr>
          <p:cNvSpPr/>
          <p:nvPr/>
        </p:nvSpPr>
        <p:spPr>
          <a:xfrm>
            <a:off x="3355848" y="173736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181C40">
              <a:alpha val="95000"/>
            </a:srgbClr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52400" rIns="152400" bIns="1270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6B4A"/>
                </a:solidFill>
              </a:rPr>
              <a:t>Hour 2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Emberheart Caldera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B5D6"/>
                </a:solidFill>
              </a:rPr>
              <a:t>Heart &amp; blood + lungs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2EEFF"/>
                </a:solidFill>
              </a:rPr>
              <a:t>Recite blood flow through the heart; explain acidosis vs alkalosis</a:t>
            </a:r>
            <a:endParaRPr lang="en-US" sz="1400" dirty="0"/>
          </a:p>
        </p:txBody>
      </p:sp>
      <p:sp>
        <p:nvSpPr>
          <p:cNvPr id="7" name="realm_5">
            <a:hlinkClick r:id="rId5" action="ppaction://hlinksldjump" tooltip="Go to this realm"/>
          </p:cNvPr>
          <p:cNvSpPr/>
          <p:nvPr/>
        </p:nvSpPr>
        <p:spPr>
          <a:xfrm>
            <a:off x="6163056" y="173736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181C40">
              <a:alpha val="95000"/>
            </a:srgbClr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52400" rIns="152400" bIns="1270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8CFF"/>
                </a:solidFill>
              </a:rPr>
              <a:t>Hour 3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Stormspire Nexus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B5D6"/>
                </a:solidFill>
              </a:rPr>
              <a:t>Nervous + endocrine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2EEFF"/>
                </a:solidFill>
              </a:rPr>
              <a:t>Compare sympathetic vs parasympathetic; match glands to hormones</a:t>
            </a:r>
            <a:endParaRPr lang="en-US" sz="1400" dirty="0"/>
          </a:p>
        </p:txBody>
      </p:sp>
      <p:sp>
        <p:nvSpPr>
          <p:cNvPr id="8" name="realm_6">
            <a:hlinkClick r:id="rId6" action="ppaction://hlinksldjump" tooltip="Go to this realm"/>
          </p:cNvPr>
          <p:cNvSpPr/>
          <p:nvPr/>
        </p:nvSpPr>
        <p:spPr>
          <a:xfrm>
            <a:off x="8970264" y="173736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181C40">
              <a:alpha val="95000"/>
            </a:srgbClr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52400" rIns="152400" bIns="1270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7AC8"/>
                </a:solidFill>
              </a:rPr>
              <a:t>Hour 4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Gumdrop Gut Works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B5D6"/>
                </a:solidFill>
              </a:rPr>
              <a:t>Digestive + urinary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2EEFF"/>
                </a:solidFill>
              </a:rPr>
              <a:t>Trace food and urine; explain ADH and aldosterone</a:t>
            </a:r>
            <a:endParaRPr lang="en-US" sz="1400" dirty="0"/>
          </a:p>
        </p:txBody>
      </p:sp>
      <p:sp>
        <p:nvSpPr>
          <p:cNvPr id="9" name="day_7"/>
          <p:cNvSpPr txBox="1"/>
          <p:nvPr/>
        </p:nvSpPr>
        <p:spPr>
          <a:xfrm>
            <a:off x="54864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9B949"/>
                </a:solidFill>
              </a:rPr>
              <a:t>DAY 2</a:t>
            </a:r>
            <a:endParaRPr lang="en-US" sz="1600" dirty="0"/>
          </a:p>
        </p:txBody>
      </p:sp>
      <p:sp>
        <p:nvSpPr>
          <p:cNvPr id="10" name="realm_8">
            <a:hlinkClick r:id="rId7" action="ppaction://hlinksldjump" tooltip="Go to this realm"/>
          </p:cNvPr>
          <p:cNvSpPr/>
          <p:nvPr/>
        </p:nvSpPr>
        <p:spPr>
          <a:xfrm>
            <a:off x="548640" y="425196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181C40">
              <a:alpha val="95000"/>
            </a:srgbClr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52400" rIns="152400" bIns="1270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9D8A6"/>
                </a:solidFill>
              </a:rPr>
              <a:t>Hour 5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Rattling Gymnasium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B5D6"/>
                </a:solidFill>
              </a:rPr>
              <a:t>Bones, muscles, skin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2EEFF"/>
                </a:solidFill>
              </a:rPr>
              <a:t>Explain blast vs clast, muscle types, skin layers and glands</a:t>
            </a:r>
            <a:endParaRPr lang="en-US" sz="1400" dirty="0"/>
          </a:p>
        </p:txBody>
      </p:sp>
      <p:sp>
        <p:nvSpPr>
          <p:cNvPr id="11" name="realm_9">
            <a:hlinkClick r:id="rId8" action="ppaction://hlinksldjump" tooltip="Go to this realm"/>
          </p:cNvPr>
          <p:cNvSpPr/>
          <p:nvPr/>
        </p:nvSpPr>
        <p:spPr>
          <a:xfrm>
            <a:off x="3355848" y="425196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181C40">
              <a:alpha val="95000"/>
            </a:srgbClr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52400" rIns="152400" bIns="1270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FE0A8"/>
                </a:solidFill>
              </a:rPr>
              <a:t>Hour 6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Bastion of Wards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B5D6"/>
                </a:solidFill>
              </a:rPr>
              <a:t>Immune/lymphatic + reproductive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2EEFF"/>
                </a:solidFill>
              </a:rPr>
              <a:t>Fill in the active/passive immunity grid; name antibody types</a:t>
            </a:r>
            <a:endParaRPr lang="en-US" sz="1400" dirty="0"/>
          </a:p>
        </p:txBody>
      </p:sp>
      <p:sp>
        <p:nvSpPr>
          <p:cNvPr id="12" name="realm_10">
            <a:hlinkClick r:id="rId9" action="ppaction://hlinksldjump" tooltip="Go to this realm"/>
          </p:cNvPr>
          <p:cNvSpPr/>
          <p:nvPr/>
        </p:nvSpPr>
        <p:spPr>
          <a:xfrm>
            <a:off x="6163056" y="425196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181C40">
              <a:alpha val="95000"/>
            </a:srgbClr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52400" rIns="152400" bIns="1270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Hour 7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Mad Alchemist's Lab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B5D6"/>
                </a:solidFill>
              </a:rPr>
              <a:t>Biology + chemistry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2EEFF"/>
                </a:solidFill>
              </a:rPr>
              <a:t>Match organelles; do a Punnett square; read pH; name reaction types</a:t>
            </a:r>
            <a:endParaRPr lang="en-US" sz="1400" dirty="0"/>
          </a:p>
        </p:txBody>
      </p:sp>
      <p:sp>
        <p:nvSpPr>
          <p:cNvPr id="13" name="realm_11">
            <a:hlinkClick r:id="rId10" action="ppaction://hlinksldjump" tooltip="Go to this realm"/>
          </p:cNvPr>
          <p:cNvSpPr/>
          <p:nvPr/>
        </p:nvSpPr>
        <p:spPr>
          <a:xfrm>
            <a:off x="8970264" y="425196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181C40">
              <a:alpha val="95000"/>
            </a:srgbClr>
          </a:solidFill>
          <a:ln w="254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52400" rIns="152400" bIns="1270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A35E"/>
                </a:solidFill>
              </a:rPr>
              <a:t>Hour 8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Sandglass Archive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B5D6"/>
                </a:solidFill>
              </a:rPr>
              <a:t>Scientific reasoning + timed quiz + cram sheet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2EEFF"/>
                </a:solidFill>
              </a:rPr>
              <a:t>Identify variables; score 75%+ on the timed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hour has the same rhythm</a:t>
            </a:r>
            <a:endParaRPr lang="en-US" sz="3600" dirty="0"/>
          </a:p>
        </p:txBody>
      </p:sp>
      <p:graphicFrame>
        <p:nvGraphicFramePr>
          <p:cNvPr id="3" name="donut"/>
          <p:cNvGraphicFramePr/>
          <p:nvPr/>
        </p:nvGraphicFramePr>
        <p:xfrm>
          <a:off x="548640" y="1280160"/>
          <a:ext cx="512064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_1"/>
          <p:cNvSpPr/>
          <p:nvPr/>
        </p:nvSpPr>
        <p:spPr>
          <a:xfrm>
            <a:off x="6035040" y="1371600"/>
            <a:ext cx="5577840" cy="1143000"/>
          </a:xfrm>
          <a:prstGeom prst="roundRect">
            <a:avLst>
              <a:gd name="adj" fmla="val 96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4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 ·  Teach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Short bursts, one system at a time, with a memory hook and a nursing link.</a:t>
            </a:r>
            <a:endParaRPr lang="en-US" sz="2000" dirty="0"/>
          </a:p>
        </p:txBody>
      </p:sp>
      <p:sp>
        <p:nvSpPr>
          <p:cNvPr id="5" name="card_2"/>
          <p:cNvSpPr/>
          <p:nvPr/>
        </p:nvSpPr>
        <p:spPr>
          <a:xfrm>
            <a:off x="6035040" y="2697480"/>
            <a:ext cx="5577840" cy="1143000"/>
          </a:xfrm>
          <a:prstGeom prst="roundRect">
            <a:avLst>
              <a:gd name="adj" fmla="val 96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 ·  Quiz or game realm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Play that hour's realm in Realms of Anatomica (or 3 quick questions).</a:t>
            </a:r>
            <a:endParaRPr lang="en-US" sz="2000" dirty="0"/>
          </a:p>
        </p:txBody>
      </p:sp>
      <p:sp>
        <p:nvSpPr>
          <p:cNvPr id="6" name="card_3"/>
          <p:cNvSpPr/>
          <p:nvPr/>
        </p:nvSpPr>
        <p:spPr>
          <a:xfrm>
            <a:off x="6035040" y="4023360"/>
            <a:ext cx="5577840" cy="1143000"/>
          </a:xfrm>
          <a:prstGeom prst="roundRect">
            <a:avLst>
              <a:gd name="adj" fmla="val 96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 ·  Break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Stand up, stretch, hydrate.</a:t>
            </a:r>
            <a:endParaRPr lang="en-US" sz="2000" dirty="0"/>
          </a:p>
        </p:txBody>
      </p:sp>
      <p:sp>
        <p:nvSpPr>
          <p:cNvPr id="7" name="card_4"/>
          <p:cNvSpPr/>
          <p:nvPr/>
        </p:nvSpPr>
        <p:spPr>
          <a:xfrm>
            <a:off x="6035040" y="539496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0B0D1C">
              <a:alpha val="92000"/>
            </a:srgbClr>
          </a:solidFill>
          <a:ln w="12700">
            <a:solidFill>
              <a:srgbClr val="E9B949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Start of Day 2: the first 5 minutes of Hour 5 are a rapid recall of Day 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the game: Realms of Anatomica</a:t>
            </a:r>
            <a:endParaRPr lang="en-US" sz="3600" dirty="0"/>
          </a:p>
        </p:txBody>
      </p:sp>
      <p:pic>
        <p:nvPicPr>
          <p:cNvPr id="3" name="qr_1" descr="/home/claude/teas-slides/assets/qr_g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2651760" cy="2651760"/>
          </a:xfrm>
          <a:prstGeom prst="rect">
            <a:avLst/>
          </a:prstGeom>
        </p:spPr>
      </p:pic>
      <p:sp>
        <p:nvSpPr>
          <p:cNvPr id="4" name="play_2"/>
          <p:cNvSpPr/>
          <p:nvPr/>
        </p:nvSpPr>
        <p:spPr>
          <a:xfrm>
            <a:off x="548640" y="4297680"/>
            <a:ext cx="2926080" cy="685800"/>
          </a:xfrm>
          <a:prstGeom prst="roundRect">
            <a:avLst>
              <a:gd name="adj" fmla="val 18667"/>
            </a:avLst>
          </a:prstGeom>
          <a:solidFill>
            <a:srgbClr val="E9B949"/>
          </a:solidFill>
          <a:ln>
            <a:solidFill>
              <a:srgbClr val="E9B94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0B0D1C"/>
                </a:solidFill>
                <a:hlinkClick r:id="rId4" tooltip="Realms of Anatom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Open the game</a:t>
            </a:r>
            <a:endParaRPr lang="en-US" sz="2000" dirty="0"/>
          </a:p>
        </p:txBody>
      </p:sp>
      <p:sp>
        <p:nvSpPr>
          <p:cNvPr id="5" name="sub_3"/>
          <p:cNvSpPr txBox="1"/>
          <p:nvPr/>
        </p:nvSpPr>
        <p:spPr>
          <a:xfrm>
            <a:off x="548640" y="50749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6FE0D6"/>
                </a:solidFill>
                <a:hlinkClick r:id="rId4" tooltip="Realms of Anatom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stellarlifetech.github.io/ANATOMICA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B5D6"/>
                </a:solidFill>
              </a:rPr>
              <a:t>Scan the code or click. 50 questions per realm, 400 in all.</a:t>
            </a:r>
            <a:endParaRPr lang="en-US" sz="1400" dirty="0"/>
          </a:p>
        </p:txBody>
      </p:sp>
      <p:sp>
        <p:nvSpPr>
          <p:cNvPr id="6" name="dot_4"/>
          <p:cNvSpPr/>
          <p:nvPr/>
        </p:nvSpPr>
        <p:spPr>
          <a:xfrm>
            <a:off x="3931920" y="1417320"/>
            <a:ext cx="731520" cy="7315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FF6B4A"/>
            </a:solidFill>
            <a:prstDash val="solid"/>
          </a:ln>
        </p:spPr>
      </p:sp>
      <p:pic>
        <p:nvPicPr>
          <p:cNvPr id="7" name="ico_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594" y="1548994"/>
            <a:ext cx="468173" cy="468173"/>
          </a:xfrm>
          <a:prstGeom prst="rect">
            <a:avLst/>
          </a:prstGeom>
        </p:spPr>
      </p:pic>
      <p:sp>
        <p:nvSpPr>
          <p:cNvPr id="8" name="card_6"/>
          <p:cNvSpPr/>
          <p:nvPr/>
        </p:nvSpPr>
        <p:spPr>
          <a:xfrm>
            <a:off x="4800600" y="132588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battle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6 correct answers defeat the boss; 3 wrong (or timeouts) end the attempt.</a:t>
            </a:r>
            <a:endParaRPr lang="en-US" sz="1700" dirty="0"/>
          </a:p>
        </p:txBody>
      </p:sp>
      <p:sp>
        <p:nvSpPr>
          <p:cNvPr id="9" name="dot_7"/>
          <p:cNvSpPr/>
          <p:nvPr/>
        </p:nvSpPr>
        <p:spPr>
          <a:xfrm>
            <a:off x="7818120" y="1417320"/>
            <a:ext cx="731520" cy="7315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E9B949"/>
            </a:solidFill>
            <a:prstDash val="solid"/>
          </a:ln>
        </p:spPr>
      </p:sp>
      <p:pic>
        <p:nvPicPr>
          <p:cNvPr id="10" name="ico_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9794" y="1548994"/>
            <a:ext cx="468173" cy="468173"/>
          </a:xfrm>
          <a:prstGeom prst="rect">
            <a:avLst/>
          </a:prstGeom>
        </p:spPr>
      </p:pic>
      <p:sp>
        <p:nvSpPr>
          <p:cNvPr id="11" name="card_9"/>
          <p:cNvSpPr/>
          <p:nvPr/>
        </p:nvSpPr>
        <p:spPr>
          <a:xfrm>
            <a:off x="8686800" y="132588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Each attempt = % correct. Attempts are averaged; you choose your final.</a:t>
            </a:r>
            <a:endParaRPr lang="en-US" sz="1700" dirty="0"/>
          </a:p>
        </p:txBody>
      </p:sp>
      <p:sp>
        <p:nvSpPr>
          <p:cNvPr id="12" name="dot_10"/>
          <p:cNvSpPr/>
          <p:nvPr/>
        </p:nvSpPr>
        <p:spPr>
          <a:xfrm>
            <a:off x="3931920" y="3063240"/>
            <a:ext cx="731520" cy="7315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B48CFF"/>
            </a:solidFill>
            <a:prstDash val="solid"/>
          </a:ln>
        </p:spPr>
      </p:sp>
      <p:pic>
        <p:nvPicPr>
          <p:cNvPr id="13" name="ico_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3594" y="3194914"/>
            <a:ext cx="468173" cy="468173"/>
          </a:xfrm>
          <a:prstGeom prst="rect">
            <a:avLst/>
          </a:prstGeom>
        </p:spPr>
      </p:pic>
      <p:sp>
        <p:nvSpPr>
          <p:cNvPr id="14" name="card_12"/>
          <p:cNvSpPr/>
          <p:nvPr/>
        </p:nvSpPr>
        <p:spPr>
          <a:xfrm>
            <a:off x="4800600" y="297180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4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attempts per realm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The next realm opens after a final is locked. Day 2 opens after Hour 4.</a:t>
            </a:r>
            <a:endParaRPr lang="en-US" sz="1700" dirty="0"/>
          </a:p>
        </p:txBody>
      </p:sp>
      <p:sp>
        <p:nvSpPr>
          <p:cNvPr id="15" name="dot_13"/>
          <p:cNvSpPr/>
          <p:nvPr/>
        </p:nvSpPr>
        <p:spPr>
          <a:xfrm>
            <a:off x="7818120" y="3063240"/>
            <a:ext cx="731520" cy="7315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16" name="ico_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9794" y="3194914"/>
            <a:ext cx="468173" cy="468173"/>
          </a:xfrm>
          <a:prstGeom prst="rect">
            <a:avLst/>
          </a:prstGeom>
        </p:spPr>
      </p:pic>
      <p:sp>
        <p:nvSpPr>
          <p:cNvPr id="17" name="card_15"/>
          <p:cNvSpPr/>
          <p:nvPr/>
        </p:nvSpPr>
        <p:spPr>
          <a:xfrm>
            <a:off x="8686800" y="297180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continue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Pause any battle; resume within 24 hours with points kept.</a:t>
            </a:r>
            <a:endParaRPr lang="en-US" sz="1700" dirty="0"/>
          </a:p>
        </p:txBody>
      </p:sp>
      <p:sp>
        <p:nvSpPr>
          <p:cNvPr id="18" name="dot_16"/>
          <p:cNvSpPr/>
          <p:nvPr/>
        </p:nvSpPr>
        <p:spPr>
          <a:xfrm>
            <a:off x="3931920" y="4709160"/>
            <a:ext cx="731520" cy="7315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FFD166"/>
            </a:solidFill>
            <a:prstDash val="solid"/>
          </a:ln>
        </p:spPr>
      </p:sp>
      <p:pic>
        <p:nvPicPr>
          <p:cNvPr id="19" name="ico_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3594" y="4840834"/>
            <a:ext cx="468173" cy="468173"/>
          </a:xfrm>
          <a:prstGeom prst="rect">
            <a:avLst/>
          </a:prstGeom>
        </p:spPr>
      </p:pic>
      <p:sp>
        <p:nvSpPr>
          <p:cNvPr id="20" name="card_18"/>
          <p:cNvSpPr/>
          <p:nvPr/>
        </p:nvSpPr>
        <p:spPr>
          <a:xfrm>
            <a:off x="4800600" y="461772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chests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Extra heart, extra time, points, or two wrong answers removed.</a:t>
            </a:r>
            <a:endParaRPr lang="en-US" sz="1700" dirty="0"/>
          </a:p>
        </p:txBody>
      </p:sp>
      <p:sp>
        <p:nvSpPr>
          <p:cNvPr id="21" name="dot_19"/>
          <p:cNvSpPr/>
          <p:nvPr/>
        </p:nvSpPr>
        <p:spPr>
          <a:xfrm>
            <a:off x="7818120" y="4709160"/>
            <a:ext cx="731520" cy="7315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7FE0A8"/>
            </a:solidFill>
            <a:prstDash val="solid"/>
          </a:ln>
        </p:spPr>
      </p:sp>
      <p:pic>
        <p:nvPicPr>
          <p:cNvPr id="22" name="ico_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9794" y="4840834"/>
            <a:ext cx="468173" cy="468173"/>
          </a:xfrm>
          <a:prstGeom prst="rect">
            <a:avLst/>
          </a:prstGeom>
        </p:spPr>
      </p:pic>
      <p:sp>
        <p:nvSpPr>
          <p:cNvPr id="23" name="card_21"/>
          <p:cNvSpPr/>
          <p:nvPr/>
        </p:nvSpPr>
        <p:spPr>
          <a:xfrm>
            <a:off x="8686800" y="461772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After all 8 realms, download your report and submit 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Gloomhallow Manor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Exam basics + A&amp;P foundations</a:t>
            </a:r>
            <a:endParaRPr lang="en-US" sz="2400" dirty="0"/>
          </a:p>
        </p:txBody>
      </p:sp>
      <p:sp>
        <p:nvSpPr>
          <p:cNvPr id="4" name="tag_1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9B8CFF"/>
                </a:solidFill>
              </a:rPr>
              <a:t>DAY 1  ·  HOUR 1</a:t>
            </a:r>
            <a:endParaRPr lang="en-US" sz="2000" dirty="0"/>
          </a:p>
        </p:txBody>
      </p:sp>
      <p:sp>
        <p:nvSpPr>
          <p:cNvPr id="5" name="boss_2"/>
          <p:cNvSpPr txBox="1"/>
          <p:nvPr/>
        </p:nvSpPr>
        <p:spPr>
          <a:xfrm>
            <a:off x="73152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B5D6"/>
                </a:solidFill>
              </a:rPr>
              <a:t>Boss: </a:t>
            </a:r>
            <a:r>
              <a:rPr lang="en-US" sz="2000" b="1" dirty="0">
                <a:solidFill>
                  <a:srgbClr val="F2EEFF"/>
                </a:solidFill>
              </a:rPr>
              <a:t>The Levitating Butler</a:t>
            </a:r>
            <a:endParaRPr lang="en-US" sz="2000" dirty="0"/>
          </a:p>
        </p:txBody>
      </p:sp>
      <p:sp>
        <p:nvSpPr>
          <p:cNvPr id="6" name="card_3"/>
          <p:cNvSpPr/>
          <p:nvPr/>
        </p:nvSpPr>
        <p:spPr>
          <a:xfrm>
            <a:off x="731520" y="4800600"/>
            <a:ext cx="7498080" cy="960120"/>
          </a:xfrm>
          <a:prstGeom prst="roundRect">
            <a:avLst>
              <a:gd name="adj" fmla="val 11429"/>
            </a:avLst>
          </a:prstGeom>
          <a:solidFill>
            <a:srgbClr val="0B0D1C">
              <a:alpha val="70000"/>
            </a:srgbClr>
          </a:solidFill>
          <a:ln w="127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able to…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Name planes, directions, tissues and feedback types</a:t>
            </a:r>
            <a:endParaRPr lang="en-US" sz="1600" dirty="0"/>
          </a:p>
        </p:txBody>
      </p:sp>
      <p:sp>
        <p:nvSpPr>
          <p:cNvPr id="7" name="emblem_4c"/>
          <p:cNvSpPr/>
          <p:nvPr/>
        </p:nvSpPr>
        <p:spPr>
          <a:xfrm>
            <a:off x="8823960" y="1508760"/>
            <a:ext cx="2834640" cy="2834640"/>
          </a:xfrm>
          <a:prstGeom prst="ellipse">
            <a:avLst/>
          </a:prstGeom>
          <a:solidFill>
            <a:srgbClr val="0B0D1C">
              <a:alpha val="70000"/>
            </a:srgbClr>
          </a:solidFill>
          <a:ln w="38100">
            <a:solidFill>
              <a:srgbClr val="9B8CFF"/>
            </a:solidFill>
            <a:prstDash val="solid"/>
          </a:ln>
        </p:spPr>
      </p:sp>
      <p:pic>
        <p:nvPicPr>
          <p:cNvPr id="8" name="emblem_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1965960"/>
            <a:ext cx="1920240" cy="1920240"/>
          </a:xfrm>
          <a:prstGeom prst="rect">
            <a:avLst/>
          </a:prstGeom>
        </p:spPr>
      </p:pic>
      <p:sp>
        <p:nvSpPr>
          <p:cNvPr id="9" name="home_5"/>
          <p:cNvSpPr txBox="1"/>
          <p:nvPr/>
        </p:nvSpPr>
        <p:spPr>
          <a:xfrm>
            <a:off x="10058400" y="6172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u="sng" dirty="0">
                <a:solidFill>
                  <a:srgbClr val="6FE0D6"/>
                </a:solidFill>
                <a:hlinkClick r:id="rId8" action="ppaction://hlinksldjump" tooltip="Back to the bootcamp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Realm map</a:t>
            </a:r>
            <a:endParaRPr lang="en-US" sz="1300" dirty="0"/>
          </a:p>
        </p:txBody>
      </p:sp>
      <p:pic>
        <p:nvPicPr>
          <p:cNvPr id="12" name="bg_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097280" y="182880"/>
            <a:ext cx="548640" cy="548640"/>
          </a:xfrm>
          <a:prstGeom prst="rect">
            <a:avLst/>
          </a:prstGeom>
        </p:spPr>
      </p:pic>
      <p:sp>
        <p:nvSpPr>
          <p:cNvPr id="11" name="music_btn"/>
          <p:cNvSpPr/>
          <p:nvPr/>
        </p:nvSpPr>
        <p:spPr>
          <a:xfrm>
            <a:off x="320040" y="61722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0B0D1C">
              <a:alpha val="75000"/>
            </a:srgbClr>
          </a:solidFill>
          <a:ln w="15875">
            <a:solidFill>
              <a:srgbClr val="E9B9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949"/>
                </a:solidFill>
              </a:rPr>
              <a:t>♪  Music on / off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  <p:sndAc>
          <p:stSnd>
            <p:snd r:embed="rId5" name="boom.wav"/>
          </p:stSnd>
        </p:sndAc>
      </p:transition>
    </mc:Choice>
    <mc:Fallback xmlns="">
      <p:transition spd="slow">
        <p:fade/>
        <p:sndAc>
          <p:stSnd>
            <p:snd r:embed="rIdFx1" name="boom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45000" numSld="9" showWhenStopped="0">
                <p:cTn id="3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Anatomical position &amp; direction pairs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3258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E9B949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picture anatomical position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Standing, facing you, palms forward. Left and right = the PATIENT'S left and right.</a:t>
            </a:r>
            <a:endParaRPr lang="en-US" sz="2000" dirty="0"/>
          </a:p>
        </p:txBody>
      </p:sp>
      <p:sp>
        <p:nvSpPr>
          <p:cNvPr id="4" name="dot_2"/>
          <p:cNvSpPr/>
          <p:nvPr/>
        </p:nvSpPr>
        <p:spPr>
          <a:xfrm>
            <a:off x="1508760" y="3429000"/>
            <a:ext cx="2286000" cy="228600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E9B949"/>
            </a:solidFill>
            <a:prstDash val="solid"/>
          </a:ln>
        </p:spPr>
      </p:sp>
      <p:pic>
        <p:nvPicPr>
          <p:cNvPr id="5" name="ico_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840480"/>
            <a:ext cx="1463040" cy="1463040"/>
          </a:xfrm>
          <a:prstGeom prst="rect">
            <a:avLst/>
          </a:prstGeom>
        </p:spPr>
      </p:pic>
      <p:sp>
        <p:nvSpPr>
          <p:cNvPr id="6" name="figt_4"/>
          <p:cNvSpPr txBox="1"/>
          <p:nvPr/>
        </p:nvSpPr>
        <p:spPr>
          <a:xfrm>
            <a:off x="548640" y="58064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B5D6"/>
                </a:solidFill>
              </a:rPr>
              <a:t>Face the class like the patient: palms forward.</a:t>
            </a:r>
            <a:endParaRPr lang="en-US" sz="1400" dirty="0"/>
          </a:p>
        </p:txBody>
      </p:sp>
      <p:sp>
        <p:nvSpPr>
          <p:cNvPr id="7" name="card_5"/>
          <p:cNvSpPr/>
          <p:nvPr/>
        </p:nvSpPr>
        <p:spPr>
          <a:xfrm>
            <a:off x="5120640" y="1325880"/>
            <a:ext cx="6492240" cy="841248"/>
          </a:xfrm>
          <a:prstGeom prst="roundRect">
            <a:avLst>
              <a:gd name="adj" fmla="val 13043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B48CFF"/>
                </a:solidFill>
              </a:rPr>
              <a:t>Superior / inferior  =  </a:t>
            </a:r>
            <a:r>
              <a:rPr lang="en-US" sz="1900" dirty="0">
                <a:solidFill>
                  <a:srgbClr val="F2EEFF"/>
                </a:solidFill>
              </a:rPr>
              <a:t>head / feet</a:t>
            </a:r>
            <a:endParaRPr lang="en-US" sz="1900" dirty="0"/>
          </a:p>
        </p:txBody>
      </p:sp>
      <p:sp>
        <p:nvSpPr>
          <p:cNvPr id="8" name="card_6"/>
          <p:cNvSpPr/>
          <p:nvPr/>
        </p:nvSpPr>
        <p:spPr>
          <a:xfrm>
            <a:off x="5120640" y="2313432"/>
            <a:ext cx="6492240" cy="841248"/>
          </a:xfrm>
          <a:prstGeom prst="roundRect">
            <a:avLst>
              <a:gd name="adj" fmla="val 13043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6FE0D6"/>
                </a:solidFill>
              </a:rPr>
              <a:t>Anterior / posterior  =  </a:t>
            </a:r>
            <a:r>
              <a:rPr lang="en-US" sz="1900" dirty="0">
                <a:solidFill>
                  <a:srgbClr val="F2EEFF"/>
                </a:solidFill>
              </a:rPr>
              <a:t>front / back</a:t>
            </a:r>
            <a:endParaRPr lang="en-US" sz="1900" dirty="0"/>
          </a:p>
        </p:txBody>
      </p:sp>
      <p:sp>
        <p:nvSpPr>
          <p:cNvPr id="9" name="card_7"/>
          <p:cNvSpPr/>
          <p:nvPr/>
        </p:nvSpPr>
        <p:spPr>
          <a:xfrm>
            <a:off x="5120640" y="3300984"/>
            <a:ext cx="6492240" cy="841248"/>
          </a:xfrm>
          <a:prstGeom prst="roundRect">
            <a:avLst>
              <a:gd name="adj" fmla="val 13043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E9B949"/>
                </a:solidFill>
              </a:rPr>
              <a:t>Medial / lateral  =  </a:t>
            </a:r>
            <a:r>
              <a:rPr lang="en-US" sz="1900" dirty="0">
                <a:solidFill>
                  <a:srgbClr val="F2EEFF"/>
                </a:solidFill>
              </a:rPr>
              <a:t>toward / away from the midline</a:t>
            </a:r>
            <a:endParaRPr lang="en-US" sz="1900" dirty="0"/>
          </a:p>
        </p:txBody>
      </p:sp>
      <p:sp>
        <p:nvSpPr>
          <p:cNvPr id="10" name="card_8"/>
          <p:cNvSpPr/>
          <p:nvPr/>
        </p:nvSpPr>
        <p:spPr>
          <a:xfrm>
            <a:off x="5120640" y="4288536"/>
            <a:ext cx="6492240" cy="841248"/>
          </a:xfrm>
          <a:prstGeom prst="roundRect">
            <a:avLst>
              <a:gd name="adj" fmla="val 13043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6B4A"/>
                </a:solidFill>
              </a:rPr>
              <a:t>Proximal / distal  =  </a:t>
            </a:r>
            <a:r>
              <a:rPr lang="en-US" sz="1900" dirty="0">
                <a:solidFill>
                  <a:srgbClr val="F2EEFF"/>
                </a:solidFill>
              </a:rPr>
              <a:t>near / far from where a limb attaches (limbs only)</a:t>
            </a:r>
            <a:endParaRPr lang="en-US" sz="1900" dirty="0"/>
          </a:p>
        </p:txBody>
      </p:sp>
      <p:sp>
        <p:nvSpPr>
          <p:cNvPr id="11" name="card_9"/>
          <p:cNvSpPr/>
          <p:nvPr/>
        </p:nvSpPr>
        <p:spPr>
          <a:xfrm>
            <a:off x="5120640" y="5276088"/>
            <a:ext cx="6492240" cy="841248"/>
          </a:xfrm>
          <a:prstGeom prst="roundRect">
            <a:avLst>
              <a:gd name="adj" fmla="val 13043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7FE0A8"/>
                </a:solidFill>
              </a:rPr>
              <a:t>Superficial / deep  =  </a:t>
            </a:r>
            <a:r>
              <a:rPr lang="en-US" sz="1900" dirty="0">
                <a:solidFill>
                  <a:srgbClr val="F2EEFF"/>
                </a:solidFill>
              </a:rPr>
              <a:t>surface / inside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Planes: "Split Front Top"</a:t>
            </a:r>
            <a:endParaRPr lang="en-US" sz="3600" dirty="0"/>
          </a:p>
        </p:txBody>
      </p:sp>
      <p:pic>
        <p:nvPicPr>
          <p:cNvPr id="3" name="planes_1" descr="/home/claude/teas-slides/assets/pla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10515600" cy="4352544"/>
          </a:xfrm>
          <a:prstGeom prst="rect">
            <a:avLst/>
          </a:prstGeom>
        </p:spPr>
      </p:pic>
      <p:sp>
        <p:nvSpPr>
          <p:cNvPr id="4" name="mn_2"/>
          <p:cNvSpPr txBox="1"/>
          <p:nvPr/>
        </p:nvSpPr>
        <p:spPr>
          <a:xfrm>
            <a:off x="2103120" y="5623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4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3000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plit</a:t>
            </a:r>
            <a:endParaRPr lang="en-US" sz="4000" dirty="0"/>
          </a:p>
        </p:txBody>
      </p:sp>
      <p:sp>
        <p:nvSpPr>
          <p:cNvPr id="5" name="mn_3"/>
          <p:cNvSpPr txBox="1"/>
          <p:nvPr/>
        </p:nvSpPr>
        <p:spPr>
          <a:xfrm>
            <a:off x="5394960" y="5623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F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3000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ront</a:t>
            </a:r>
            <a:endParaRPr lang="en-US" sz="4000" dirty="0"/>
          </a:p>
        </p:txBody>
      </p:sp>
      <p:sp>
        <p:nvSpPr>
          <p:cNvPr id="6" name="mn_4"/>
          <p:cNvSpPr txBox="1"/>
          <p:nvPr/>
        </p:nvSpPr>
        <p:spPr>
          <a:xfrm>
            <a:off x="8686800" y="5623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3000" dirty="0">
                <a:solidFill>
                  <a:srgbClr val="F2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Cavities &amp; the four quadrants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325880"/>
            <a:ext cx="4937760" cy="2331720"/>
          </a:xfrm>
          <a:prstGeom prst="roundRect">
            <a:avLst>
              <a:gd name="adj" fmla="val 4706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cavities</a:t>
            </a:r>
            <a:endParaRPr lang="en-US" sz="20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2EEFF"/>
                </a:solidFill>
              </a:rPr>
              <a:t>Dorsal = brain + spinal cord.</a:t>
            </a:r>
            <a:endParaRPr lang="en-US" sz="20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2EEFF"/>
                </a:solidFill>
              </a:rPr>
              <a:t>Ventral = thoracic (heart, lungs) + abdominopelvic, split by the diaphragm.</a:t>
            </a:r>
            <a:endParaRPr lang="en-US" sz="20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2EEFF"/>
                </a:solidFill>
              </a:rPr>
              <a:t>Kidneys sit BEHIND the peritoneum (retroperitoneal).</a:t>
            </a:r>
            <a:endParaRPr lang="en-US" sz="2000" dirty="0"/>
          </a:p>
        </p:txBody>
      </p:sp>
      <p:sp>
        <p:nvSpPr>
          <p:cNvPr id="4" name="card_2"/>
          <p:cNvSpPr/>
          <p:nvPr/>
        </p:nvSpPr>
        <p:spPr>
          <a:xfrm>
            <a:off x="548640" y="3886200"/>
            <a:ext cx="4937760" cy="1554480"/>
          </a:xfrm>
          <a:prstGeom prst="roundRect">
            <a:avLst>
              <a:gd name="adj" fmla="val 705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click a quadrant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The patient faces you, so the patient's RIGHT is on YOUR left. Click each quadrant to reveal its organs.</a:t>
            </a:r>
            <a:endParaRPr lang="en-US" sz="2000" dirty="0"/>
          </a:p>
        </p:txBody>
      </p:sp>
      <p:sp>
        <p:nvSpPr>
          <p:cNvPr id="5" name="lab_3"/>
          <p:cNvSpPr txBox="1"/>
          <p:nvPr/>
        </p:nvSpPr>
        <p:spPr>
          <a:xfrm>
            <a:off x="603504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B949"/>
                </a:solidFill>
              </a:rPr>
              <a:t>Patient's RIGHT</a:t>
            </a:r>
            <a:endParaRPr lang="en-US" sz="1500" dirty="0"/>
          </a:p>
        </p:txBody>
      </p:sp>
      <p:sp>
        <p:nvSpPr>
          <p:cNvPr id="6" name="lab_4"/>
          <p:cNvSpPr txBox="1"/>
          <p:nvPr/>
        </p:nvSpPr>
        <p:spPr>
          <a:xfrm>
            <a:off x="886968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B949"/>
                </a:solidFill>
              </a:rPr>
              <a:t>Patient's LEFT</a:t>
            </a:r>
            <a:endParaRPr lang="en-US" sz="1500" dirty="0"/>
          </a:p>
        </p:txBody>
      </p:sp>
      <p:sp>
        <p:nvSpPr>
          <p:cNvPr id="7" name="quad_RUQ"/>
          <p:cNvSpPr/>
          <p:nvPr/>
        </p:nvSpPr>
        <p:spPr>
          <a:xfrm>
            <a:off x="6035040" y="1691640"/>
            <a:ext cx="2743200" cy="1920240"/>
          </a:xfrm>
          <a:prstGeom prst="rect">
            <a:avLst/>
          </a:prstGeom>
          <a:solidFill>
            <a:srgbClr val="B48CFF">
              <a:alpha val="30000"/>
            </a:srgbClr>
          </a:solidFill>
          <a:ln w="25400">
            <a:solidFill>
              <a:srgbClr val="B48CFF"/>
            </a:solidFill>
          </a:ln>
        </p:spPr>
        <p:txBody>
          <a:bodyPr wrap="square" lIns="152400" tIns="50800" rIns="50800" bIns="5080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EEFF"/>
                </a:solidFill>
              </a:rPr>
              <a:t>RUQ</a:t>
            </a:r>
            <a:endParaRPr lang="en-US" sz="3000" dirty="0"/>
          </a:p>
        </p:txBody>
      </p:sp>
      <p:sp>
        <p:nvSpPr>
          <p:cNvPr id="8" name="org_RUQ"/>
          <p:cNvSpPr/>
          <p:nvPr/>
        </p:nvSpPr>
        <p:spPr>
          <a:xfrm>
            <a:off x="6217920" y="260604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0B0D1C"/>
          </a:solidFill>
          <a:ln w="19050">
            <a:solidFill>
              <a:srgbClr val="B48C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48CFF"/>
                </a:solidFill>
              </a:rPr>
              <a:t>Liver + gallbladder</a:t>
            </a:r>
            <a:endParaRPr lang="en-US" sz="1700" dirty="0"/>
          </a:p>
        </p:txBody>
      </p:sp>
      <p:sp>
        <p:nvSpPr>
          <p:cNvPr id="9" name="quad_LUQ"/>
          <p:cNvSpPr/>
          <p:nvPr/>
        </p:nvSpPr>
        <p:spPr>
          <a:xfrm>
            <a:off x="8869680" y="1691640"/>
            <a:ext cx="2743200" cy="1920240"/>
          </a:xfrm>
          <a:prstGeom prst="rect">
            <a:avLst/>
          </a:prstGeom>
          <a:solidFill>
            <a:srgbClr val="6FE0D6">
              <a:alpha val="30000"/>
            </a:srgbClr>
          </a:solidFill>
          <a:ln w="25400">
            <a:solidFill>
              <a:srgbClr val="6FE0D6"/>
            </a:solidFill>
          </a:ln>
        </p:spPr>
        <p:txBody>
          <a:bodyPr wrap="square" lIns="152400" tIns="50800" rIns="50800" bIns="5080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EEFF"/>
                </a:solidFill>
              </a:rPr>
              <a:t>LUQ</a:t>
            </a:r>
            <a:endParaRPr lang="en-US" sz="3000" dirty="0"/>
          </a:p>
        </p:txBody>
      </p:sp>
      <p:sp>
        <p:nvSpPr>
          <p:cNvPr id="10" name="org_LUQ"/>
          <p:cNvSpPr/>
          <p:nvPr/>
        </p:nvSpPr>
        <p:spPr>
          <a:xfrm>
            <a:off x="9052560" y="260604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0B0D1C"/>
          </a:solidFill>
          <a:ln w="1905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FE0D6"/>
                </a:solidFill>
              </a:rPr>
              <a:t>Stomach + spleen</a:t>
            </a:r>
            <a:endParaRPr lang="en-US" sz="1700" dirty="0"/>
          </a:p>
        </p:txBody>
      </p:sp>
      <p:sp>
        <p:nvSpPr>
          <p:cNvPr id="11" name="quad_RLQ"/>
          <p:cNvSpPr/>
          <p:nvPr/>
        </p:nvSpPr>
        <p:spPr>
          <a:xfrm>
            <a:off x="6035040" y="3703320"/>
            <a:ext cx="2743200" cy="1920240"/>
          </a:xfrm>
          <a:prstGeom prst="rect">
            <a:avLst/>
          </a:prstGeom>
          <a:solidFill>
            <a:srgbClr val="FF6B4A">
              <a:alpha val="30000"/>
            </a:srgbClr>
          </a:solidFill>
          <a:ln w="25400">
            <a:solidFill>
              <a:srgbClr val="FF6B4A"/>
            </a:solidFill>
          </a:ln>
        </p:spPr>
        <p:txBody>
          <a:bodyPr wrap="square" lIns="152400" tIns="50800" rIns="50800" bIns="5080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EEFF"/>
                </a:solidFill>
              </a:rPr>
              <a:t>RLQ</a:t>
            </a:r>
            <a:endParaRPr lang="en-US" sz="3000" dirty="0"/>
          </a:p>
        </p:txBody>
      </p:sp>
      <p:sp>
        <p:nvSpPr>
          <p:cNvPr id="12" name="org_RLQ"/>
          <p:cNvSpPr/>
          <p:nvPr/>
        </p:nvSpPr>
        <p:spPr>
          <a:xfrm>
            <a:off x="6217920" y="46177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0B0D1C"/>
          </a:solidFill>
          <a:ln w="19050">
            <a:solidFill>
              <a:srgbClr val="FF6B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4A"/>
                </a:solidFill>
              </a:rPr>
              <a:t>Appendix</a:t>
            </a:r>
            <a:endParaRPr lang="en-US" sz="1700" dirty="0"/>
          </a:p>
        </p:txBody>
      </p:sp>
      <p:sp>
        <p:nvSpPr>
          <p:cNvPr id="13" name="quad_LLQ"/>
          <p:cNvSpPr/>
          <p:nvPr/>
        </p:nvSpPr>
        <p:spPr>
          <a:xfrm>
            <a:off x="8869680" y="3703320"/>
            <a:ext cx="2743200" cy="1920240"/>
          </a:xfrm>
          <a:prstGeom prst="rect">
            <a:avLst/>
          </a:prstGeom>
          <a:solidFill>
            <a:srgbClr val="E9B949">
              <a:alpha val="30000"/>
            </a:srgbClr>
          </a:solidFill>
          <a:ln w="25400">
            <a:solidFill>
              <a:srgbClr val="E9B949"/>
            </a:solidFill>
          </a:ln>
        </p:spPr>
        <p:txBody>
          <a:bodyPr wrap="square" lIns="152400" tIns="50800" rIns="50800" bIns="5080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EEFF"/>
                </a:solidFill>
              </a:rPr>
              <a:t>LLQ</a:t>
            </a:r>
            <a:endParaRPr lang="en-US" sz="3000" dirty="0"/>
          </a:p>
        </p:txBody>
      </p:sp>
      <p:sp>
        <p:nvSpPr>
          <p:cNvPr id="14" name="org_LLQ"/>
          <p:cNvSpPr/>
          <p:nvPr/>
        </p:nvSpPr>
        <p:spPr>
          <a:xfrm>
            <a:off x="9052560" y="46177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0B0D1C"/>
          </a:solidFill>
          <a:ln w="19050">
            <a:solidFill>
              <a:srgbClr val="E9B94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B949"/>
                </a:solidFill>
              </a:rPr>
              <a:t>Sigmoid colon</a:t>
            </a:r>
            <a:endParaRPr lang="en-US" sz="1700" dirty="0"/>
          </a:p>
        </p:txBody>
      </p:sp>
      <p:sp>
        <p:nvSpPr>
          <p:cNvPr id="15" name="navel_5"/>
          <p:cNvSpPr/>
          <p:nvPr/>
        </p:nvSpPr>
        <p:spPr>
          <a:xfrm>
            <a:off x="8705088" y="3538728"/>
            <a:ext cx="329184" cy="329184"/>
          </a:xfrm>
          <a:prstGeom prst="ellipse">
            <a:avLst/>
          </a:prstGeom>
          <a:solidFill>
            <a:srgbClr val="E9B9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of organization &amp; the 4 tissues</a:t>
            </a:r>
            <a:endParaRPr lang="en-US" sz="3600" dirty="0"/>
          </a:p>
        </p:txBody>
      </p:sp>
      <p:sp>
        <p:nvSpPr>
          <p:cNvPr id="3" name="chip_1"/>
          <p:cNvSpPr/>
          <p:nvPr/>
        </p:nvSpPr>
        <p:spPr>
          <a:xfrm>
            <a:off x="548640" y="553212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22275A"/>
          </a:solidFill>
          <a:ln w="19050">
            <a:solidFill>
              <a:srgbClr val="B48C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·  Chemical</a:t>
            </a:r>
            <a:endParaRPr lang="en-US" sz="1600" dirty="0"/>
          </a:p>
        </p:txBody>
      </p:sp>
      <p:sp>
        <p:nvSpPr>
          <p:cNvPr id="4" name="chip_2"/>
          <p:cNvSpPr/>
          <p:nvPr/>
        </p:nvSpPr>
        <p:spPr>
          <a:xfrm>
            <a:off x="841248" y="4855464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·  Cell</a:t>
            </a:r>
            <a:endParaRPr lang="en-US" sz="1600" dirty="0"/>
          </a:p>
        </p:txBody>
      </p:sp>
      <p:sp>
        <p:nvSpPr>
          <p:cNvPr id="5" name="chip_3"/>
          <p:cNvSpPr/>
          <p:nvPr/>
        </p:nvSpPr>
        <p:spPr>
          <a:xfrm>
            <a:off x="1133856" y="4178808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22275A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·  Tissue</a:t>
            </a:r>
            <a:endParaRPr lang="en-US" sz="1600" dirty="0"/>
          </a:p>
        </p:txBody>
      </p:sp>
      <p:sp>
        <p:nvSpPr>
          <p:cNvPr id="6" name="chip_4"/>
          <p:cNvSpPr/>
          <p:nvPr/>
        </p:nvSpPr>
        <p:spPr>
          <a:xfrm>
            <a:off x="1426464" y="3502152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·  Organ</a:t>
            </a:r>
            <a:endParaRPr lang="en-US" sz="1600" dirty="0"/>
          </a:p>
        </p:txBody>
      </p:sp>
      <p:sp>
        <p:nvSpPr>
          <p:cNvPr id="7" name="chip_5"/>
          <p:cNvSpPr/>
          <p:nvPr/>
        </p:nvSpPr>
        <p:spPr>
          <a:xfrm>
            <a:off x="1719072" y="2825496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22275A"/>
          </a:solidFill>
          <a:ln w="19050">
            <a:solidFill>
              <a:srgbClr val="7FE0A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·  Organ system</a:t>
            </a:r>
            <a:endParaRPr lang="en-US" sz="1600" dirty="0"/>
          </a:p>
        </p:txBody>
      </p:sp>
      <p:sp>
        <p:nvSpPr>
          <p:cNvPr id="8" name="chip_6"/>
          <p:cNvSpPr/>
          <p:nvPr/>
        </p:nvSpPr>
        <p:spPr>
          <a:xfrm>
            <a:off x="2011680" y="214884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22275A"/>
          </a:solidFill>
          <a:ln w="19050">
            <a:solidFill>
              <a:srgbClr val="FF7AC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·  Organism</a:t>
            </a:r>
            <a:endParaRPr lang="en-US" sz="1600" dirty="0"/>
          </a:p>
        </p:txBody>
      </p:sp>
      <p:sp>
        <p:nvSpPr>
          <p:cNvPr id="9" name="card_7"/>
          <p:cNvSpPr/>
          <p:nvPr/>
        </p:nvSpPr>
        <p:spPr>
          <a:xfrm>
            <a:off x="548640" y="1188720"/>
            <a:ext cx="4572000" cy="566928"/>
          </a:xfrm>
          <a:prstGeom prst="roundRect">
            <a:avLst>
              <a:gd name="adj" fmla="val 19355"/>
            </a:avLst>
          </a:prstGeom>
          <a:solidFill>
            <a:srgbClr val="0B0D1C">
              <a:alpha val="92000"/>
            </a:srgbClr>
          </a:solidFill>
          <a:ln w="12700">
            <a:solidFill>
              <a:srgbClr val="E9B949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9B949"/>
                </a:solidFill>
              </a:rPr>
              <a:t>"Cats Can Take Over Our Office"</a:t>
            </a:r>
            <a:endParaRPr lang="en-US" sz="1800" dirty="0"/>
          </a:p>
        </p:txBody>
      </p:sp>
      <p:sp>
        <p:nvSpPr>
          <p:cNvPr id="10" name="hd_8"/>
          <p:cNvSpPr txBox="1"/>
          <p:nvPr/>
        </p:nvSpPr>
        <p:spPr>
          <a:xfrm>
            <a:off x="5852160" y="12344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EEFF"/>
                </a:solidFill>
              </a:rPr>
              <a:t>4 tissues: "ECMN" = </a:t>
            </a:r>
            <a:r>
              <a:rPr lang="en-US" sz="1800" b="1" dirty="0">
                <a:solidFill>
                  <a:srgbClr val="E9B949"/>
                </a:solidFill>
              </a:rPr>
              <a:t>Every Cell Must Network</a:t>
            </a:r>
            <a:endParaRPr lang="en-US" sz="1800" dirty="0"/>
          </a:p>
        </p:txBody>
      </p:sp>
      <p:sp>
        <p:nvSpPr>
          <p:cNvPr id="11" name="card_9"/>
          <p:cNvSpPr/>
          <p:nvPr/>
        </p:nvSpPr>
        <p:spPr>
          <a:xfrm>
            <a:off x="5852160" y="192024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4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Epithelial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Covers and lines (skin, gut lining). No blood vessels.</a:t>
            </a:r>
            <a:endParaRPr lang="en-US" sz="2200" dirty="0"/>
          </a:p>
        </p:txBody>
      </p:sp>
      <p:sp>
        <p:nvSpPr>
          <p:cNvPr id="12" name="card_10"/>
          <p:cNvSpPr/>
          <p:nvPr/>
        </p:nvSpPr>
        <p:spPr>
          <a:xfrm>
            <a:off x="8778240" y="192024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Connective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Supports: bone, blood, fat, tendons.</a:t>
            </a:r>
            <a:endParaRPr lang="en-US" sz="2200" dirty="0"/>
          </a:p>
        </p:txBody>
      </p:sp>
      <p:sp>
        <p:nvSpPr>
          <p:cNvPr id="13" name="card_11"/>
          <p:cNvSpPr/>
          <p:nvPr/>
        </p:nvSpPr>
        <p:spPr>
          <a:xfrm>
            <a:off x="5852160" y="406908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Muscle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Moves.</a:t>
            </a:r>
            <a:endParaRPr lang="en-US" sz="2200" dirty="0"/>
          </a:p>
        </p:txBody>
      </p:sp>
      <p:sp>
        <p:nvSpPr>
          <p:cNvPr id="14" name="card_12"/>
          <p:cNvSpPr/>
          <p:nvPr/>
        </p:nvSpPr>
        <p:spPr>
          <a:xfrm>
            <a:off x="8778240" y="406908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Nervous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Signals.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loops</a:t>
            </a:r>
            <a:endParaRPr lang="en-US" sz="3600" dirty="0"/>
          </a:p>
        </p:txBody>
      </p:sp>
      <p:sp>
        <p:nvSpPr>
          <p:cNvPr id="3" name="dot_1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4" name="ico_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1598371"/>
            <a:ext cx="643738" cy="643738"/>
          </a:xfrm>
          <a:prstGeom prst="rect">
            <a:avLst/>
          </a:prstGeom>
        </p:spPr>
      </p:pic>
      <p:sp>
        <p:nvSpPr>
          <p:cNvPr id="5" name="card_3"/>
          <p:cNvSpPr/>
          <p:nvPr/>
        </p:nvSpPr>
        <p:spPr>
          <a:xfrm>
            <a:off x="548640" y="26060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= REVERSES the change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The most common type.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Too hot → sweat → cooler.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High blood sugar → insulin → sugar falls.</a:t>
            </a:r>
            <a:endParaRPr lang="en-US" sz="2000" dirty="0"/>
          </a:p>
        </p:txBody>
      </p:sp>
      <p:sp>
        <p:nvSpPr>
          <p:cNvPr id="6" name="dot_4"/>
          <p:cNvSpPr/>
          <p:nvPr/>
        </p:nvSpPr>
        <p:spPr>
          <a:xfrm>
            <a:off x="6355080" y="1417320"/>
            <a:ext cx="1005840" cy="100584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FF6B4A"/>
            </a:solidFill>
            <a:prstDash val="solid"/>
          </a:ln>
        </p:spPr>
      </p:sp>
      <p:pic>
        <p:nvPicPr>
          <p:cNvPr id="7" name="ico_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131" y="1598371"/>
            <a:ext cx="643738" cy="643738"/>
          </a:xfrm>
          <a:prstGeom prst="rect">
            <a:avLst/>
          </a:prstGeom>
        </p:spPr>
      </p:pic>
      <p:sp>
        <p:nvSpPr>
          <p:cNvPr id="8" name="card_6"/>
          <p:cNvSpPr/>
          <p:nvPr/>
        </p:nvSpPr>
        <p:spPr>
          <a:xfrm>
            <a:off x="6263640" y="26060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= AMPLIFIES until done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Labor contractions (oxytocin).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Blood clotting.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Breastfeeding.</a:t>
            </a:r>
            <a:endParaRPr lang="en-US" sz="2000" dirty="0"/>
          </a:p>
        </p:txBody>
      </p:sp>
      <p:sp>
        <p:nvSpPr>
          <p:cNvPr id="9" name="card_7"/>
          <p:cNvSpPr/>
          <p:nvPr/>
        </p:nvSpPr>
        <p:spPr>
          <a:xfrm>
            <a:off x="3108960" y="5532120"/>
            <a:ext cx="5943600" cy="685800"/>
          </a:xfrm>
          <a:prstGeom prst="roundRect">
            <a:avLst>
              <a:gd name="adj" fmla="val 16000"/>
            </a:avLst>
          </a:prstGeom>
          <a:solidFill>
            <a:srgbClr val="0B0D1C">
              <a:alpha val="92000"/>
            </a:srgbClr>
          </a:solidFill>
          <a:ln w="12700">
            <a:solidFill>
              <a:srgbClr val="E9B949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dirty="0">
                <a:solidFill>
                  <a:srgbClr val="F2EEFF"/>
                </a:solidFill>
              </a:rPr>
              <a:t>Positive = </a:t>
            </a:r>
            <a:r>
              <a:rPr lang="en-US" sz="2000" b="1" dirty="0">
                <a:solidFill>
                  <a:srgbClr val="E9B949"/>
                </a:solidFill>
              </a:rPr>
              <a:t>B</a:t>
            </a:r>
            <a:r>
              <a:rPr lang="en-US" sz="2000" dirty="0">
                <a:solidFill>
                  <a:srgbClr val="F2EEFF"/>
                </a:solidFill>
              </a:rPr>
              <a:t>abies and </a:t>
            </a:r>
            <a:r>
              <a:rPr lang="en-US" sz="2000" b="1" dirty="0">
                <a:solidFill>
                  <a:srgbClr val="E9B949"/>
                </a:solidFill>
              </a:rPr>
              <a:t>B</a:t>
            </a:r>
            <a:r>
              <a:rPr lang="en-US" sz="2000" dirty="0">
                <a:solidFill>
                  <a:srgbClr val="F2EEFF"/>
                </a:solidFill>
              </a:rPr>
              <a:t>lood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1 · Question 1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B8CFF"/>
                </a:solidFill>
              </a:rPr>
              <a:t>Gloomhallow Manor  </a:t>
            </a:r>
            <a:r>
              <a:rPr lang="en-US" sz="1400" dirty="0">
                <a:solidFill>
                  <a:srgbClr val="B9B5D6"/>
                </a:solidFill>
              </a:rPr>
              <a:t>vs The Levitating Butler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plane divides the body into left and right?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Frontal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Transverse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Sagittal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Coronal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Sagittal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Sagittal = left/right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1 · Question 2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B8CFF"/>
                </a:solidFill>
              </a:rPr>
              <a:t>Gloomhallow Manor  </a:t>
            </a:r>
            <a:r>
              <a:rPr lang="en-US" sz="1400" dirty="0">
                <a:solidFill>
                  <a:srgbClr val="B9B5D6"/>
                </a:solidFill>
              </a:rPr>
              <a:t>vs The Levitating Butler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The wrist is ___ to the elbow.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Proximal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Distal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Medial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Superior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ok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1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B: Distal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Farther from where the arm attaches</a:t>
            </a:r>
            <a:endParaRPr lang="en-US" sz="2000" dirty="0"/>
          </a:p>
        </p:txBody>
      </p:sp>
      <p:sp>
        <p:nvSpPr>
          <p:cNvPr id="12" name="no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1 · Question 3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B8CFF"/>
                </a:solidFill>
              </a:rPr>
              <a:t>Gloomhallow Manor  </a:t>
            </a:r>
            <a:r>
              <a:rPr lang="en-US" sz="1400" dirty="0">
                <a:solidFill>
                  <a:srgbClr val="B9B5D6"/>
                </a:solidFill>
              </a:rPr>
              <a:t>vs The Levitating Butler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Which is an example of positive feedback?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Sweating when hot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Insulin after a meal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Shivering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9B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Contractions during labor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no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2" name="ok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3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D: Contractions during labor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Labor amplifies until birth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Emberheart Caldera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Heart &amp; blood + lungs</a:t>
            </a:r>
            <a:endParaRPr lang="en-US" sz="2400" dirty="0"/>
          </a:p>
        </p:txBody>
      </p:sp>
      <p:sp>
        <p:nvSpPr>
          <p:cNvPr id="4" name="tag_1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F6B4A"/>
                </a:solidFill>
              </a:rPr>
              <a:t>DAY 1  ·  HOUR 2</a:t>
            </a:r>
            <a:endParaRPr lang="en-US" sz="2000" dirty="0"/>
          </a:p>
        </p:txBody>
      </p:sp>
      <p:sp>
        <p:nvSpPr>
          <p:cNvPr id="5" name="boss_2"/>
          <p:cNvSpPr txBox="1"/>
          <p:nvPr/>
        </p:nvSpPr>
        <p:spPr>
          <a:xfrm>
            <a:off x="73152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B5D6"/>
                </a:solidFill>
              </a:rPr>
              <a:t>Boss: </a:t>
            </a:r>
            <a:r>
              <a:rPr lang="en-US" sz="2000" b="1" dirty="0">
                <a:solidFill>
                  <a:srgbClr val="F2EEFF"/>
                </a:solidFill>
              </a:rPr>
              <a:t>The Cinder Wyrm</a:t>
            </a:r>
            <a:endParaRPr lang="en-US" sz="2000" dirty="0"/>
          </a:p>
        </p:txBody>
      </p:sp>
      <p:sp>
        <p:nvSpPr>
          <p:cNvPr id="6" name="card_3"/>
          <p:cNvSpPr/>
          <p:nvPr/>
        </p:nvSpPr>
        <p:spPr>
          <a:xfrm>
            <a:off x="731520" y="4800600"/>
            <a:ext cx="7498080" cy="960120"/>
          </a:xfrm>
          <a:prstGeom prst="roundRect">
            <a:avLst>
              <a:gd name="adj" fmla="val 11429"/>
            </a:avLst>
          </a:prstGeom>
          <a:solidFill>
            <a:srgbClr val="0B0D1C">
              <a:alpha val="70000"/>
            </a:srgbClr>
          </a:solidFill>
          <a:ln w="127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able to…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Recite blood flow through the heart; explain acidosis vs alkalosis</a:t>
            </a:r>
            <a:endParaRPr lang="en-US" sz="1600" dirty="0"/>
          </a:p>
        </p:txBody>
      </p:sp>
      <p:sp>
        <p:nvSpPr>
          <p:cNvPr id="7" name="emblem_4c"/>
          <p:cNvSpPr/>
          <p:nvPr/>
        </p:nvSpPr>
        <p:spPr>
          <a:xfrm>
            <a:off x="8823960" y="1508760"/>
            <a:ext cx="2834640" cy="2834640"/>
          </a:xfrm>
          <a:prstGeom prst="ellipse">
            <a:avLst/>
          </a:prstGeom>
          <a:solidFill>
            <a:srgbClr val="0B0D1C">
              <a:alpha val="70000"/>
            </a:srgbClr>
          </a:solidFill>
          <a:ln w="38100">
            <a:solidFill>
              <a:srgbClr val="FF6B4A"/>
            </a:solidFill>
            <a:prstDash val="solid"/>
          </a:ln>
        </p:spPr>
      </p:sp>
      <p:pic>
        <p:nvPicPr>
          <p:cNvPr id="8" name="emblem_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1965960"/>
            <a:ext cx="1920240" cy="1920240"/>
          </a:xfrm>
          <a:prstGeom prst="rect">
            <a:avLst/>
          </a:prstGeom>
        </p:spPr>
      </p:pic>
      <p:sp>
        <p:nvSpPr>
          <p:cNvPr id="9" name="home_5"/>
          <p:cNvSpPr txBox="1"/>
          <p:nvPr/>
        </p:nvSpPr>
        <p:spPr>
          <a:xfrm>
            <a:off x="10058400" y="6172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u="sng" dirty="0">
                <a:solidFill>
                  <a:srgbClr val="6FE0D6"/>
                </a:solidFill>
                <a:hlinkClick r:id="rId8" action="ppaction://hlinksldjump" tooltip="Back to the bootcamp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Realm map</a:t>
            </a:r>
            <a:endParaRPr lang="en-US" sz="1300" dirty="0"/>
          </a:p>
        </p:txBody>
      </p:sp>
      <p:pic>
        <p:nvPicPr>
          <p:cNvPr id="12" name="bg_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097280" y="182880"/>
            <a:ext cx="548640" cy="548640"/>
          </a:xfrm>
          <a:prstGeom prst="rect">
            <a:avLst/>
          </a:prstGeom>
        </p:spPr>
      </p:pic>
      <p:sp>
        <p:nvSpPr>
          <p:cNvPr id="11" name="music_btn"/>
          <p:cNvSpPr/>
          <p:nvPr/>
        </p:nvSpPr>
        <p:spPr>
          <a:xfrm>
            <a:off x="320040" y="61722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0B0D1C">
              <a:alpha val="75000"/>
            </a:srgbClr>
          </a:solidFill>
          <a:ln w="15875">
            <a:solidFill>
              <a:srgbClr val="E9B9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949"/>
                </a:solidFill>
              </a:rPr>
              <a:t>♪  Music on / off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  <p:sndAc>
          <p:stSnd>
            <p:snd r:embed="rId5" name="boom.wav"/>
          </p:stSnd>
        </p:sndAc>
      </p:transition>
    </mc:Choice>
    <mc:Fallback xmlns="">
      <p:transition spd="slow">
        <p:fade/>
        <p:sndAc>
          <p:stSnd>
            <p:snd r:embed="rIdFx1" name="boom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45000" numSld="10" showWhenStopped="0">
                <p:cTn id="3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flow: watch the journey</a:t>
            </a:r>
            <a:endParaRPr lang="en-US" sz="3600" dirty="0"/>
          </a:p>
        </p:txBody>
      </p:sp>
      <p:pic>
        <p:nvPicPr>
          <p:cNvPr id="3" name="flow_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234440"/>
            <a:ext cx="7799832" cy="4389120"/>
          </a:xfrm>
          <a:prstGeom prst="rect">
            <a:avLst/>
          </a:prstGeom>
        </p:spPr>
      </p:pic>
      <p:sp>
        <p:nvSpPr>
          <p:cNvPr id="4" name="card_1"/>
          <p:cNvSpPr/>
          <p:nvPr/>
        </p:nvSpPr>
        <p:spPr>
          <a:xfrm>
            <a:off x="8595360" y="1234440"/>
            <a:ext cx="3063240" cy="4389120"/>
          </a:xfrm>
          <a:prstGeom prst="roundRect">
            <a:avLst>
              <a:gd name="adj" fmla="val 358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EEFF"/>
                </a:solidFill>
              </a:rPr>
              <a:t>Blue = low O₂, red = high O₂.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EEFF"/>
                </a:solidFill>
              </a:rPr>
              <a:t>The right side pumps to the LUNGS.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EEFF"/>
                </a:solidFill>
              </a:rPr>
              <a:t>The left side pumps to the BODY.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EEFF"/>
                </a:solidFill>
              </a:rPr>
              <a:t>Pulmonary ARTERY = deoxygenated.</a:t>
            </a:r>
            <a:endParaRPr lang="en-US" sz="20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2EEFF"/>
                </a:solidFill>
              </a:rPr>
              <a:t>Pulmonary VEIN = oxygenated.</a:t>
            </a:r>
            <a:endParaRPr lang="en-US" sz="2000" dirty="0"/>
          </a:p>
        </p:txBody>
      </p:sp>
      <p:sp>
        <p:nvSpPr>
          <p:cNvPr id="5" name="cap_2"/>
          <p:cNvSpPr txBox="1"/>
          <p:nvPr/>
        </p:nvSpPr>
        <p:spPr>
          <a:xfrm>
            <a:off x="548640" y="5760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5D6"/>
                </a:solidFill>
              </a:rPr>
              <a:t>The video plays automatically. Click it to pause or resume.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flow: memorize this order</a:t>
            </a:r>
            <a:endParaRPr lang="en-US" sz="3600" dirty="0"/>
          </a:p>
        </p:txBody>
      </p:sp>
      <p:sp>
        <p:nvSpPr>
          <p:cNvPr id="3" name="chip_1"/>
          <p:cNvSpPr/>
          <p:nvPr/>
        </p:nvSpPr>
        <p:spPr>
          <a:xfrm>
            <a:off x="548640" y="146304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600" dirty="0"/>
          </a:p>
        </p:txBody>
      </p:sp>
      <p:sp>
        <p:nvSpPr>
          <p:cNvPr id="4" name="arr_2"/>
          <p:cNvSpPr/>
          <p:nvPr/>
        </p:nvSpPr>
        <p:spPr>
          <a:xfrm>
            <a:off x="2563978" y="173278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5" name="chip_3"/>
          <p:cNvSpPr/>
          <p:nvPr/>
        </p:nvSpPr>
        <p:spPr>
          <a:xfrm>
            <a:off x="2820010" y="146304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 cava</a:t>
            </a:r>
            <a:endParaRPr lang="en-US" sz="1600" dirty="0"/>
          </a:p>
        </p:txBody>
      </p:sp>
      <p:sp>
        <p:nvSpPr>
          <p:cNvPr id="6" name="arr_4"/>
          <p:cNvSpPr/>
          <p:nvPr/>
        </p:nvSpPr>
        <p:spPr>
          <a:xfrm>
            <a:off x="4835347" y="173278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7" name="chip_5"/>
          <p:cNvSpPr/>
          <p:nvPr/>
        </p:nvSpPr>
        <p:spPr>
          <a:xfrm>
            <a:off x="5091379" y="146304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atrium</a:t>
            </a:r>
            <a:endParaRPr lang="en-US" sz="1600" dirty="0"/>
          </a:p>
        </p:txBody>
      </p:sp>
      <p:sp>
        <p:nvSpPr>
          <p:cNvPr id="8" name="arr_6"/>
          <p:cNvSpPr/>
          <p:nvPr/>
        </p:nvSpPr>
        <p:spPr>
          <a:xfrm>
            <a:off x="7106717" y="173278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9" name="chip_7"/>
          <p:cNvSpPr/>
          <p:nvPr/>
        </p:nvSpPr>
        <p:spPr>
          <a:xfrm>
            <a:off x="7362749" y="146304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Tricuspid</a:t>
            </a:r>
            <a:endParaRPr lang="en-US" sz="1600" dirty="0"/>
          </a:p>
        </p:txBody>
      </p:sp>
      <p:sp>
        <p:nvSpPr>
          <p:cNvPr id="10" name="arr_8"/>
          <p:cNvSpPr/>
          <p:nvPr/>
        </p:nvSpPr>
        <p:spPr>
          <a:xfrm>
            <a:off x="9378086" y="173278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1" name="chip_9"/>
          <p:cNvSpPr/>
          <p:nvPr/>
        </p:nvSpPr>
        <p:spPr>
          <a:xfrm>
            <a:off x="9634118" y="146304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ventricle</a:t>
            </a:r>
            <a:endParaRPr lang="en-US" sz="1600" dirty="0"/>
          </a:p>
        </p:txBody>
      </p:sp>
      <p:sp>
        <p:nvSpPr>
          <p:cNvPr id="12" name="chip_10"/>
          <p:cNvSpPr/>
          <p:nvPr/>
        </p:nvSpPr>
        <p:spPr>
          <a:xfrm>
            <a:off x="548640" y="265176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valve</a:t>
            </a:r>
            <a:endParaRPr lang="en-US" sz="1600" dirty="0"/>
          </a:p>
        </p:txBody>
      </p:sp>
      <p:sp>
        <p:nvSpPr>
          <p:cNvPr id="13" name="arr_11"/>
          <p:cNvSpPr/>
          <p:nvPr/>
        </p:nvSpPr>
        <p:spPr>
          <a:xfrm>
            <a:off x="2563978" y="292150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4" name="chip_12"/>
          <p:cNvSpPr/>
          <p:nvPr/>
        </p:nvSpPr>
        <p:spPr>
          <a:xfrm>
            <a:off x="2820010" y="265176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artery</a:t>
            </a:r>
            <a:endParaRPr lang="en-US" sz="1600" dirty="0"/>
          </a:p>
        </p:txBody>
      </p:sp>
      <p:sp>
        <p:nvSpPr>
          <p:cNvPr id="15" name="arr_13"/>
          <p:cNvSpPr/>
          <p:nvPr/>
        </p:nvSpPr>
        <p:spPr>
          <a:xfrm>
            <a:off x="4835347" y="292150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6" name="chip_14"/>
          <p:cNvSpPr/>
          <p:nvPr/>
        </p:nvSpPr>
        <p:spPr>
          <a:xfrm>
            <a:off x="5091379" y="265176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LUNGS</a:t>
            </a:r>
            <a:endParaRPr lang="en-US" sz="1600" dirty="0"/>
          </a:p>
        </p:txBody>
      </p:sp>
      <p:sp>
        <p:nvSpPr>
          <p:cNvPr id="17" name="arr_15"/>
          <p:cNvSpPr/>
          <p:nvPr/>
        </p:nvSpPr>
        <p:spPr>
          <a:xfrm>
            <a:off x="7106717" y="292150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8" name="chip_16"/>
          <p:cNvSpPr/>
          <p:nvPr/>
        </p:nvSpPr>
        <p:spPr>
          <a:xfrm>
            <a:off x="7362749" y="265176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vein</a:t>
            </a:r>
            <a:endParaRPr lang="en-US" sz="1600" dirty="0"/>
          </a:p>
        </p:txBody>
      </p:sp>
      <p:sp>
        <p:nvSpPr>
          <p:cNvPr id="19" name="arr_17"/>
          <p:cNvSpPr/>
          <p:nvPr/>
        </p:nvSpPr>
        <p:spPr>
          <a:xfrm>
            <a:off x="9378086" y="292150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0" name="chip_18"/>
          <p:cNvSpPr/>
          <p:nvPr/>
        </p:nvSpPr>
        <p:spPr>
          <a:xfrm>
            <a:off x="9634118" y="265176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atrium</a:t>
            </a:r>
            <a:endParaRPr lang="en-US" sz="1600" dirty="0"/>
          </a:p>
        </p:txBody>
      </p:sp>
      <p:sp>
        <p:nvSpPr>
          <p:cNvPr id="21" name="chip_19"/>
          <p:cNvSpPr/>
          <p:nvPr/>
        </p:nvSpPr>
        <p:spPr>
          <a:xfrm>
            <a:off x="548640" y="384048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Mitral</a:t>
            </a:r>
            <a:endParaRPr lang="en-US" sz="1600" dirty="0"/>
          </a:p>
        </p:txBody>
      </p:sp>
      <p:sp>
        <p:nvSpPr>
          <p:cNvPr id="22" name="arr_20"/>
          <p:cNvSpPr/>
          <p:nvPr/>
        </p:nvSpPr>
        <p:spPr>
          <a:xfrm>
            <a:off x="2563978" y="411022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3" name="chip_21"/>
          <p:cNvSpPr/>
          <p:nvPr/>
        </p:nvSpPr>
        <p:spPr>
          <a:xfrm>
            <a:off x="2820010" y="384048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ventricle</a:t>
            </a:r>
            <a:endParaRPr lang="en-US" sz="1600" dirty="0"/>
          </a:p>
        </p:txBody>
      </p:sp>
      <p:sp>
        <p:nvSpPr>
          <p:cNvPr id="24" name="arr_22"/>
          <p:cNvSpPr/>
          <p:nvPr/>
        </p:nvSpPr>
        <p:spPr>
          <a:xfrm>
            <a:off x="4835347" y="411022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5" name="chip_23"/>
          <p:cNvSpPr/>
          <p:nvPr/>
        </p:nvSpPr>
        <p:spPr>
          <a:xfrm>
            <a:off x="5091379" y="384048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Aortic valve</a:t>
            </a:r>
            <a:endParaRPr lang="en-US" sz="1600" dirty="0"/>
          </a:p>
        </p:txBody>
      </p:sp>
      <p:sp>
        <p:nvSpPr>
          <p:cNvPr id="26" name="arr_24"/>
          <p:cNvSpPr/>
          <p:nvPr/>
        </p:nvSpPr>
        <p:spPr>
          <a:xfrm>
            <a:off x="7106717" y="411022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7" name="chip_25"/>
          <p:cNvSpPr/>
          <p:nvPr/>
        </p:nvSpPr>
        <p:spPr>
          <a:xfrm>
            <a:off x="7362749" y="384048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</a:t>
            </a:r>
            <a:endParaRPr lang="en-US" sz="1600" dirty="0"/>
          </a:p>
        </p:txBody>
      </p:sp>
      <p:sp>
        <p:nvSpPr>
          <p:cNvPr id="28" name="arr_26"/>
          <p:cNvSpPr/>
          <p:nvPr/>
        </p:nvSpPr>
        <p:spPr>
          <a:xfrm>
            <a:off x="9378086" y="411022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9" name="chip_27"/>
          <p:cNvSpPr/>
          <p:nvPr/>
        </p:nvSpPr>
        <p:spPr>
          <a:xfrm>
            <a:off x="9634118" y="3840480"/>
            <a:ext cx="1978762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600" dirty="0"/>
          </a:p>
        </p:txBody>
      </p:sp>
      <p:sp>
        <p:nvSpPr>
          <p:cNvPr id="30" name="card_28"/>
          <p:cNvSpPr/>
          <p:nvPr/>
        </p:nvSpPr>
        <p:spPr>
          <a:xfrm>
            <a:off x="548640" y="512064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Valves in order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"Try Pulling My Aorta": Tricuspid, Pulmonary, Mitral, Aortic</a:t>
            </a:r>
            <a:endParaRPr lang="en-US" sz="2000" dirty="0"/>
          </a:p>
        </p:txBody>
      </p:sp>
      <p:sp>
        <p:nvSpPr>
          <p:cNvPr id="31" name="card_29"/>
          <p:cNvSpPr/>
          <p:nvPr/>
        </p:nvSpPr>
        <p:spPr>
          <a:xfrm>
            <a:off x="6217920" y="512064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 question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Pulmonary artery = deoxygenated. Pulmonary vein = oxygenated.</a:t>
            </a:r>
            <a:endParaRPr lang="en-US" sz="2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must-knows</a:t>
            </a:r>
            <a:endParaRPr lang="en-US" sz="3600" dirty="0"/>
          </a:p>
        </p:txBody>
      </p:sp>
      <p:pic>
        <p:nvPicPr>
          <p:cNvPr id="3" name="heart_1" descr="/home/claude/teas-slides/asset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852160" cy="3291840"/>
          </a:xfrm>
          <a:prstGeom prst="rect">
            <a:avLst/>
          </a:prstGeom>
        </p:spPr>
      </p:pic>
      <p:sp>
        <p:nvSpPr>
          <p:cNvPr id="4" name="card_2"/>
          <p:cNvSpPr/>
          <p:nvPr/>
        </p:nvSpPr>
        <p:spPr>
          <a:xfrm>
            <a:off x="6492240" y="128016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9B949"/>
                </a:solidFill>
              </a:rPr>
              <a:t>Arteries go Away </a:t>
            </a:r>
            <a:r>
              <a:rPr lang="en-US" sz="1800" dirty="0">
                <a:solidFill>
                  <a:srgbClr val="F2EEFF"/>
                </a:solidFill>
              </a:rPr>
              <a:t>from the heart. Veins return.</a:t>
            </a:r>
            <a:endParaRPr lang="en-US" sz="1800" dirty="0"/>
          </a:p>
        </p:txBody>
      </p:sp>
      <p:sp>
        <p:nvSpPr>
          <p:cNvPr id="5" name="card_3"/>
          <p:cNvSpPr/>
          <p:nvPr/>
        </p:nvSpPr>
        <p:spPr>
          <a:xfrm>
            <a:off x="6492240" y="246888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9B949"/>
                </a:solidFill>
              </a:rPr>
              <a:t>Left ventricle </a:t>
            </a:r>
            <a:r>
              <a:rPr lang="en-US" sz="1800" dirty="0">
                <a:solidFill>
                  <a:srgbClr val="F2EEFF"/>
                </a:solidFill>
              </a:rPr>
              <a:t>= thickest wall (pumps to the whole body).</a:t>
            </a:r>
            <a:endParaRPr lang="en-US" sz="1800" dirty="0"/>
          </a:p>
        </p:txBody>
      </p:sp>
      <p:sp>
        <p:nvSpPr>
          <p:cNvPr id="6" name="card_4"/>
          <p:cNvSpPr/>
          <p:nvPr/>
        </p:nvSpPr>
        <p:spPr>
          <a:xfrm>
            <a:off x="6492240" y="365760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9B949"/>
                </a:solidFill>
              </a:rPr>
              <a:t>SA node </a:t>
            </a:r>
            <a:r>
              <a:rPr lang="en-US" sz="1800" dirty="0">
                <a:solidFill>
                  <a:srgbClr val="F2EEFF"/>
                </a:solidFill>
              </a:rPr>
              <a:t>= pacemaker. Capillaries = exchange (1 cell thick).</a:t>
            </a:r>
            <a:endParaRPr lang="en-US" sz="1800" dirty="0"/>
          </a:p>
        </p:txBody>
      </p:sp>
      <p:sp>
        <p:nvSpPr>
          <p:cNvPr id="7" name="nurse_5"/>
          <p:cNvSpPr/>
          <p:nvPr/>
        </p:nvSpPr>
        <p:spPr>
          <a:xfrm>
            <a:off x="548640" y="493776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6FE0D6"/>
          </a:solidFill>
          <a:ln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D1C"/>
                </a:solidFill>
              </a:rPr>
              <a:t>Nursing link  </a:t>
            </a:r>
            <a:r>
              <a:rPr lang="en-US" sz="1600" dirty="0">
                <a:solidFill>
                  <a:srgbClr val="0B0D1C"/>
                </a:solidFill>
              </a:rPr>
              <a:t>LEFT heart failure → fluid in the LUNGS.  RIGHT heart failure → swollen legs.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blood carries, and blood pressure</a:t>
            </a:r>
            <a:endParaRPr lang="en-US" sz="3600" dirty="0"/>
          </a:p>
        </p:txBody>
      </p:sp>
      <p:sp>
        <p:nvSpPr>
          <p:cNvPr id="3" name="dot_1"/>
          <p:cNvSpPr/>
          <p:nvPr/>
        </p:nvSpPr>
        <p:spPr>
          <a:xfrm>
            <a:off x="1417320" y="1371600"/>
            <a:ext cx="914400" cy="91440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FF6B4A"/>
            </a:solidFill>
            <a:prstDash val="solid"/>
          </a:ln>
        </p:spPr>
      </p:sp>
      <p:pic>
        <p:nvPicPr>
          <p:cNvPr id="4" name="ico_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1536192"/>
            <a:ext cx="585216" cy="585216"/>
          </a:xfrm>
          <a:prstGeom prst="rect">
            <a:avLst/>
          </a:prstGeom>
        </p:spPr>
      </p:pic>
      <p:sp>
        <p:nvSpPr>
          <p:cNvPr id="5" name="card_3"/>
          <p:cNvSpPr/>
          <p:nvPr/>
        </p:nvSpPr>
        <p:spPr>
          <a:xfrm>
            <a:off x="548640" y="242316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</a:t>
            </a:r>
            <a:endParaRPr lang="en-US" sz="2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Carry O₂ (hemoglobin, iron)</a:t>
            </a:r>
            <a:endParaRPr lang="en-US" sz="2200" dirty="0"/>
          </a:p>
        </p:txBody>
      </p:sp>
      <p:sp>
        <p:nvSpPr>
          <p:cNvPr id="6" name="dot_4"/>
          <p:cNvSpPr/>
          <p:nvPr/>
        </p:nvSpPr>
        <p:spPr>
          <a:xfrm>
            <a:off x="4224528" y="1371600"/>
            <a:ext cx="914400" cy="91440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7" name="ico_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536192"/>
            <a:ext cx="585216" cy="585216"/>
          </a:xfrm>
          <a:prstGeom prst="rect">
            <a:avLst/>
          </a:prstGeom>
        </p:spPr>
      </p:pic>
      <p:sp>
        <p:nvSpPr>
          <p:cNvPr id="8" name="card_6"/>
          <p:cNvSpPr/>
          <p:nvPr/>
        </p:nvSpPr>
        <p:spPr>
          <a:xfrm>
            <a:off x="3355848" y="242316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</a:t>
            </a:r>
            <a:endParaRPr lang="en-US" sz="2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Fight infection</a:t>
            </a:r>
            <a:endParaRPr lang="en-US" sz="2200" dirty="0"/>
          </a:p>
        </p:txBody>
      </p:sp>
      <p:sp>
        <p:nvSpPr>
          <p:cNvPr id="9" name="dot_7"/>
          <p:cNvSpPr/>
          <p:nvPr/>
        </p:nvSpPr>
        <p:spPr>
          <a:xfrm>
            <a:off x="7031736" y="1371600"/>
            <a:ext cx="914400" cy="91440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E9B949"/>
            </a:solidFill>
            <a:prstDash val="solid"/>
          </a:ln>
        </p:spPr>
      </p:sp>
      <p:pic>
        <p:nvPicPr>
          <p:cNvPr id="10" name="ico_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536192"/>
            <a:ext cx="585216" cy="585216"/>
          </a:xfrm>
          <a:prstGeom prst="rect">
            <a:avLst/>
          </a:prstGeom>
        </p:spPr>
      </p:pic>
      <p:sp>
        <p:nvSpPr>
          <p:cNvPr id="11" name="card_9"/>
          <p:cNvSpPr/>
          <p:nvPr/>
        </p:nvSpPr>
        <p:spPr>
          <a:xfrm>
            <a:off x="6163056" y="242316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</a:t>
            </a:r>
            <a:endParaRPr lang="en-US" sz="2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Clotting</a:t>
            </a:r>
            <a:endParaRPr lang="en-US" sz="2200" dirty="0"/>
          </a:p>
        </p:txBody>
      </p:sp>
      <p:sp>
        <p:nvSpPr>
          <p:cNvPr id="12" name="dot_10"/>
          <p:cNvSpPr/>
          <p:nvPr/>
        </p:nvSpPr>
        <p:spPr>
          <a:xfrm>
            <a:off x="9838944" y="1371600"/>
            <a:ext cx="914400" cy="91440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8FA2FF"/>
            </a:solidFill>
            <a:prstDash val="solid"/>
          </a:ln>
        </p:spPr>
      </p:sp>
      <p:pic>
        <p:nvPicPr>
          <p:cNvPr id="13" name="ico_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1536192"/>
            <a:ext cx="585216" cy="585216"/>
          </a:xfrm>
          <a:prstGeom prst="rect">
            <a:avLst/>
          </a:prstGeom>
        </p:spPr>
      </p:pic>
      <p:sp>
        <p:nvSpPr>
          <p:cNvPr id="14" name="card_12"/>
          <p:cNvSpPr/>
          <p:nvPr/>
        </p:nvSpPr>
        <p:spPr>
          <a:xfrm>
            <a:off x="8970264" y="242316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</a:t>
            </a:r>
            <a:endParaRPr lang="en-US" sz="2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55%, mostly water</a:t>
            </a:r>
            <a:endParaRPr lang="en-US" sz="2200" dirty="0"/>
          </a:p>
        </p:txBody>
      </p:sp>
      <p:sp>
        <p:nvSpPr>
          <p:cNvPr id="15" name="card_13"/>
          <p:cNvSpPr/>
          <p:nvPr/>
        </p:nvSpPr>
        <p:spPr>
          <a:xfrm>
            <a:off x="548640" y="4069080"/>
            <a:ext cx="3931920" cy="2103120"/>
          </a:xfrm>
          <a:prstGeom prst="roundRect">
            <a:avLst>
              <a:gd name="adj" fmla="val 5217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E9B949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120/80</a:t>
            </a:r>
            <a:endParaRPr lang="en-US" sz="5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Normal blood pressure</a:t>
            </a:r>
            <a:endParaRPr lang="en-US" sz="5400" dirty="0"/>
          </a:p>
        </p:txBody>
      </p:sp>
      <p:sp>
        <p:nvSpPr>
          <p:cNvPr id="16" name="card_14"/>
          <p:cNvSpPr/>
          <p:nvPr/>
        </p:nvSpPr>
        <p:spPr>
          <a:xfrm>
            <a:off x="4754880" y="4069080"/>
            <a:ext cx="6858000" cy="2103120"/>
          </a:xfrm>
          <a:prstGeom prst="roundRect">
            <a:avLst>
              <a:gd name="adj" fmla="val 5217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vs diastolic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6B4A"/>
                </a:solidFill>
              </a:rPr>
              <a:t>Systolic = squeeze </a:t>
            </a:r>
            <a:r>
              <a:rPr lang="en-US" sz="1800" dirty="0">
                <a:solidFill>
                  <a:srgbClr val="F2EEFF"/>
                </a:solidFill>
              </a:rPr>
              <a:t>(top number, ventricles contract).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6FE0D6"/>
                </a:solidFill>
              </a:rPr>
              <a:t>Diastolic = relax </a:t>
            </a:r>
            <a:r>
              <a:rPr lang="en-US" sz="1800" dirty="0">
                <a:solidFill>
                  <a:srgbClr val="F2EEFF"/>
                </a:solidFill>
              </a:rPr>
              <a:t>(bottom number, heart refills).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Lungs: the air path</a:t>
            </a:r>
            <a:endParaRPr lang="en-US" sz="3600" dirty="0"/>
          </a:p>
        </p:txBody>
      </p:sp>
      <p:sp>
        <p:nvSpPr>
          <p:cNvPr id="3" name="chip_1"/>
          <p:cNvSpPr/>
          <p:nvPr/>
        </p:nvSpPr>
        <p:spPr>
          <a:xfrm>
            <a:off x="548640" y="1417320"/>
            <a:ext cx="1329799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</a:t>
            </a:r>
            <a:endParaRPr lang="en-US" sz="1600" dirty="0"/>
          </a:p>
        </p:txBody>
      </p:sp>
      <p:sp>
        <p:nvSpPr>
          <p:cNvPr id="4" name="arr_2"/>
          <p:cNvSpPr/>
          <p:nvPr/>
        </p:nvSpPr>
        <p:spPr>
          <a:xfrm>
            <a:off x="1915015" y="168706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5" name="chip_3"/>
          <p:cNvSpPr/>
          <p:nvPr/>
        </p:nvSpPr>
        <p:spPr>
          <a:xfrm>
            <a:off x="2171047" y="1417320"/>
            <a:ext cx="1329799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Pharynx</a:t>
            </a:r>
            <a:endParaRPr lang="en-US" sz="1600" dirty="0"/>
          </a:p>
        </p:txBody>
      </p:sp>
      <p:sp>
        <p:nvSpPr>
          <p:cNvPr id="6" name="arr_4"/>
          <p:cNvSpPr/>
          <p:nvPr/>
        </p:nvSpPr>
        <p:spPr>
          <a:xfrm>
            <a:off x="3537422" y="168706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7" name="chip_5"/>
          <p:cNvSpPr/>
          <p:nvPr/>
        </p:nvSpPr>
        <p:spPr>
          <a:xfrm>
            <a:off x="3793454" y="1417320"/>
            <a:ext cx="1329799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Larynx</a:t>
            </a:r>
            <a:endParaRPr lang="en-US" sz="1600" dirty="0"/>
          </a:p>
        </p:txBody>
      </p:sp>
      <p:sp>
        <p:nvSpPr>
          <p:cNvPr id="8" name="arr_6"/>
          <p:cNvSpPr/>
          <p:nvPr/>
        </p:nvSpPr>
        <p:spPr>
          <a:xfrm>
            <a:off x="5159829" y="168706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9" name="chip_7"/>
          <p:cNvSpPr/>
          <p:nvPr/>
        </p:nvSpPr>
        <p:spPr>
          <a:xfrm>
            <a:off x="5415861" y="1417320"/>
            <a:ext cx="1329799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Trachea</a:t>
            </a:r>
            <a:endParaRPr lang="en-US" sz="1600" dirty="0"/>
          </a:p>
        </p:txBody>
      </p:sp>
      <p:sp>
        <p:nvSpPr>
          <p:cNvPr id="10" name="arr_8"/>
          <p:cNvSpPr/>
          <p:nvPr/>
        </p:nvSpPr>
        <p:spPr>
          <a:xfrm>
            <a:off x="6782235" y="168706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1" name="chip_9"/>
          <p:cNvSpPr/>
          <p:nvPr/>
        </p:nvSpPr>
        <p:spPr>
          <a:xfrm>
            <a:off x="7038267" y="1417320"/>
            <a:ext cx="1329799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</a:t>
            </a:r>
            <a:endParaRPr lang="en-US" sz="1600" dirty="0"/>
          </a:p>
        </p:txBody>
      </p:sp>
      <p:sp>
        <p:nvSpPr>
          <p:cNvPr id="12" name="arr_10"/>
          <p:cNvSpPr/>
          <p:nvPr/>
        </p:nvSpPr>
        <p:spPr>
          <a:xfrm>
            <a:off x="8404642" y="168706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3" name="chip_11"/>
          <p:cNvSpPr/>
          <p:nvPr/>
        </p:nvSpPr>
        <p:spPr>
          <a:xfrm>
            <a:off x="8660674" y="1417320"/>
            <a:ext cx="1329799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Bronchioles</a:t>
            </a:r>
            <a:endParaRPr lang="en-US" sz="1600" dirty="0"/>
          </a:p>
        </p:txBody>
      </p:sp>
      <p:sp>
        <p:nvSpPr>
          <p:cNvPr id="14" name="arr_12"/>
          <p:cNvSpPr/>
          <p:nvPr/>
        </p:nvSpPr>
        <p:spPr>
          <a:xfrm>
            <a:off x="10027049" y="168706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5" name="chip_13"/>
          <p:cNvSpPr/>
          <p:nvPr/>
        </p:nvSpPr>
        <p:spPr>
          <a:xfrm>
            <a:off x="10283081" y="1417320"/>
            <a:ext cx="1329799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Alveoli</a:t>
            </a:r>
            <a:endParaRPr lang="en-US" sz="1600" dirty="0"/>
          </a:p>
        </p:txBody>
      </p:sp>
      <p:sp>
        <p:nvSpPr>
          <p:cNvPr id="16" name="card_14"/>
          <p:cNvSpPr/>
          <p:nvPr/>
        </p:nvSpPr>
        <p:spPr>
          <a:xfrm>
            <a:off x="548640" y="242316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0B0D1C">
              <a:alpha val="92000"/>
            </a:srgbClr>
          </a:solidFill>
          <a:ln w="12700">
            <a:solidFill>
              <a:srgbClr val="E9B949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dirty="0">
                <a:solidFill>
                  <a:srgbClr val="F2EEFF"/>
                </a:solidFill>
              </a:rPr>
              <a:t>"</a:t>
            </a:r>
            <a:r>
              <a:rPr lang="en-US" sz="1800" b="1" dirty="0">
                <a:solidFill>
                  <a:srgbClr val="E9B949"/>
                </a:solidFill>
              </a:rPr>
              <a:t>P</a:t>
            </a:r>
            <a:r>
              <a:rPr lang="en-US" sz="1800" dirty="0">
                <a:solidFill>
                  <a:srgbClr val="F2EEFF"/>
                </a:solidFill>
              </a:rPr>
              <a:t>lease </a:t>
            </a:r>
            <a:r>
              <a:rPr lang="en-US" sz="1800" b="1" dirty="0">
                <a:solidFill>
                  <a:srgbClr val="E9B949"/>
                </a:solidFill>
              </a:rPr>
              <a:t>L</a:t>
            </a:r>
            <a:r>
              <a:rPr lang="en-US" sz="1800" dirty="0">
                <a:solidFill>
                  <a:srgbClr val="F2EEFF"/>
                </a:solidFill>
              </a:rPr>
              <a:t>et </a:t>
            </a:r>
            <a:r>
              <a:rPr lang="en-US" sz="1800" b="1" dirty="0">
                <a:solidFill>
                  <a:srgbClr val="E9B949"/>
                </a:solidFill>
              </a:rPr>
              <a:t>T</a:t>
            </a:r>
            <a:r>
              <a:rPr lang="en-US" sz="1800" dirty="0">
                <a:solidFill>
                  <a:srgbClr val="F2EEFF"/>
                </a:solidFill>
              </a:rPr>
              <a:t>he </a:t>
            </a:r>
            <a:r>
              <a:rPr lang="en-US" sz="1800" b="1" dirty="0">
                <a:solidFill>
                  <a:srgbClr val="E9B949"/>
                </a:solidFill>
              </a:rPr>
              <a:t>B</a:t>
            </a:r>
            <a:r>
              <a:rPr lang="en-US" sz="1800" dirty="0">
                <a:solidFill>
                  <a:srgbClr val="F2EEFF"/>
                </a:solidFill>
              </a:rPr>
              <a:t>reath </a:t>
            </a:r>
            <a:r>
              <a:rPr lang="en-US" sz="1800" b="1" dirty="0">
                <a:solidFill>
                  <a:srgbClr val="E9B949"/>
                </a:solidFill>
              </a:rPr>
              <a:t>B</a:t>
            </a:r>
            <a:r>
              <a:rPr lang="en-US" sz="1800" dirty="0">
                <a:solidFill>
                  <a:srgbClr val="F2EEFF"/>
                </a:solidFill>
              </a:rPr>
              <a:t>e </a:t>
            </a:r>
            <a:r>
              <a:rPr lang="en-US" sz="1800" b="1" dirty="0">
                <a:solidFill>
                  <a:srgbClr val="E9B949"/>
                </a:solidFill>
              </a:rPr>
              <a:t>A</a:t>
            </a:r>
            <a:r>
              <a:rPr lang="en-US" sz="1800" dirty="0">
                <a:solidFill>
                  <a:srgbClr val="F2EEFF"/>
                </a:solidFill>
              </a:rPr>
              <a:t>ir"  = pharynx, larynx, trachea, bronchi, bronchioles, alveoli</a:t>
            </a:r>
            <a:endParaRPr lang="en-US" sz="1800" dirty="0"/>
          </a:p>
        </p:txBody>
      </p:sp>
      <p:sp>
        <p:nvSpPr>
          <p:cNvPr id="17" name="dot_15"/>
          <p:cNvSpPr/>
          <p:nvPr/>
        </p:nvSpPr>
        <p:spPr>
          <a:xfrm>
            <a:off x="548640" y="3520440"/>
            <a:ext cx="777240" cy="77724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18" name="ico_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" y="3660343"/>
            <a:ext cx="497434" cy="497434"/>
          </a:xfrm>
          <a:prstGeom prst="rect">
            <a:avLst/>
          </a:prstGeom>
        </p:spPr>
      </p:pic>
      <p:sp>
        <p:nvSpPr>
          <p:cNvPr id="19" name="card_17"/>
          <p:cNvSpPr/>
          <p:nvPr/>
        </p:nvSpPr>
        <p:spPr>
          <a:xfrm>
            <a:off x="1463040" y="33832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Alveoli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Gas exchange by diffusion.</a:t>
            </a:r>
            <a:endParaRPr lang="en-US" sz="1700" dirty="0"/>
          </a:p>
        </p:txBody>
      </p:sp>
      <p:sp>
        <p:nvSpPr>
          <p:cNvPr id="20" name="dot_18"/>
          <p:cNvSpPr/>
          <p:nvPr/>
        </p:nvSpPr>
        <p:spPr>
          <a:xfrm>
            <a:off x="4297680" y="3520440"/>
            <a:ext cx="777240" cy="77724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21" name="ico_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583" y="3660343"/>
            <a:ext cx="497434" cy="497434"/>
          </a:xfrm>
          <a:prstGeom prst="rect">
            <a:avLst/>
          </a:prstGeom>
        </p:spPr>
      </p:pic>
      <p:sp>
        <p:nvSpPr>
          <p:cNvPr id="22" name="card_20"/>
          <p:cNvSpPr/>
          <p:nvPr/>
        </p:nvSpPr>
        <p:spPr>
          <a:xfrm>
            <a:off x="5212080" y="33832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Diaphragm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Contracts DOWN → air rushes IN.</a:t>
            </a:r>
            <a:endParaRPr lang="en-US" sz="1700" dirty="0"/>
          </a:p>
        </p:txBody>
      </p:sp>
      <p:sp>
        <p:nvSpPr>
          <p:cNvPr id="23" name="dot_21"/>
          <p:cNvSpPr/>
          <p:nvPr/>
        </p:nvSpPr>
        <p:spPr>
          <a:xfrm>
            <a:off x="8046720" y="3520440"/>
            <a:ext cx="777240" cy="77724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24" name="ico_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623" y="3660343"/>
            <a:ext cx="497434" cy="497434"/>
          </a:xfrm>
          <a:prstGeom prst="rect">
            <a:avLst/>
          </a:prstGeom>
        </p:spPr>
      </p:pic>
      <p:sp>
        <p:nvSpPr>
          <p:cNvPr id="25" name="card_23"/>
          <p:cNvSpPr/>
          <p:nvPr/>
        </p:nvSpPr>
        <p:spPr>
          <a:xfrm>
            <a:off x="8961120" y="33832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drives breathing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Sensed by the medulla.</a:t>
            </a:r>
            <a:endParaRPr lang="en-US" sz="1700" dirty="0"/>
          </a:p>
        </p:txBody>
      </p:sp>
      <p:sp>
        <p:nvSpPr>
          <p:cNvPr id="26" name="dot_24"/>
          <p:cNvSpPr/>
          <p:nvPr/>
        </p:nvSpPr>
        <p:spPr>
          <a:xfrm>
            <a:off x="548640" y="4892040"/>
            <a:ext cx="777240" cy="77724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27" name="ico_2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" y="5031943"/>
            <a:ext cx="497434" cy="497434"/>
          </a:xfrm>
          <a:prstGeom prst="rect">
            <a:avLst/>
          </a:prstGeom>
        </p:spPr>
      </p:pic>
      <p:sp>
        <p:nvSpPr>
          <p:cNvPr id="28" name="card_26"/>
          <p:cNvSpPr/>
          <p:nvPr/>
        </p:nvSpPr>
        <p:spPr>
          <a:xfrm>
            <a:off x="1463040" y="47548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Epiglottis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The lid that keeps food out of the airway.</a:t>
            </a:r>
            <a:endParaRPr lang="en-US" sz="1700" dirty="0"/>
          </a:p>
        </p:txBody>
      </p:sp>
      <p:sp>
        <p:nvSpPr>
          <p:cNvPr id="29" name="dot_27"/>
          <p:cNvSpPr/>
          <p:nvPr/>
        </p:nvSpPr>
        <p:spPr>
          <a:xfrm>
            <a:off x="4297680" y="4892040"/>
            <a:ext cx="777240" cy="77724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30" name="ico_2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583" y="5031943"/>
            <a:ext cx="497434" cy="497434"/>
          </a:xfrm>
          <a:prstGeom prst="rect">
            <a:avLst/>
          </a:prstGeom>
        </p:spPr>
      </p:pic>
      <p:sp>
        <p:nvSpPr>
          <p:cNvPr id="31" name="card_29"/>
          <p:cNvSpPr/>
          <p:nvPr/>
        </p:nvSpPr>
        <p:spPr>
          <a:xfrm>
            <a:off x="5212080" y="47548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65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Lobes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Right lung 3, left lung 2 (room for the heart).</a:t>
            </a:r>
            <a:endParaRPr lang="en-US" sz="17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Breathing and blood pH</a:t>
            </a:r>
            <a:endParaRPr lang="en-US" sz="3600" dirty="0"/>
          </a:p>
        </p:txBody>
      </p:sp>
      <p:sp>
        <p:nvSpPr>
          <p:cNvPr id="3" name="ph_1"/>
          <p:cNvSpPr/>
          <p:nvPr/>
        </p:nvSpPr>
        <p:spPr>
          <a:xfrm>
            <a:off x="548640" y="1463040"/>
            <a:ext cx="737921" cy="731520"/>
          </a:xfrm>
          <a:prstGeom prst="rect">
            <a:avLst/>
          </a:prstGeom>
          <a:solidFill>
            <a:srgbClr val="E5484D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0</a:t>
            </a:r>
            <a:endParaRPr lang="en-US" sz="1600" dirty="0"/>
          </a:p>
        </p:txBody>
      </p:sp>
      <p:sp>
        <p:nvSpPr>
          <p:cNvPr id="4" name="ph_2"/>
          <p:cNvSpPr/>
          <p:nvPr/>
        </p:nvSpPr>
        <p:spPr>
          <a:xfrm>
            <a:off x="1286561" y="1463040"/>
            <a:ext cx="737921" cy="731520"/>
          </a:xfrm>
          <a:prstGeom prst="rect">
            <a:avLst/>
          </a:prstGeom>
          <a:solidFill>
            <a:srgbClr val="EF6A3B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ph_3"/>
          <p:cNvSpPr/>
          <p:nvPr/>
        </p:nvSpPr>
        <p:spPr>
          <a:xfrm>
            <a:off x="2024482" y="1463040"/>
            <a:ext cx="737921" cy="731520"/>
          </a:xfrm>
          <a:prstGeom prst="rect">
            <a:avLst/>
          </a:prstGeom>
          <a:solidFill>
            <a:srgbClr val="F2A13A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ph_4"/>
          <p:cNvSpPr/>
          <p:nvPr/>
        </p:nvSpPr>
        <p:spPr>
          <a:xfrm>
            <a:off x="2762402" y="1463040"/>
            <a:ext cx="737921" cy="731520"/>
          </a:xfrm>
          <a:prstGeom prst="rect">
            <a:avLst/>
          </a:prstGeom>
          <a:solidFill>
            <a:srgbClr val="F6D04D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ph_5"/>
          <p:cNvSpPr/>
          <p:nvPr/>
        </p:nvSpPr>
        <p:spPr>
          <a:xfrm>
            <a:off x="3500323" y="1463040"/>
            <a:ext cx="737921" cy="731520"/>
          </a:xfrm>
          <a:prstGeom prst="rect">
            <a:avLst/>
          </a:prstGeom>
          <a:solidFill>
            <a:srgbClr val="CDE05A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4</a:t>
            </a:r>
            <a:endParaRPr lang="en-US" sz="1600" dirty="0"/>
          </a:p>
        </p:txBody>
      </p:sp>
      <p:sp>
        <p:nvSpPr>
          <p:cNvPr id="8" name="ph_6"/>
          <p:cNvSpPr/>
          <p:nvPr/>
        </p:nvSpPr>
        <p:spPr>
          <a:xfrm>
            <a:off x="4238244" y="1463040"/>
            <a:ext cx="737921" cy="731520"/>
          </a:xfrm>
          <a:prstGeom prst="rect">
            <a:avLst/>
          </a:prstGeom>
          <a:solidFill>
            <a:srgbClr val="8FD660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5</a:t>
            </a:r>
            <a:endParaRPr lang="en-US" sz="1600" dirty="0"/>
          </a:p>
        </p:txBody>
      </p:sp>
      <p:sp>
        <p:nvSpPr>
          <p:cNvPr id="9" name="ph_7"/>
          <p:cNvSpPr/>
          <p:nvPr/>
        </p:nvSpPr>
        <p:spPr>
          <a:xfrm>
            <a:off x="4976165" y="1463040"/>
            <a:ext cx="737921" cy="731520"/>
          </a:xfrm>
          <a:prstGeom prst="rect">
            <a:avLst/>
          </a:prstGeom>
          <a:solidFill>
            <a:srgbClr val="5CC97A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6</a:t>
            </a:r>
            <a:endParaRPr lang="en-US" sz="1600" dirty="0"/>
          </a:p>
        </p:txBody>
      </p:sp>
      <p:sp>
        <p:nvSpPr>
          <p:cNvPr id="10" name="ph_8"/>
          <p:cNvSpPr/>
          <p:nvPr/>
        </p:nvSpPr>
        <p:spPr>
          <a:xfrm>
            <a:off x="5714086" y="1463040"/>
            <a:ext cx="737921" cy="731520"/>
          </a:xfrm>
          <a:prstGeom prst="rect">
            <a:avLst/>
          </a:prstGeom>
          <a:solidFill>
            <a:srgbClr val="3FBF73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7</a:t>
            </a:r>
            <a:endParaRPr lang="en-US" sz="1600" dirty="0"/>
          </a:p>
        </p:txBody>
      </p:sp>
      <p:sp>
        <p:nvSpPr>
          <p:cNvPr id="11" name="ph_9"/>
          <p:cNvSpPr/>
          <p:nvPr/>
        </p:nvSpPr>
        <p:spPr>
          <a:xfrm>
            <a:off x="6452006" y="1463040"/>
            <a:ext cx="737921" cy="731520"/>
          </a:xfrm>
          <a:prstGeom prst="rect">
            <a:avLst/>
          </a:prstGeom>
          <a:solidFill>
            <a:srgbClr val="3BB3A3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8</a:t>
            </a:r>
            <a:endParaRPr lang="en-US" sz="1600" dirty="0"/>
          </a:p>
        </p:txBody>
      </p:sp>
      <p:sp>
        <p:nvSpPr>
          <p:cNvPr id="12" name="ph_10"/>
          <p:cNvSpPr/>
          <p:nvPr/>
        </p:nvSpPr>
        <p:spPr>
          <a:xfrm>
            <a:off x="7189927" y="1463040"/>
            <a:ext cx="737921" cy="731520"/>
          </a:xfrm>
          <a:prstGeom prst="rect">
            <a:avLst/>
          </a:prstGeom>
          <a:solidFill>
            <a:srgbClr val="3A9BD1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9</a:t>
            </a:r>
            <a:endParaRPr lang="en-US" sz="1600" dirty="0"/>
          </a:p>
        </p:txBody>
      </p:sp>
      <p:sp>
        <p:nvSpPr>
          <p:cNvPr id="13" name="ph_11"/>
          <p:cNvSpPr/>
          <p:nvPr/>
        </p:nvSpPr>
        <p:spPr>
          <a:xfrm>
            <a:off x="7927848" y="1463040"/>
            <a:ext cx="737921" cy="731520"/>
          </a:xfrm>
          <a:prstGeom prst="rect">
            <a:avLst/>
          </a:prstGeom>
          <a:solidFill>
            <a:srgbClr val="4F7FE0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10</a:t>
            </a:r>
            <a:endParaRPr lang="en-US" sz="1600" dirty="0"/>
          </a:p>
        </p:txBody>
      </p:sp>
      <p:sp>
        <p:nvSpPr>
          <p:cNvPr id="14" name="ph_12"/>
          <p:cNvSpPr/>
          <p:nvPr/>
        </p:nvSpPr>
        <p:spPr>
          <a:xfrm>
            <a:off x="8665769" y="1463040"/>
            <a:ext cx="737921" cy="731520"/>
          </a:xfrm>
          <a:prstGeom prst="rect">
            <a:avLst/>
          </a:prstGeom>
          <a:solidFill>
            <a:srgbClr val="6D66E0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11</a:t>
            </a:r>
            <a:endParaRPr lang="en-US" sz="1600" dirty="0"/>
          </a:p>
        </p:txBody>
      </p:sp>
      <p:sp>
        <p:nvSpPr>
          <p:cNvPr id="15" name="ph_13"/>
          <p:cNvSpPr/>
          <p:nvPr/>
        </p:nvSpPr>
        <p:spPr>
          <a:xfrm>
            <a:off x="9403690" y="1463040"/>
            <a:ext cx="737921" cy="731520"/>
          </a:xfrm>
          <a:prstGeom prst="rect">
            <a:avLst/>
          </a:prstGeom>
          <a:solidFill>
            <a:srgbClr val="8A55D8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12</a:t>
            </a:r>
            <a:endParaRPr lang="en-US" sz="1600" dirty="0"/>
          </a:p>
        </p:txBody>
      </p:sp>
      <p:sp>
        <p:nvSpPr>
          <p:cNvPr id="16" name="ph_14"/>
          <p:cNvSpPr/>
          <p:nvPr/>
        </p:nvSpPr>
        <p:spPr>
          <a:xfrm>
            <a:off x="10141610" y="1463040"/>
            <a:ext cx="737921" cy="731520"/>
          </a:xfrm>
          <a:prstGeom prst="rect">
            <a:avLst/>
          </a:prstGeom>
          <a:solidFill>
            <a:srgbClr val="9F48C8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13</a:t>
            </a:r>
            <a:endParaRPr lang="en-US" sz="1600" dirty="0"/>
          </a:p>
        </p:txBody>
      </p:sp>
      <p:sp>
        <p:nvSpPr>
          <p:cNvPr id="17" name="ph_15"/>
          <p:cNvSpPr/>
          <p:nvPr/>
        </p:nvSpPr>
        <p:spPr>
          <a:xfrm>
            <a:off x="10879531" y="1463040"/>
            <a:ext cx="737921" cy="731520"/>
          </a:xfrm>
          <a:prstGeom prst="rect">
            <a:avLst/>
          </a:prstGeom>
          <a:solidFill>
            <a:srgbClr val="A93CB4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D1C"/>
                </a:solidFill>
              </a:rPr>
              <a:t>14</a:t>
            </a:r>
            <a:endParaRPr lang="en-US" sz="1600" dirty="0"/>
          </a:p>
        </p:txBody>
      </p:sp>
      <p:sp>
        <p:nvSpPr>
          <p:cNvPr id="18" name="band_16"/>
          <p:cNvSpPr/>
          <p:nvPr/>
        </p:nvSpPr>
        <p:spPr>
          <a:xfrm>
            <a:off x="5972358" y="1325880"/>
            <a:ext cx="155302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bl_17"/>
          <p:cNvSpPr txBox="1"/>
          <p:nvPr/>
        </p:nvSpPr>
        <p:spPr>
          <a:xfrm>
            <a:off x="3291840" y="22860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EEFF"/>
                </a:solidFill>
              </a:rPr>
              <a:t>Normal blood pH 7.35 – 7.45</a:t>
            </a:r>
            <a:endParaRPr lang="en-US" sz="1800" dirty="0"/>
          </a:p>
        </p:txBody>
      </p:sp>
      <p:sp>
        <p:nvSpPr>
          <p:cNvPr id="20" name="hint_18"/>
          <p:cNvSpPr txBox="1"/>
          <p:nvPr/>
        </p:nvSpPr>
        <p:spPr>
          <a:xfrm>
            <a:off x="548640" y="29260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E0D6"/>
                </a:solidFill>
              </a:rPr>
              <a:t>Click each card to reveal what happens</a:t>
            </a:r>
            <a:endParaRPr lang="en-US" sz="1500" dirty="0"/>
          </a:p>
        </p:txBody>
      </p:sp>
      <p:sp>
        <p:nvSpPr>
          <p:cNvPr id="21" name="pick_slow"/>
          <p:cNvSpPr/>
          <p:nvPr/>
        </p:nvSpPr>
        <p:spPr>
          <a:xfrm>
            <a:off x="548640" y="3429000"/>
            <a:ext cx="5440680" cy="914400"/>
          </a:xfrm>
          <a:prstGeom prst="roundRect">
            <a:avLst>
              <a:gd name="adj" fmla="val 140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4A"/>
                </a:solidFill>
              </a:rPr>
              <a:t>SLOW breathing</a:t>
            </a:r>
            <a:endParaRPr lang="en-US" sz="2400" dirty="0"/>
          </a:p>
        </p:txBody>
      </p:sp>
      <p:sp>
        <p:nvSpPr>
          <p:cNvPr id="22" name="ans_slow"/>
          <p:cNvSpPr/>
          <p:nvPr/>
        </p:nvSpPr>
        <p:spPr>
          <a:xfrm>
            <a:off x="548640" y="4480560"/>
            <a:ext cx="5440680" cy="914400"/>
          </a:xfrm>
          <a:prstGeom prst="roundRect">
            <a:avLst>
              <a:gd name="adj" fmla="val 14000"/>
            </a:avLst>
          </a:prstGeom>
          <a:solidFill>
            <a:srgbClr val="0B0D1C"/>
          </a:solidFill>
          <a:ln w="19050">
            <a:solidFill>
              <a:srgbClr val="FF6B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EEFF"/>
                </a:solidFill>
              </a:rPr>
              <a:t>CO₂ builds up → ACIDOSIS (pH below 7.35)</a:t>
            </a:r>
            <a:endParaRPr lang="en-US" sz="1800" dirty="0"/>
          </a:p>
        </p:txBody>
      </p:sp>
      <p:sp>
        <p:nvSpPr>
          <p:cNvPr id="23" name="pick_fast"/>
          <p:cNvSpPr/>
          <p:nvPr/>
        </p:nvSpPr>
        <p:spPr>
          <a:xfrm>
            <a:off x="6172200" y="3429000"/>
            <a:ext cx="5440680" cy="914400"/>
          </a:xfrm>
          <a:prstGeom prst="roundRect">
            <a:avLst>
              <a:gd name="adj" fmla="val 14000"/>
            </a:avLst>
          </a:prstGeom>
          <a:solidFill>
            <a:srgbClr val="22275A"/>
          </a:solidFill>
          <a:ln w="25400">
            <a:solidFill>
              <a:srgbClr val="8FA2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FA2FF"/>
                </a:solidFill>
              </a:rPr>
              <a:t>FAST breathing</a:t>
            </a:r>
            <a:endParaRPr lang="en-US" sz="2400" dirty="0"/>
          </a:p>
        </p:txBody>
      </p:sp>
      <p:sp>
        <p:nvSpPr>
          <p:cNvPr id="24" name="ans_fast"/>
          <p:cNvSpPr/>
          <p:nvPr/>
        </p:nvSpPr>
        <p:spPr>
          <a:xfrm>
            <a:off x="6172200" y="4480560"/>
            <a:ext cx="5440680" cy="914400"/>
          </a:xfrm>
          <a:prstGeom prst="roundRect">
            <a:avLst>
              <a:gd name="adj" fmla="val 14000"/>
            </a:avLst>
          </a:prstGeom>
          <a:solidFill>
            <a:srgbClr val="0B0D1C"/>
          </a:solidFill>
          <a:ln w="19050">
            <a:solidFill>
              <a:srgbClr val="8FA2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EEFF"/>
                </a:solidFill>
              </a:rPr>
              <a:t>Blows off CO₂ → ALKALOSIS (pH above 7.45)</a:t>
            </a:r>
            <a:endParaRPr lang="en-US" sz="1800" dirty="0"/>
          </a:p>
        </p:txBody>
      </p:sp>
      <p:sp>
        <p:nvSpPr>
          <p:cNvPr id="25" name="nurse_19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6FE0D6"/>
          </a:solidFill>
          <a:ln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D1C"/>
                </a:solidFill>
              </a:rPr>
              <a:t>Nursing link  </a:t>
            </a:r>
            <a:r>
              <a:rPr lang="en-US" sz="1600" dirty="0">
                <a:solidFill>
                  <a:srgbClr val="0B0D1C"/>
                </a:solidFill>
              </a:rPr>
              <a:t>Normal blood pH = 7.35–7.45. Below = acidosis, above = alkalosis.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2 · Question 1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6B4A"/>
                </a:solidFill>
              </a:rPr>
              <a:t>Emberheart Caldera  </a:t>
            </a:r>
            <a:r>
              <a:rPr lang="en-US" sz="1400" dirty="0">
                <a:solidFill>
                  <a:srgbClr val="B9B5D6"/>
                </a:solidFill>
              </a:rPr>
              <a:t>vs The Cinder Wyrm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Blood leaving the right ventricle goes next to the: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Aorta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Pulmonary artery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Left atrium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Vena cava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ok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1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B: Pulmonary artery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Right ventricle → pulmonary artery → lungs</a:t>
            </a:r>
            <a:endParaRPr lang="en-US" sz="2000" dirty="0"/>
          </a:p>
        </p:txBody>
      </p:sp>
      <p:sp>
        <p:nvSpPr>
          <p:cNvPr id="12" name="no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2 · Question 2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6B4A"/>
                </a:solidFill>
              </a:rPr>
              <a:t>Emberheart Caldera  </a:t>
            </a:r>
            <a:r>
              <a:rPr lang="en-US" sz="1400" dirty="0">
                <a:solidFill>
                  <a:srgbClr val="B9B5D6"/>
                </a:solidFill>
              </a:rPr>
              <a:t>vs The Cinder Wyrm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Which vessel carries oxygenated blood?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Pulmonary artery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Vena cava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Pulmonary vein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Right ventricle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Pulmonary vein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Pulmonary veins bring O₂-rich blood from the lungs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2 · Question 3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6B4A"/>
                </a:solidFill>
              </a:rPr>
              <a:t>Emberheart Caldera  </a:t>
            </a:r>
            <a:r>
              <a:rPr lang="en-US" sz="1400" dirty="0">
                <a:solidFill>
                  <a:srgbClr val="B9B5D6"/>
                </a:solidFill>
              </a:rPr>
              <a:t>vs The Cinder Wyrm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 A patient breathing very fast will most likely develop: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Respiratory acidosis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Respiratory alkalosis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Metabolic acidosis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No change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ok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1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B: Respiratory alkalosis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Fast breathing blows off CO₂ → pH rises</a:t>
            </a:r>
            <a:endParaRPr lang="en-US" sz="2000" dirty="0"/>
          </a:p>
        </p:txBody>
      </p:sp>
      <p:sp>
        <p:nvSpPr>
          <p:cNvPr id="12" name="no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Stormspire Nexus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Nervous + endocrine</a:t>
            </a:r>
            <a:endParaRPr lang="en-US" sz="2400" dirty="0"/>
          </a:p>
        </p:txBody>
      </p:sp>
      <p:sp>
        <p:nvSpPr>
          <p:cNvPr id="4" name="tag_1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B48CFF"/>
                </a:solidFill>
              </a:rPr>
              <a:t>DAY 1  ·  HOUR 3</a:t>
            </a:r>
            <a:endParaRPr lang="en-US" sz="2000" dirty="0"/>
          </a:p>
        </p:txBody>
      </p:sp>
      <p:sp>
        <p:nvSpPr>
          <p:cNvPr id="5" name="boss_2"/>
          <p:cNvSpPr txBox="1"/>
          <p:nvPr/>
        </p:nvSpPr>
        <p:spPr>
          <a:xfrm>
            <a:off x="73152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B5D6"/>
                </a:solidFill>
              </a:rPr>
              <a:t>Boss: </a:t>
            </a:r>
            <a:r>
              <a:rPr lang="en-US" sz="2000" b="1" dirty="0">
                <a:solidFill>
                  <a:srgbClr val="F2EEFF"/>
                </a:solidFill>
              </a:rPr>
              <a:t>The Synapse Tyrant</a:t>
            </a:r>
            <a:endParaRPr lang="en-US" sz="2000" dirty="0"/>
          </a:p>
        </p:txBody>
      </p:sp>
      <p:sp>
        <p:nvSpPr>
          <p:cNvPr id="6" name="card_3"/>
          <p:cNvSpPr/>
          <p:nvPr/>
        </p:nvSpPr>
        <p:spPr>
          <a:xfrm>
            <a:off x="731520" y="4800600"/>
            <a:ext cx="7498080" cy="960120"/>
          </a:xfrm>
          <a:prstGeom prst="roundRect">
            <a:avLst>
              <a:gd name="adj" fmla="val 11429"/>
            </a:avLst>
          </a:prstGeom>
          <a:solidFill>
            <a:srgbClr val="0B0D1C">
              <a:alpha val="70000"/>
            </a:srgbClr>
          </a:solidFill>
          <a:ln w="127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able to…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Compare sympathetic vs parasympathetic; match glands to hormones</a:t>
            </a:r>
            <a:endParaRPr lang="en-US" sz="1600" dirty="0"/>
          </a:p>
        </p:txBody>
      </p:sp>
      <p:sp>
        <p:nvSpPr>
          <p:cNvPr id="7" name="emblem_4c"/>
          <p:cNvSpPr/>
          <p:nvPr/>
        </p:nvSpPr>
        <p:spPr>
          <a:xfrm>
            <a:off x="8823960" y="1508760"/>
            <a:ext cx="2834640" cy="2834640"/>
          </a:xfrm>
          <a:prstGeom prst="ellipse">
            <a:avLst/>
          </a:prstGeom>
          <a:solidFill>
            <a:srgbClr val="0B0D1C">
              <a:alpha val="70000"/>
            </a:srgbClr>
          </a:solidFill>
          <a:ln w="38100">
            <a:solidFill>
              <a:srgbClr val="B48CFF"/>
            </a:solidFill>
            <a:prstDash val="solid"/>
          </a:ln>
        </p:spPr>
      </p:sp>
      <p:pic>
        <p:nvPicPr>
          <p:cNvPr id="8" name="emblem_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1965960"/>
            <a:ext cx="1920240" cy="1920240"/>
          </a:xfrm>
          <a:prstGeom prst="rect">
            <a:avLst/>
          </a:prstGeom>
        </p:spPr>
      </p:pic>
      <p:sp>
        <p:nvSpPr>
          <p:cNvPr id="9" name="home_5"/>
          <p:cNvSpPr txBox="1"/>
          <p:nvPr/>
        </p:nvSpPr>
        <p:spPr>
          <a:xfrm>
            <a:off x="10058400" y="6172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u="sng" dirty="0">
                <a:solidFill>
                  <a:srgbClr val="6FE0D6"/>
                </a:solidFill>
                <a:hlinkClick r:id="rId8" action="ppaction://hlinksldjump" tooltip="Back to the bootcamp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Realm map</a:t>
            </a:r>
            <a:endParaRPr lang="en-US" sz="1300" dirty="0"/>
          </a:p>
        </p:txBody>
      </p:sp>
      <p:pic>
        <p:nvPicPr>
          <p:cNvPr id="12" name="bg_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097280" y="182880"/>
            <a:ext cx="548640" cy="548640"/>
          </a:xfrm>
          <a:prstGeom prst="rect">
            <a:avLst/>
          </a:prstGeom>
        </p:spPr>
      </p:pic>
      <p:sp>
        <p:nvSpPr>
          <p:cNvPr id="11" name="music_btn"/>
          <p:cNvSpPr/>
          <p:nvPr/>
        </p:nvSpPr>
        <p:spPr>
          <a:xfrm>
            <a:off x="320040" y="61722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0B0D1C">
              <a:alpha val="75000"/>
            </a:srgbClr>
          </a:solidFill>
          <a:ln w="15875">
            <a:solidFill>
              <a:srgbClr val="E9B9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949"/>
                </a:solidFill>
              </a:rPr>
              <a:t>♪  Music on / off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  <p:sndAc>
          <p:stSnd>
            <p:snd r:embed="rId5" name="boom.wav"/>
          </p:stSnd>
        </p:sndAc>
      </p:transition>
    </mc:Choice>
    <mc:Fallback xmlns="">
      <p:transition spd="slow">
        <p:fade/>
        <p:sndAc>
          <p:stSnd>
            <p:snd r:embed="rIdFx1" name="boom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45000" numSld="8" showWhenStopped="0">
                <p:cTn id="3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Nervous system: two speeds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28016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E9B949"/>
                </a:solidFill>
              </a:rPr>
              <a:t>CNS</a:t>
            </a:r>
            <a:r>
              <a:rPr lang="en-US" sz="1900" dirty="0">
                <a:solidFill>
                  <a:srgbClr val="F2EEFF"/>
                </a:solidFill>
              </a:rPr>
              <a:t> = brain + spinal cord.     </a:t>
            </a:r>
            <a:r>
              <a:rPr lang="en-US" sz="1900" b="1" dirty="0">
                <a:solidFill>
                  <a:srgbClr val="E9B949"/>
                </a:solidFill>
              </a:rPr>
              <a:t>PNS</a:t>
            </a:r>
            <a:r>
              <a:rPr lang="en-US" sz="1900" dirty="0">
                <a:solidFill>
                  <a:srgbClr val="F2EEFF"/>
                </a:solidFill>
              </a:rPr>
              <a:t> = all other nerves.</a:t>
            </a:r>
            <a:endParaRPr lang="en-US" sz="1900" dirty="0"/>
          </a:p>
        </p:txBody>
      </p:sp>
      <p:sp>
        <p:nvSpPr>
          <p:cNvPr id="4" name="dot_2"/>
          <p:cNvSpPr/>
          <p:nvPr/>
        </p:nvSpPr>
        <p:spPr>
          <a:xfrm>
            <a:off x="731520" y="2240280"/>
            <a:ext cx="1005840" cy="100584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FF6B4A"/>
            </a:solidFill>
            <a:prstDash val="solid"/>
          </a:ln>
        </p:spPr>
      </p:sp>
      <p:pic>
        <p:nvPicPr>
          <p:cNvPr id="5" name="ico_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2421331"/>
            <a:ext cx="643738" cy="643738"/>
          </a:xfrm>
          <a:prstGeom prst="rect">
            <a:avLst/>
          </a:prstGeom>
        </p:spPr>
      </p:pic>
      <p:sp>
        <p:nvSpPr>
          <p:cNvPr id="6" name="card_4"/>
          <p:cNvSpPr/>
          <p:nvPr/>
        </p:nvSpPr>
        <p:spPr>
          <a:xfrm>
            <a:off x="548640" y="338328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= FIGHT or FLIGHT</a:t>
            </a:r>
            <a:endParaRPr lang="en-US" sz="20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↑ heart rate, ↑ blood pressure</a:t>
            </a:r>
            <a:endParaRPr lang="en-US" sz="20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Big pupils, open airways</a:t>
            </a:r>
            <a:endParaRPr lang="en-US" sz="20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Digestion STOPS</a:t>
            </a:r>
            <a:endParaRPr lang="en-US" sz="2000" dirty="0"/>
          </a:p>
        </p:txBody>
      </p:sp>
      <p:sp>
        <p:nvSpPr>
          <p:cNvPr id="7" name="dot_5"/>
          <p:cNvSpPr/>
          <p:nvPr/>
        </p:nvSpPr>
        <p:spPr>
          <a:xfrm>
            <a:off x="6446520" y="2240280"/>
            <a:ext cx="1005840" cy="100584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8" name="ico_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1" y="2421331"/>
            <a:ext cx="643738" cy="643738"/>
          </a:xfrm>
          <a:prstGeom prst="rect">
            <a:avLst/>
          </a:prstGeom>
        </p:spPr>
      </p:pic>
      <p:sp>
        <p:nvSpPr>
          <p:cNvPr id="9" name="card_7"/>
          <p:cNvSpPr/>
          <p:nvPr/>
        </p:nvSpPr>
        <p:spPr>
          <a:xfrm>
            <a:off x="6263640" y="338328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Parasympathetic = REST and DIGEST</a:t>
            </a:r>
            <a:endParaRPr lang="en-US" sz="20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↓ heart rate</a:t>
            </a:r>
            <a:endParaRPr lang="en-US" sz="20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Digestion ON</a:t>
            </a:r>
            <a:endParaRPr lang="en-US" sz="20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EEFF"/>
                </a:solidFill>
              </a:rPr>
              <a:t>Vagus nerve</a:t>
            </a:r>
            <a:endParaRPr lang="en-US" sz="2000" dirty="0"/>
          </a:p>
        </p:txBody>
      </p:sp>
      <p:sp>
        <p:nvSpPr>
          <p:cNvPr id="10" name="nurse_8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6FE0D6"/>
          </a:solidFill>
          <a:ln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D1C"/>
                </a:solidFill>
              </a:rPr>
              <a:t>Nursing link  </a:t>
            </a:r>
            <a:r>
              <a:rPr lang="en-US" sz="1600" dirty="0">
                <a:solidFill>
                  <a:srgbClr val="0B0D1C"/>
                </a:solidFill>
              </a:rPr>
              <a:t>Left-brain stroke → RIGHT-side weakness (the brain controls the opposite side).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neuron and the brain map</a:t>
            </a:r>
            <a:endParaRPr lang="en-US" sz="3600" dirty="0"/>
          </a:p>
        </p:txBody>
      </p:sp>
      <p:pic>
        <p:nvPicPr>
          <p:cNvPr id="3" name="neuron_1" descr="/home/claude/teas-slides/assets/neu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863840" cy="2203704"/>
          </a:xfrm>
          <a:prstGeom prst="rect">
            <a:avLst/>
          </a:prstGeom>
        </p:spPr>
      </p:pic>
      <p:sp>
        <p:nvSpPr>
          <p:cNvPr id="4" name="card_2"/>
          <p:cNvSpPr/>
          <p:nvPr/>
        </p:nvSpPr>
        <p:spPr>
          <a:xfrm>
            <a:off x="8641080" y="1234440"/>
            <a:ext cx="3017520" cy="2194560"/>
          </a:xfrm>
          <a:prstGeom prst="roundRect">
            <a:avLst>
              <a:gd name="adj" fmla="val 50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Call Again"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Dendrite → Cell body → Axon. Myelin speeds the signal up.</a:t>
            </a:r>
            <a:endParaRPr lang="en-US" sz="2000" dirty="0"/>
          </a:p>
        </p:txBody>
      </p:sp>
      <p:sp>
        <p:nvSpPr>
          <p:cNvPr id="5" name="card_3"/>
          <p:cNvSpPr/>
          <p:nvPr/>
        </p:nvSpPr>
        <p:spPr>
          <a:xfrm>
            <a:off x="8641080" y="3611880"/>
            <a:ext cx="3017520" cy="2560320"/>
          </a:xfrm>
          <a:prstGeom prst="roundRect">
            <a:avLst>
              <a:gd name="adj" fmla="val 4286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9B949"/>
                </a:solidFill>
              </a:rPr>
              <a:t>S</a:t>
            </a:r>
            <a:r>
              <a:rPr lang="en-US" sz="1700" dirty="0">
                <a:solidFill>
                  <a:srgbClr val="F2EEFF"/>
                </a:solidFill>
              </a:rPr>
              <a:t>ensory = </a:t>
            </a:r>
            <a:r>
              <a:rPr lang="en-US" sz="1700" b="1" dirty="0">
                <a:solidFill>
                  <a:srgbClr val="E9B949"/>
                </a:solidFill>
              </a:rPr>
              <a:t>A</a:t>
            </a:r>
            <a:r>
              <a:rPr lang="en-US" sz="1700" dirty="0">
                <a:solidFill>
                  <a:srgbClr val="F2EEFF"/>
                </a:solidFill>
              </a:rPr>
              <a:t>fferent (to the brain)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9B949"/>
                </a:solidFill>
              </a:rPr>
              <a:t>M</a:t>
            </a:r>
            <a:r>
              <a:rPr lang="en-US" sz="1700" dirty="0">
                <a:solidFill>
                  <a:srgbClr val="F2EEFF"/>
                </a:solidFill>
              </a:rPr>
              <a:t>otor = </a:t>
            </a:r>
            <a:r>
              <a:rPr lang="en-US" sz="1700" b="1" dirty="0">
                <a:solidFill>
                  <a:srgbClr val="E9B949"/>
                </a:solidFill>
              </a:rPr>
              <a:t>E</a:t>
            </a:r>
            <a:r>
              <a:rPr lang="en-US" sz="1700" dirty="0">
                <a:solidFill>
                  <a:srgbClr val="F2EEFF"/>
                </a:solidFill>
              </a:rPr>
              <a:t>fferent (away)</a:t>
            </a:r>
            <a:endParaRPr lang="en-US" sz="2000" dirty="0"/>
          </a:p>
        </p:txBody>
      </p:sp>
      <p:sp>
        <p:nvSpPr>
          <p:cNvPr id="6" name="card_4"/>
          <p:cNvSpPr/>
          <p:nvPr/>
        </p:nvSpPr>
        <p:spPr>
          <a:xfrm>
            <a:off x="548640" y="3611880"/>
            <a:ext cx="379476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4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Cerebrum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Thinking</a:t>
            </a:r>
            <a:endParaRPr lang="en-US" sz="2000" dirty="0"/>
          </a:p>
        </p:txBody>
      </p:sp>
      <p:sp>
        <p:nvSpPr>
          <p:cNvPr id="7" name="card_5"/>
          <p:cNvSpPr/>
          <p:nvPr/>
        </p:nvSpPr>
        <p:spPr>
          <a:xfrm>
            <a:off x="4526280" y="3611880"/>
            <a:ext cx="379476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Cerebellum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Balance</a:t>
            </a:r>
            <a:endParaRPr lang="en-US" sz="2000" dirty="0"/>
          </a:p>
        </p:txBody>
      </p:sp>
      <p:sp>
        <p:nvSpPr>
          <p:cNvPr id="8" name="card_6"/>
          <p:cNvSpPr/>
          <p:nvPr/>
        </p:nvSpPr>
        <p:spPr>
          <a:xfrm>
            <a:off x="548640" y="4937760"/>
            <a:ext cx="379476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Medulla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Breathing + heart rate</a:t>
            </a:r>
            <a:endParaRPr lang="en-US" sz="2000" dirty="0"/>
          </a:p>
        </p:txBody>
      </p:sp>
      <p:sp>
        <p:nvSpPr>
          <p:cNvPr id="9" name="card_7"/>
          <p:cNvSpPr/>
          <p:nvPr/>
        </p:nvSpPr>
        <p:spPr>
          <a:xfrm>
            <a:off x="4526280" y="4937760"/>
            <a:ext cx="379476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Temperature, thirst; controls the pituitary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Endocrine: gland → hormone</a:t>
            </a:r>
            <a:endParaRPr lang="en-US" sz="3600" dirty="0"/>
          </a:p>
        </p:txBody>
      </p:sp>
      <p:graphicFrame>
        <p:nvGraphicFramePr>
          <p:cNvPr id="31" name="endo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B0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9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B0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9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9B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Hypothalamus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2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ADH + oxytocin; bosses the pituitary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9B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Anterior pituitary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2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"Master gland": GH, TSH, ACTH, FSH, LH, prolactin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9B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pituitary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2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STORES/RELEASES ADH + oxytocin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9B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2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T3/T4 = metabolism. CalciTONIN TONES DOWN calcium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9B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Parathyroid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2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 PULLS calcium UP from bone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9B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Adrenal cortex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2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Cortisol (stress, sugar), aldosterone (keep salt)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9B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Adrenal medulla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2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Epinephrine = adrenaline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9B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Pancreas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2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 lowers sugar (lets it IN to cells); glucagon raises it ("glucose gone" → make more)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nurse_1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6FE0D6"/>
          </a:solidFill>
          <a:ln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D1C"/>
                </a:solidFill>
              </a:rPr>
              <a:t>Nursing link  </a:t>
            </a:r>
            <a:r>
              <a:rPr lang="en-US" sz="1600" dirty="0">
                <a:solidFill>
                  <a:srgbClr val="0B0D1C"/>
                </a:solidFill>
              </a:rPr>
              <a:t>Type 1 diabetes = no insulin. Type 2 = insulin doesn't work well.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1" grpId="0">
        <p:bldAsOne/>
      </p:bldGraphic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Mnemonic vault: click to unlock</a:t>
            </a:r>
            <a:endParaRPr lang="en-US" sz="3600" dirty="0"/>
          </a:p>
        </p:txBody>
      </p:sp>
      <p:sp>
        <p:nvSpPr>
          <p:cNvPr id="3" name="vault_0"/>
          <p:cNvSpPr/>
          <p:nvPr/>
        </p:nvSpPr>
        <p:spPr>
          <a:xfrm>
            <a:off x="548640" y="1371600"/>
            <a:ext cx="3520440" cy="1005840"/>
          </a:xfrm>
          <a:prstGeom prst="roundRect">
            <a:avLst>
              <a:gd name="adj" fmla="val 12727"/>
            </a:avLst>
          </a:prstGeom>
          <a:solidFill>
            <a:srgbClr val="22275A"/>
          </a:solidFill>
          <a:ln w="2540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  </a:t>
            </a:r>
            <a:r>
              <a:rPr lang="en-US" sz="2100" b="1" dirty="0">
                <a:solidFill>
                  <a:srgbClr val="6FE0D6"/>
                </a:solidFill>
              </a:rPr>
              <a:t>"Calcitonin tones down"</a:t>
            </a:r>
            <a:endParaRPr lang="en-US" sz="1800" dirty="0"/>
          </a:p>
        </p:txBody>
      </p:sp>
      <p:sp>
        <p:nvSpPr>
          <p:cNvPr id="4" name="key_0"/>
          <p:cNvSpPr/>
          <p:nvPr/>
        </p:nvSpPr>
        <p:spPr>
          <a:xfrm>
            <a:off x="548640" y="2468880"/>
            <a:ext cx="3520440" cy="1051560"/>
          </a:xfrm>
          <a:prstGeom prst="roundRect">
            <a:avLst>
              <a:gd name="adj" fmla="val 12174"/>
            </a:avLst>
          </a:prstGeom>
          <a:solidFill>
            <a:srgbClr val="0B0D1C"/>
          </a:solidFill>
          <a:ln w="1905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</a:rPr>
              <a:t>Calcitonin LOWERS blood calcium</a:t>
            </a:r>
            <a:endParaRPr lang="en-US" sz="1700" dirty="0"/>
          </a:p>
        </p:txBody>
      </p:sp>
      <p:sp>
        <p:nvSpPr>
          <p:cNvPr id="5" name="vault_1"/>
          <p:cNvSpPr/>
          <p:nvPr/>
        </p:nvSpPr>
        <p:spPr>
          <a:xfrm>
            <a:off x="4297680" y="1371600"/>
            <a:ext cx="3520440" cy="1005840"/>
          </a:xfrm>
          <a:prstGeom prst="roundRect">
            <a:avLst>
              <a:gd name="adj" fmla="val 12727"/>
            </a:avLst>
          </a:prstGeom>
          <a:solidFill>
            <a:srgbClr val="22275A"/>
          </a:solidFill>
          <a:ln w="25400">
            <a:solidFill>
              <a:srgbClr val="FF6B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  </a:t>
            </a:r>
            <a:r>
              <a:rPr lang="en-US" sz="2100" b="1" dirty="0">
                <a:solidFill>
                  <a:srgbClr val="FF6B4A"/>
                </a:solidFill>
              </a:rPr>
              <a:t>"PTH pulls up"</a:t>
            </a:r>
            <a:endParaRPr lang="en-US" sz="1800" dirty="0"/>
          </a:p>
        </p:txBody>
      </p:sp>
      <p:sp>
        <p:nvSpPr>
          <p:cNvPr id="6" name="key_1"/>
          <p:cNvSpPr/>
          <p:nvPr/>
        </p:nvSpPr>
        <p:spPr>
          <a:xfrm>
            <a:off x="4297680" y="2468880"/>
            <a:ext cx="3520440" cy="1051560"/>
          </a:xfrm>
          <a:prstGeom prst="roundRect">
            <a:avLst>
              <a:gd name="adj" fmla="val 12174"/>
            </a:avLst>
          </a:prstGeom>
          <a:solidFill>
            <a:srgbClr val="0B0D1C"/>
          </a:solidFill>
          <a:ln w="19050">
            <a:solidFill>
              <a:srgbClr val="FF6B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</a:rPr>
              <a:t>Parathyroid hormone RAISES calcium (from bone)</a:t>
            </a:r>
            <a:endParaRPr lang="en-US" sz="1700" dirty="0"/>
          </a:p>
        </p:txBody>
      </p:sp>
      <p:sp>
        <p:nvSpPr>
          <p:cNvPr id="7" name="vault_2"/>
          <p:cNvSpPr/>
          <p:nvPr/>
        </p:nvSpPr>
        <p:spPr>
          <a:xfrm>
            <a:off x="8046720" y="1371600"/>
            <a:ext cx="3520440" cy="1005840"/>
          </a:xfrm>
          <a:prstGeom prst="roundRect">
            <a:avLst>
              <a:gd name="adj" fmla="val 12727"/>
            </a:avLst>
          </a:prstGeom>
          <a:solidFill>
            <a:srgbClr val="22275A"/>
          </a:solidFill>
          <a:ln w="25400">
            <a:solidFill>
              <a:srgbClr val="E9B94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  </a:t>
            </a:r>
            <a:r>
              <a:rPr lang="en-US" sz="2100" b="1" dirty="0">
                <a:solidFill>
                  <a:srgbClr val="E9B949"/>
                </a:solidFill>
              </a:rPr>
              <a:t>"Insulin lets it IN"</a:t>
            </a:r>
            <a:endParaRPr lang="en-US" sz="1800" dirty="0"/>
          </a:p>
        </p:txBody>
      </p:sp>
      <p:sp>
        <p:nvSpPr>
          <p:cNvPr id="8" name="key_2"/>
          <p:cNvSpPr/>
          <p:nvPr/>
        </p:nvSpPr>
        <p:spPr>
          <a:xfrm>
            <a:off x="8046720" y="2468880"/>
            <a:ext cx="3520440" cy="1051560"/>
          </a:xfrm>
          <a:prstGeom prst="roundRect">
            <a:avLst>
              <a:gd name="adj" fmla="val 12174"/>
            </a:avLst>
          </a:prstGeom>
          <a:solidFill>
            <a:srgbClr val="0B0D1C"/>
          </a:solidFill>
          <a:ln w="19050">
            <a:solidFill>
              <a:srgbClr val="E9B94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</a:rPr>
              <a:t>Insulin moves glucose into cells → sugar falls</a:t>
            </a:r>
            <a:endParaRPr lang="en-US" sz="1700" dirty="0"/>
          </a:p>
        </p:txBody>
      </p:sp>
      <p:sp>
        <p:nvSpPr>
          <p:cNvPr id="9" name="vault_3"/>
          <p:cNvSpPr/>
          <p:nvPr/>
        </p:nvSpPr>
        <p:spPr>
          <a:xfrm>
            <a:off x="548640" y="3794760"/>
            <a:ext cx="3520440" cy="1005840"/>
          </a:xfrm>
          <a:prstGeom prst="roundRect">
            <a:avLst>
              <a:gd name="adj" fmla="val 12727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  </a:t>
            </a:r>
            <a:r>
              <a:rPr lang="en-US" sz="2100" b="1" dirty="0">
                <a:solidFill>
                  <a:srgbClr val="B48CFF"/>
                </a:solidFill>
              </a:rPr>
              <a:t>"Glucose gone → make more"</a:t>
            </a:r>
            <a:endParaRPr lang="en-US" sz="1800" dirty="0"/>
          </a:p>
        </p:txBody>
      </p:sp>
      <p:sp>
        <p:nvSpPr>
          <p:cNvPr id="10" name="key_3"/>
          <p:cNvSpPr/>
          <p:nvPr/>
        </p:nvSpPr>
        <p:spPr>
          <a:xfrm>
            <a:off x="548640" y="4892040"/>
            <a:ext cx="3520440" cy="1051560"/>
          </a:xfrm>
          <a:prstGeom prst="roundRect">
            <a:avLst>
              <a:gd name="adj" fmla="val 12174"/>
            </a:avLst>
          </a:prstGeom>
          <a:solidFill>
            <a:srgbClr val="0B0D1C"/>
          </a:solidFill>
          <a:ln w="19050">
            <a:solidFill>
              <a:srgbClr val="B48C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</a:rPr>
              <a:t>Glucagon RAISES blood sugar</a:t>
            </a:r>
            <a:endParaRPr lang="en-US" sz="1700" dirty="0"/>
          </a:p>
        </p:txBody>
      </p:sp>
      <p:sp>
        <p:nvSpPr>
          <p:cNvPr id="11" name="vault_4"/>
          <p:cNvSpPr/>
          <p:nvPr/>
        </p:nvSpPr>
        <p:spPr>
          <a:xfrm>
            <a:off x="4297680" y="3794760"/>
            <a:ext cx="3520440" cy="1005840"/>
          </a:xfrm>
          <a:prstGeom prst="roundRect">
            <a:avLst>
              <a:gd name="adj" fmla="val 12727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  </a:t>
            </a:r>
            <a:r>
              <a:rPr lang="en-US" sz="2100" b="1" dirty="0">
                <a:solidFill>
                  <a:srgbClr val="7FE0A8"/>
                </a:solidFill>
              </a:rPr>
              <a:t>Made from cholesterol</a:t>
            </a:r>
            <a:endParaRPr lang="en-US" sz="1800" dirty="0"/>
          </a:p>
        </p:txBody>
      </p:sp>
      <p:sp>
        <p:nvSpPr>
          <p:cNvPr id="12" name="key_4"/>
          <p:cNvSpPr/>
          <p:nvPr/>
        </p:nvSpPr>
        <p:spPr>
          <a:xfrm>
            <a:off x="4297680" y="4892040"/>
            <a:ext cx="3520440" cy="1051560"/>
          </a:xfrm>
          <a:prstGeom prst="roundRect">
            <a:avLst>
              <a:gd name="adj" fmla="val 12174"/>
            </a:avLst>
          </a:prstGeom>
          <a:solidFill>
            <a:srgbClr val="0B0D1C"/>
          </a:solidFill>
          <a:ln w="19050">
            <a:solidFill>
              <a:srgbClr val="7FE0A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</a:rPr>
              <a:t>Steroid hormones: cortisol, estrogen, testosterone</a:t>
            </a:r>
            <a:endParaRPr lang="en-US" sz="1700" dirty="0"/>
          </a:p>
        </p:txBody>
      </p:sp>
      <p:sp>
        <p:nvSpPr>
          <p:cNvPr id="13" name="vault_5"/>
          <p:cNvSpPr/>
          <p:nvPr/>
        </p:nvSpPr>
        <p:spPr>
          <a:xfrm>
            <a:off x="8046720" y="3794760"/>
            <a:ext cx="3520440" cy="1005840"/>
          </a:xfrm>
          <a:prstGeom prst="roundRect">
            <a:avLst>
              <a:gd name="adj" fmla="val 12727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  </a:t>
            </a:r>
            <a:r>
              <a:rPr lang="en-US" sz="2100" b="1" dirty="0">
                <a:solidFill>
                  <a:srgbClr val="FF7AC8"/>
                </a:solidFill>
              </a:rPr>
              <a:t>Most hormones…</a:t>
            </a:r>
            <a:endParaRPr lang="en-US" sz="1800" dirty="0"/>
          </a:p>
        </p:txBody>
      </p:sp>
      <p:sp>
        <p:nvSpPr>
          <p:cNvPr id="14" name="key_5"/>
          <p:cNvSpPr/>
          <p:nvPr/>
        </p:nvSpPr>
        <p:spPr>
          <a:xfrm>
            <a:off x="8046720" y="4892040"/>
            <a:ext cx="3520440" cy="1051560"/>
          </a:xfrm>
          <a:prstGeom prst="roundRect">
            <a:avLst>
              <a:gd name="adj" fmla="val 12174"/>
            </a:avLst>
          </a:prstGeom>
          <a:solidFill>
            <a:srgbClr val="0B0D1C"/>
          </a:solidFill>
          <a:ln w="19050">
            <a:solidFill>
              <a:srgbClr val="FF7AC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</a:rPr>
              <a:t>…are controlled by NEGATIVE feedback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3 · Question 1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48CFF"/>
                </a:solidFill>
              </a:rPr>
              <a:t>Stormspire Nexus  </a:t>
            </a:r>
            <a:r>
              <a:rPr lang="en-US" sz="1400" dirty="0">
                <a:solidFill>
                  <a:srgbClr val="B9B5D6"/>
                </a:solidFill>
              </a:rPr>
              <a:t>vs The Synapse Tyrant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 Which response is sympathetic?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Slower heart rate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Increased digestion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Dilated pupils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Constricted bronchioles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Dilated pupils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Fight or flight: big pupils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3 · Question 2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48CFF"/>
                </a:solidFill>
              </a:rPr>
              <a:t>Stormspire Nexus  </a:t>
            </a:r>
            <a:r>
              <a:rPr lang="en-US" sz="1400" dirty="0">
                <a:solidFill>
                  <a:srgbClr val="B9B5D6"/>
                </a:solidFill>
              </a:rPr>
              <a:t>vs The Synapse Tyrant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 ADH is made in the ___ and released from the ___.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Pituitary, hypothalamus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Hypothalamus, posterior pituitary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Kidney, adrenal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Thyroid, parathyroid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ok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1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B: Hypothalamus, posterior pituitary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Hypothalamus makes, posterior pituitary releases</a:t>
            </a:r>
            <a:endParaRPr lang="en-US" sz="2000" dirty="0"/>
          </a:p>
        </p:txBody>
      </p:sp>
      <p:sp>
        <p:nvSpPr>
          <p:cNvPr id="12" name="no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3 · Question 3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48CFF"/>
                </a:solidFill>
              </a:rPr>
              <a:t>Stormspire Nexus  </a:t>
            </a:r>
            <a:r>
              <a:rPr lang="en-US" sz="1400" dirty="0">
                <a:solidFill>
                  <a:srgbClr val="B9B5D6"/>
                </a:solidFill>
              </a:rPr>
              <a:t>vs The Synapse Tyrant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 Which hormone raises blood calcium?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Calcitonin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Insulin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Parathyroid hormone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B48CFF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Aldosterone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Parathyroid hormone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PTH pulls calcium up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Gumdrop Gut Works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Digestive + urinary</a:t>
            </a:r>
            <a:endParaRPr lang="en-US" sz="2400" dirty="0"/>
          </a:p>
        </p:txBody>
      </p:sp>
      <p:sp>
        <p:nvSpPr>
          <p:cNvPr id="4" name="tag_1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F7AC8"/>
                </a:solidFill>
              </a:rPr>
              <a:t>DAY 1  ·  HOUR 4</a:t>
            </a:r>
            <a:endParaRPr lang="en-US" sz="2000" dirty="0"/>
          </a:p>
        </p:txBody>
      </p:sp>
      <p:sp>
        <p:nvSpPr>
          <p:cNvPr id="5" name="boss_2"/>
          <p:cNvSpPr txBox="1"/>
          <p:nvPr/>
        </p:nvSpPr>
        <p:spPr>
          <a:xfrm>
            <a:off x="73152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B5D6"/>
                </a:solidFill>
              </a:rPr>
              <a:t>Boss: </a:t>
            </a:r>
            <a:r>
              <a:rPr lang="en-US" sz="2000" b="1" dirty="0">
                <a:solidFill>
                  <a:srgbClr val="F2EEFF"/>
                </a:solidFill>
              </a:rPr>
              <a:t>The Sugar Baron</a:t>
            </a:r>
            <a:endParaRPr lang="en-US" sz="2000" dirty="0"/>
          </a:p>
        </p:txBody>
      </p:sp>
      <p:sp>
        <p:nvSpPr>
          <p:cNvPr id="6" name="card_3"/>
          <p:cNvSpPr/>
          <p:nvPr/>
        </p:nvSpPr>
        <p:spPr>
          <a:xfrm>
            <a:off x="731520" y="4800600"/>
            <a:ext cx="7498080" cy="960120"/>
          </a:xfrm>
          <a:prstGeom prst="roundRect">
            <a:avLst>
              <a:gd name="adj" fmla="val 11429"/>
            </a:avLst>
          </a:prstGeom>
          <a:solidFill>
            <a:srgbClr val="0B0D1C">
              <a:alpha val="70000"/>
            </a:srgbClr>
          </a:solidFill>
          <a:ln w="127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able to…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Trace food and urine; explain ADH and aldosterone</a:t>
            </a:r>
            <a:endParaRPr lang="en-US" sz="1600" dirty="0"/>
          </a:p>
        </p:txBody>
      </p:sp>
      <p:sp>
        <p:nvSpPr>
          <p:cNvPr id="7" name="emblem_4c"/>
          <p:cNvSpPr/>
          <p:nvPr/>
        </p:nvSpPr>
        <p:spPr>
          <a:xfrm>
            <a:off x="8823960" y="1508760"/>
            <a:ext cx="2834640" cy="2834640"/>
          </a:xfrm>
          <a:prstGeom prst="ellipse">
            <a:avLst/>
          </a:prstGeom>
          <a:solidFill>
            <a:srgbClr val="0B0D1C">
              <a:alpha val="70000"/>
            </a:srgbClr>
          </a:solidFill>
          <a:ln w="38100">
            <a:solidFill>
              <a:srgbClr val="FF7AC8"/>
            </a:solidFill>
            <a:prstDash val="solid"/>
          </a:ln>
        </p:spPr>
      </p:sp>
      <p:pic>
        <p:nvPicPr>
          <p:cNvPr id="8" name="emblem_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1965960"/>
            <a:ext cx="1920240" cy="1920240"/>
          </a:xfrm>
          <a:prstGeom prst="rect">
            <a:avLst/>
          </a:prstGeom>
        </p:spPr>
      </p:pic>
      <p:sp>
        <p:nvSpPr>
          <p:cNvPr id="9" name="home_5"/>
          <p:cNvSpPr txBox="1"/>
          <p:nvPr/>
        </p:nvSpPr>
        <p:spPr>
          <a:xfrm>
            <a:off x="10058400" y="6172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u="sng" dirty="0">
                <a:solidFill>
                  <a:srgbClr val="6FE0D6"/>
                </a:solidFill>
                <a:hlinkClick r:id="rId8" action="ppaction://hlinksldjump" tooltip="Back to the bootcamp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Realm map</a:t>
            </a:r>
            <a:endParaRPr lang="en-US" sz="1300" dirty="0"/>
          </a:p>
        </p:txBody>
      </p:sp>
      <p:pic>
        <p:nvPicPr>
          <p:cNvPr id="12" name="bg_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097280" y="182880"/>
            <a:ext cx="548640" cy="548640"/>
          </a:xfrm>
          <a:prstGeom prst="rect">
            <a:avLst/>
          </a:prstGeom>
        </p:spPr>
      </p:pic>
      <p:sp>
        <p:nvSpPr>
          <p:cNvPr id="11" name="music_btn"/>
          <p:cNvSpPr/>
          <p:nvPr/>
        </p:nvSpPr>
        <p:spPr>
          <a:xfrm>
            <a:off x="320040" y="61722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0B0D1C">
              <a:alpha val="75000"/>
            </a:srgbClr>
          </a:solidFill>
          <a:ln w="15875">
            <a:solidFill>
              <a:srgbClr val="E9B9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949"/>
                </a:solidFill>
              </a:rPr>
              <a:t>♪  Music on / off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  <p:sndAc>
          <p:stSnd>
            <p:snd r:embed="rId5" name="boom.wav"/>
          </p:stSnd>
        </p:sndAc>
      </p:transition>
    </mc:Choice>
    <mc:Fallback xmlns="">
      <p:transition spd="slow">
        <p:fade/>
        <p:sndAc>
          <p:stSnd>
            <p:snd r:embed="rIdFx1" name="boom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45000" numSld="7" showWhenStopped="0">
                <p:cTn id="3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Digestive system: the food path</a:t>
            </a:r>
            <a:endParaRPr lang="en-US" sz="3600" dirty="0"/>
          </a:p>
        </p:txBody>
      </p:sp>
      <p:sp>
        <p:nvSpPr>
          <p:cNvPr id="3" name="chip_1"/>
          <p:cNvSpPr/>
          <p:nvPr/>
        </p:nvSpPr>
        <p:spPr>
          <a:xfrm>
            <a:off x="548640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7AC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</a:t>
            </a:r>
            <a:endParaRPr lang="en-US" sz="1600" dirty="0"/>
          </a:p>
        </p:txBody>
      </p:sp>
      <p:sp>
        <p:nvSpPr>
          <p:cNvPr id="4" name="arr_2"/>
          <p:cNvSpPr/>
          <p:nvPr/>
        </p:nvSpPr>
        <p:spPr>
          <a:xfrm>
            <a:off x="2185416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5" name="chip_3"/>
          <p:cNvSpPr/>
          <p:nvPr/>
        </p:nvSpPr>
        <p:spPr>
          <a:xfrm>
            <a:off x="2441448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7AC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Esophagus</a:t>
            </a:r>
            <a:endParaRPr lang="en-US" sz="1600" dirty="0"/>
          </a:p>
        </p:txBody>
      </p:sp>
      <p:sp>
        <p:nvSpPr>
          <p:cNvPr id="6" name="arr_4"/>
          <p:cNvSpPr/>
          <p:nvPr/>
        </p:nvSpPr>
        <p:spPr>
          <a:xfrm>
            <a:off x="4078224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7" name="chip_5"/>
          <p:cNvSpPr/>
          <p:nvPr/>
        </p:nvSpPr>
        <p:spPr>
          <a:xfrm>
            <a:off x="4334256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7AC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</a:t>
            </a:r>
            <a:endParaRPr lang="en-US" sz="1600" dirty="0"/>
          </a:p>
        </p:txBody>
      </p:sp>
      <p:sp>
        <p:nvSpPr>
          <p:cNvPr id="8" name="arr_6"/>
          <p:cNvSpPr/>
          <p:nvPr/>
        </p:nvSpPr>
        <p:spPr>
          <a:xfrm>
            <a:off x="5971032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9" name="chip_7"/>
          <p:cNvSpPr/>
          <p:nvPr/>
        </p:nvSpPr>
        <p:spPr>
          <a:xfrm>
            <a:off x="6227064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7AC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intestine</a:t>
            </a:r>
            <a:endParaRPr lang="en-US" sz="1600" dirty="0"/>
          </a:p>
        </p:txBody>
      </p:sp>
      <p:sp>
        <p:nvSpPr>
          <p:cNvPr id="10" name="arr_8"/>
          <p:cNvSpPr/>
          <p:nvPr/>
        </p:nvSpPr>
        <p:spPr>
          <a:xfrm>
            <a:off x="7863840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1" name="chip_9"/>
          <p:cNvSpPr/>
          <p:nvPr/>
        </p:nvSpPr>
        <p:spPr>
          <a:xfrm>
            <a:off x="8119872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7AC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intestine</a:t>
            </a:r>
            <a:endParaRPr lang="en-US" sz="1600" dirty="0"/>
          </a:p>
        </p:txBody>
      </p:sp>
      <p:sp>
        <p:nvSpPr>
          <p:cNvPr id="12" name="arr_10"/>
          <p:cNvSpPr/>
          <p:nvPr/>
        </p:nvSpPr>
        <p:spPr>
          <a:xfrm>
            <a:off x="9756648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3" name="chip_11"/>
          <p:cNvSpPr/>
          <p:nvPr/>
        </p:nvSpPr>
        <p:spPr>
          <a:xfrm>
            <a:off x="10012680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7AC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Rectum</a:t>
            </a:r>
            <a:endParaRPr lang="en-US" sz="1600" dirty="0"/>
          </a:p>
        </p:txBody>
      </p:sp>
      <p:sp>
        <p:nvSpPr>
          <p:cNvPr id="14" name="card_12"/>
          <p:cNvSpPr/>
          <p:nvPr/>
        </p:nvSpPr>
        <p:spPr>
          <a:xfrm>
            <a:off x="548640" y="2377440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0B0D1C">
              <a:alpha val="92000"/>
            </a:srgbClr>
          </a:solidFill>
          <a:ln w="12700">
            <a:solidFill>
              <a:srgbClr val="E9B949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dirty="0">
                <a:solidFill>
                  <a:srgbClr val="F2EEFF"/>
                </a:solidFill>
              </a:rPr>
              <a:t>Small intestine: </a:t>
            </a:r>
            <a:r>
              <a:rPr lang="en-US" sz="1800" b="1" dirty="0">
                <a:solidFill>
                  <a:srgbClr val="E9B949"/>
                </a:solidFill>
              </a:rPr>
              <a:t>D</a:t>
            </a:r>
            <a:r>
              <a:rPr lang="en-US" sz="1800" dirty="0">
                <a:solidFill>
                  <a:srgbClr val="F2EEFF"/>
                </a:solidFill>
              </a:rPr>
              <a:t>uodenum, </a:t>
            </a:r>
            <a:r>
              <a:rPr lang="en-US" sz="1800" b="1" dirty="0">
                <a:solidFill>
                  <a:srgbClr val="E9B949"/>
                </a:solidFill>
              </a:rPr>
              <a:t>J</a:t>
            </a:r>
            <a:r>
              <a:rPr lang="en-US" sz="1800" dirty="0">
                <a:solidFill>
                  <a:srgbClr val="F2EEFF"/>
                </a:solidFill>
              </a:rPr>
              <a:t>ejunum, </a:t>
            </a:r>
            <a:r>
              <a:rPr lang="en-US" sz="1800" b="1" dirty="0">
                <a:solidFill>
                  <a:srgbClr val="E9B949"/>
                </a:solidFill>
              </a:rPr>
              <a:t>I</a:t>
            </a:r>
            <a:r>
              <a:rPr lang="en-US" sz="1800" dirty="0">
                <a:solidFill>
                  <a:srgbClr val="F2EEFF"/>
                </a:solidFill>
              </a:rPr>
              <a:t>leum = "Dow Jones Industrial"</a:t>
            </a:r>
            <a:endParaRPr lang="en-US" sz="1800" dirty="0"/>
          </a:p>
        </p:txBody>
      </p:sp>
      <p:sp>
        <p:nvSpPr>
          <p:cNvPr id="15" name="card_13"/>
          <p:cNvSpPr/>
          <p:nvPr/>
        </p:nvSpPr>
        <p:spPr>
          <a:xfrm>
            <a:off x="548640" y="32461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7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Amylase starts CARBS.</a:t>
            </a:r>
            <a:endParaRPr lang="en-US" sz="1700" dirty="0"/>
          </a:p>
        </p:txBody>
      </p:sp>
      <p:sp>
        <p:nvSpPr>
          <p:cNvPr id="16" name="card_14"/>
          <p:cNvSpPr/>
          <p:nvPr/>
        </p:nvSpPr>
        <p:spPr>
          <a:xfrm>
            <a:off x="4297680" y="32461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7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Acid + pepsin start PROTEIN.</a:t>
            </a:r>
            <a:endParaRPr lang="en-US" sz="1700" dirty="0"/>
          </a:p>
        </p:txBody>
      </p:sp>
      <p:sp>
        <p:nvSpPr>
          <p:cNvPr id="17" name="card_15"/>
          <p:cNvSpPr/>
          <p:nvPr/>
        </p:nvSpPr>
        <p:spPr>
          <a:xfrm>
            <a:off x="8046720" y="32461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7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&amp; gallbladder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Liver MAKES bile; gallbladder STORES it. Bile emulsifies fat (not an enzyme).</a:t>
            </a:r>
            <a:endParaRPr lang="en-US" sz="1700" dirty="0"/>
          </a:p>
        </p:txBody>
      </p:sp>
      <p:sp>
        <p:nvSpPr>
          <p:cNvPr id="18" name="card_16"/>
          <p:cNvSpPr/>
          <p:nvPr/>
        </p:nvSpPr>
        <p:spPr>
          <a:xfrm>
            <a:off x="548640" y="44348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7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Sends enzymes for all three: amylase, lipase, trypsin.</a:t>
            </a:r>
            <a:endParaRPr lang="en-US" sz="1700" dirty="0"/>
          </a:p>
        </p:txBody>
      </p:sp>
      <p:sp>
        <p:nvSpPr>
          <p:cNvPr id="19" name="card_17"/>
          <p:cNvSpPr/>
          <p:nvPr/>
        </p:nvSpPr>
        <p:spPr>
          <a:xfrm>
            <a:off x="4297680" y="44348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7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intestine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Absorbs nutrients (villi).</a:t>
            </a:r>
            <a:endParaRPr lang="en-US" sz="1700" dirty="0"/>
          </a:p>
        </p:txBody>
      </p:sp>
      <p:sp>
        <p:nvSpPr>
          <p:cNvPr id="20" name="card_18"/>
          <p:cNvSpPr/>
          <p:nvPr/>
        </p:nvSpPr>
        <p:spPr>
          <a:xfrm>
            <a:off x="8046720" y="443484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7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intestine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Absorbs WATER.</a:t>
            </a:r>
            <a:endParaRPr lang="en-US" sz="1700" dirty="0"/>
          </a:p>
        </p:txBody>
      </p:sp>
      <p:sp>
        <p:nvSpPr>
          <p:cNvPr id="21" name="nurse_19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6FE0D6"/>
          </a:solidFill>
          <a:ln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D1C"/>
                </a:solidFill>
              </a:rPr>
              <a:t>Nursing link  </a:t>
            </a:r>
            <a:r>
              <a:rPr lang="en-US" sz="1600" dirty="0">
                <a:solidFill>
                  <a:srgbClr val="0B0D1C"/>
                </a:solidFill>
              </a:rPr>
              <a:t>RUQ pain after fatty food → think gallbladder.  RLQ pain → think appendix.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Urinary system: the kidney crew</a:t>
            </a:r>
            <a:endParaRPr lang="en-US" sz="3600" dirty="0"/>
          </a:p>
        </p:txBody>
      </p:sp>
      <p:sp>
        <p:nvSpPr>
          <p:cNvPr id="3" name="chip_1"/>
          <p:cNvSpPr/>
          <p:nvPr/>
        </p:nvSpPr>
        <p:spPr>
          <a:xfrm>
            <a:off x="548640" y="137160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</a:t>
            </a:r>
            <a:endParaRPr lang="en-US" sz="1700" dirty="0"/>
          </a:p>
        </p:txBody>
      </p:sp>
      <p:sp>
        <p:nvSpPr>
          <p:cNvPr id="4" name="arr_2"/>
          <p:cNvSpPr/>
          <p:nvPr/>
        </p:nvSpPr>
        <p:spPr>
          <a:xfrm>
            <a:off x="2103120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5" name="chip_3"/>
          <p:cNvSpPr/>
          <p:nvPr/>
        </p:nvSpPr>
        <p:spPr>
          <a:xfrm>
            <a:off x="2359152" y="137160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Ureter</a:t>
            </a:r>
            <a:endParaRPr lang="en-US" sz="1700" dirty="0"/>
          </a:p>
        </p:txBody>
      </p:sp>
      <p:sp>
        <p:nvSpPr>
          <p:cNvPr id="6" name="arr_4"/>
          <p:cNvSpPr/>
          <p:nvPr/>
        </p:nvSpPr>
        <p:spPr>
          <a:xfrm>
            <a:off x="3913632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7" name="chip_5"/>
          <p:cNvSpPr/>
          <p:nvPr/>
        </p:nvSpPr>
        <p:spPr>
          <a:xfrm>
            <a:off x="4169664" y="137160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Bladder</a:t>
            </a:r>
            <a:endParaRPr lang="en-US" sz="1700" dirty="0"/>
          </a:p>
        </p:txBody>
      </p:sp>
      <p:sp>
        <p:nvSpPr>
          <p:cNvPr id="8" name="arr_6"/>
          <p:cNvSpPr/>
          <p:nvPr/>
        </p:nvSpPr>
        <p:spPr>
          <a:xfrm>
            <a:off x="5724144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9" name="chip_7"/>
          <p:cNvSpPr/>
          <p:nvPr/>
        </p:nvSpPr>
        <p:spPr>
          <a:xfrm>
            <a:off x="5980176" y="137160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Urethra</a:t>
            </a:r>
            <a:endParaRPr lang="en-US" sz="1700" dirty="0"/>
          </a:p>
        </p:txBody>
      </p:sp>
      <p:sp>
        <p:nvSpPr>
          <p:cNvPr id="10" name="card_8"/>
          <p:cNvSpPr/>
          <p:nvPr/>
        </p:nvSpPr>
        <p:spPr>
          <a:xfrm>
            <a:off x="7772400" y="1371600"/>
            <a:ext cx="3840480" cy="777240"/>
          </a:xfrm>
          <a:prstGeom prst="roundRect">
            <a:avLst>
              <a:gd name="adj" fmla="val 14118"/>
            </a:avLst>
          </a:prstGeom>
          <a:solidFill>
            <a:srgbClr val="0B0D1C">
              <a:alpha val="92000"/>
            </a:srgbClr>
          </a:solidFill>
          <a:ln w="12700">
            <a:solidFill>
              <a:srgbClr val="E9B949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900" dirty="0">
                <a:solidFill>
                  <a:srgbClr val="F2EEFF"/>
                </a:solidFill>
              </a:rPr>
              <a:t>"</a:t>
            </a:r>
            <a:r>
              <a:rPr lang="en-US" sz="1900" b="1" dirty="0">
                <a:solidFill>
                  <a:srgbClr val="E9B949"/>
                </a:solidFill>
              </a:rPr>
              <a:t>K</a:t>
            </a:r>
            <a:r>
              <a:rPr lang="en-US" sz="1900" dirty="0">
                <a:solidFill>
                  <a:srgbClr val="F2EEFF"/>
                </a:solidFill>
              </a:rPr>
              <a:t>ids </a:t>
            </a:r>
            <a:r>
              <a:rPr lang="en-US" sz="1900" b="1" dirty="0">
                <a:solidFill>
                  <a:srgbClr val="E9B949"/>
                </a:solidFill>
              </a:rPr>
              <a:t>U</a:t>
            </a:r>
            <a:r>
              <a:rPr lang="en-US" sz="1900" dirty="0">
                <a:solidFill>
                  <a:srgbClr val="F2EEFF"/>
                </a:solidFill>
              </a:rPr>
              <a:t>se </a:t>
            </a:r>
            <a:r>
              <a:rPr lang="en-US" sz="1900" b="1" dirty="0">
                <a:solidFill>
                  <a:srgbClr val="E9B949"/>
                </a:solidFill>
              </a:rPr>
              <a:t>B</a:t>
            </a:r>
            <a:r>
              <a:rPr lang="en-US" sz="1900" dirty="0">
                <a:solidFill>
                  <a:srgbClr val="F2EEFF"/>
                </a:solidFill>
              </a:rPr>
              <a:t>ig </a:t>
            </a:r>
            <a:r>
              <a:rPr lang="en-US" sz="1900" b="1" dirty="0">
                <a:solidFill>
                  <a:srgbClr val="E9B949"/>
                </a:solidFill>
              </a:rPr>
              <a:t>U</a:t>
            </a:r>
            <a:r>
              <a:rPr lang="en-US" sz="1900" dirty="0">
                <a:solidFill>
                  <a:srgbClr val="F2EEFF"/>
                </a:solidFill>
              </a:rPr>
              <a:t>mbrellas"</a:t>
            </a:r>
            <a:endParaRPr lang="en-US" sz="1900" dirty="0"/>
          </a:p>
        </p:txBody>
      </p:sp>
      <p:sp>
        <p:nvSpPr>
          <p:cNvPr id="11" name="nh_9"/>
          <p:cNvSpPr txBox="1"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EEFF"/>
                </a:solidFill>
              </a:rPr>
              <a:t>The nephron (filtering unit): "Filter, Reclaim, Spit, Exit"</a:t>
            </a:r>
            <a:endParaRPr lang="en-US" sz="1800" dirty="0"/>
          </a:p>
        </p:txBody>
      </p:sp>
      <p:sp>
        <p:nvSpPr>
          <p:cNvPr id="12" name="chip_10"/>
          <p:cNvSpPr/>
          <p:nvPr/>
        </p:nvSpPr>
        <p:spPr>
          <a:xfrm>
            <a:off x="548640" y="2880360"/>
            <a:ext cx="2546604" cy="731520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(glomerulus)</a:t>
            </a:r>
            <a:endParaRPr lang="en-US" sz="1600" dirty="0"/>
          </a:p>
        </p:txBody>
      </p:sp>
      <p:sp>
        <p:nvSpPr>
          <p:cNvPr id="13" name="arr_11"/>
          <p:cNvSpPr/>
          <p:nvPr/>
        </p:nvSpPr>
        <p:spPr>
          <a:xfrm>
            <a:off x="3131820" y="31272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4" name="chip_12"/>
          <p:cNvSpPr/>
          <p:nvPr/>
        </p:nvSpPr>
        <p:spPr>
          <a:xfrm>
            <a:off x="3387852" y="2880360"/>
            <a:ext cx="2546604" cy="731520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Reabsorb</a:t>
            </a:r>
            <a:endParaRPr lang="en-US" sz="1600" dirty="0"/>
          </a:p>
        </p:txBody>
      </p:sp>
      <p:sp>
        <p:nvSpPr>
          <p:cNvPr id="15" name="arr_13"/>
          <p:cNvSpPr/>
          <p:nvPr/>
        </p:nvSpPr>
        <p:spPr>
          <a:xfrm>
            <a:off x="5971032" y="31272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6" name="chip_14"/>
          <p:cNvSpPr/>
          <p:nvPr/>
        </p:nvSpPr>
        <p:spPr>
          <a:xfrm>
            <a:off x="6227064" y="2880360"/>
            <a:ext cx="2546604" cy="731520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</a:t>
            </a:r>
            <a:endParaRPr lang="en-US" sz="1600" dirty="0"/>
          </a:p>
        </p:txBody>
      </p:sp>
      <p:sp>
        <p:nvSpPr>
          <p:cNvPr id="17" name="arr_15"/>
          <p:cNvSpPr/>
          <p:nvPr/>
        </p:nvSpPr>
        <p:spPr>
          <a:xfrm>
            <a:off x="8810244" y="31272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8" name="chip_16"/>
          <p:cNvSpPr/>
          <p:nvPr/>
        </p:nvSpPr>
        <p:spPr>
          <a:xfrm>
            <a:off x="9066276" y="2880360"/>
            <a:ext cx="2546604" cy="731520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Excrete</a:t>
            </a:r>
            <a:endParaRPr lang="en-US" sz="1600" dirty="0"/>
          </a:p>
        </p:txBody>
      </p:sp>
      <p:sp>
        <p:nvSpPr>
          <p:cNvPr id="19" name="card_17"/>
          <p:cNvSpPr/>
          <p:nvPr/>
        </p:nvSpPr>
        <p:spPr>
          <a:xfrm>
            <a:off x="548640" y="38404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Anti-Diuretic = HOLDS WATER → less urine. Alcohol blocks ADH → you pee more.</a:t>
            </a:r>
            <a:endParaRPr lang="en-US" sz="2200" dirty="0"/>
          </a:p>
        </p:txBody>
      </p:sp>
      <p:sp>
        <p:nvSpPr>
          <p:cNvPr id="20" name="card_18"/>
          <p:cNvSpPr/>
          <p:nvPr/>
        </p:nvSpPr>
        <p:spPr>
          <a:xfrm>
            <a:off x="4297680" y="38404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Holds SALT (and water follows) → ↑ blood pressure.</a:t>
            </a:r>
            <a:endParaRPr lang="en-US" sz="2200" dirty="0"/>
          </a:p>
        </p:txBody>
      </p:sp>
      <p:sp>
        <p:nvSpPr>
          <p:cNvPr id="21" name="card_19"/>
          <p:cNvSpPr/>
          <p:nvPr/>
        </p:nvSpPr>
        <p:spPr>
          <a:xfrm>
            <a:off x="8046720" y="38404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Kidneys also make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EPO (→ red blood cells) and renin (→ raises BP).</a:t>
            </a:r>
            <a:endParaRPr lang="en-US" sz="2000" dirty="0"/>
          </a:p>
        </p:txBody>
      </p:sp>
      <p:sp>
        <p:nvSpPr>
          <p:cNvPr id="22" name="nurse_20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6FE0D6"/>
          </a:solidFill>
          <a:ln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D1C"/>
                </a:solidFill>
              </a:rPr>
              <a:t>Nursing link  </a:t>
            </a:r>
            <a:r>
              <a:rPr lang="en-US" sz="1600" dirty="0">
                <a:solidFill>
                  <a:srgbClr val="0B0D1C"/>
                </a:solidFill>
              </a:rPr>
              <a:t>Glucose or protein in urine = abnormal. Kidney failure → high BP + anemia.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4 · Question 1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7AC8"/>
                </a:solidFill>
              </a:rPr>
              <a:t>The Gumdrop Gut Works  </a:t>
            </a:r>
            <a:r>
              <a:rPr lang="en-US" sz="1400" dirty="0">
                <a:solidFill>
                  <a:srgbClr val="B9B5D6"/>
                </a:solidFill>
              </a:rPr>
              <a:t>vs The Sugar Baron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 Where does protein digestion begin?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Mouth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Stomach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Small intestine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Large intestine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ok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1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B: Stomach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Pepsin + acid in the stomach</a:t>
            </a:r>
            <a:endParaRPr lang="en-US" sz="2000" dirty="0"/>
          </a:p>
        </p:txBody>
      </p:sp>
      <p:sp>
        <p:nvSpPr>
          <p:cNvPr id="12" name="no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4 · Question 2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7AC8"/>
                </a:solidFill>
              </a:rPr>
              <a:t>The Gumdrop Gut Works  </a:t>
            </a:r>
            <a:r>
              <a:rPr lang="en-US" sz="1400" dirty="0">
                <a:solidFill>
                  <a:srgbClr val="B9B5D6"/>
                </a:solidFill>
              </a:rPr>
              <a:t>vs The Sugar Baron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Q11.  Bile is made by the ___ and stored by the ___.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Gallbladder, liver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Pancreas, liver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Liver, gallbladder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Stomach, pancreas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Liver, gallbladder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Liver makes, gallbladder stores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4 · Question 3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7AC8"/>
                </a:solidFill>
              </a:rPr>
              <a:t>The Gumdrop Gut Works  </a:t>
            </a:r>
            <a:r>
              <a:rPr lang="en-US" sz="1400" dirty="0">
                <a:solidFill>
                  <a:srgbClr val="B9B5D6"/>
                </a:solidFill>
              </a:rPr>
              <a:t>vs The Sugar Baron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Q12.  Where does blood filtration occur in the kidney?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Loop of Henle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Collecting duct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Glomerulus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7AC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Ureter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Glomerulus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Filtering happens at the glomerulus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cleared!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Four realms conquered: foundations, heart &amp; lungs, nervous &amp; endocrine, digestive &amp; urinary.</a:t>
            </a:r>
            <a:endParaRPr lang="en-US" sz="2400" dirty="0"/>
          </a:p>
        </p:txBody>
      </p:sp>
      <p:pic>
        <p:nvPicPr>
          <p:cNvPr id="4" name="trophy_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554480"/>
            <a:ext cx="2468880" cy="246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3" name="fanfare.wav"/>
          </p:stSnd>
        </p:sndAc>
      </p:transition>
    </mc:Choice>
    <mc:Fallback xmlns="">
      <p:transition spd="slow">
        <p:fade/>
        <p:sndAc>
          <p:stSnd>
            <p:snd r:embed="rIdFx1" name="fanfar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Rattling Gymnasium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Bones, muscles, skin</a:t>
            </a:r>
            <a:endParaRPr lang="en-US" sz="2400" dirty="0"/>
          </a:p>
        </p:txBody>
      </p:sp>
      <p:sp>
        <p:nvSpPr>
          <p:cNvPr id="4" name="tag_1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E9D8A6"/>
                </a:solidFill>
              </a:rPr>
              <a:t>DAY 2  ·  HOUR 5</a:t>
            </a:r>
            <a:endParaRPr lang="en-US" sz="2000" dirty="0"/>
          </a:p>
        </p:txBody>
      </p:sp>
      <p:sp>
        <p:nvSpPr>
          <p:cNvPr id="5" name="boss_2"/>
          <p:cNvSpPr txBox="1"/>
          <p:nvPr/>
        </p:nvSpPr>
        <p:spPr>
          <a:xfrm>
            <a:off x="73152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B5D6"/>
                </a:solidFill>
              </a:rPr>
              <a:t>Boss: </a:t>
            </a:r>
            <a:r>
              <a:rPr lang="en-US" sz="2000" b="1" dirty="0">
                <a:solidFill>
                  <a:srgbClr val="F2EEFF"/>
                </a:solidFill>
              </a:rPr>
              <a:t>Sir Rattlebones</a:t>
            </a:r>
            <a:endParaRPr lang="en-US" sz="2000" dirty="0"/>
          </a:p>
        </p:txBody>
      </p:sp>
      <p:sp>
        <p:nvSpPr>
          <p:cNvPr id="6" name="card_3"/>
          <p:cNvSpPr/>
          <p:nvPr/>
        </p:nvSpPr>
        <p:spPr>
          <a:xfrm>
            <a:off x="731520" y="4800600"/>
            <a:ext cx="7498080" cy="960120"/>
          </a:xfrm>
          <a:prstGeom prst="roundRect">
            <a:avLst>
              <a:gd name="adj" fmla="val 11429"/>
            </a:avLst>
          </a:prstGeom>
          <a:solidFill>
            <a:srgbClr val="0B0D1C">
              <a:alpha val="70000"/>
            </a:srgbClr>
          </a:solidFill>
          <a:ln w="127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able to…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Explain blast vs clast, muscle types, skin layers and glands</a:t>
            </a:r>
            <a:endParaRPr lang="en-US" sz="1600" dirty="0"/>
          </a:p>
        </p:txBody>
      </p:sp>
      <p:sp>
        <p:nvSpPr>
          <p:cNvPr id="7" name="emblem_4c"/>
          <p:cNvSpPr/>
          <p:nvPr/>
        </p:nvSpPr>
        <p:spPr>
          <a:xfrm>
            <a:off x="8823960" y="1508760"/>
            <a:ext cx="2834640" cy="2834640"/>
          </a:xfrm>
          <a:prstGeom prst="ellipse">
            <a:avLst/>
          </a:prstGeom>
          <a:solidFill>
            <a:srgbClr val="0B0D1C">
              <a:alpha val="70000"/>
            </a:srgbClr>
          </a:solidFill>
          <a:ln w="38100">
            <a:solidFill>
              <a:srgbClr val="E9D8A6"/>
            </a:solidFill>
            <a:prstDash val="solid"/>
          </a:ln>
        </p:spPr>
      </p:sp>
      <p:pic>
        <p:nvPicPr>
          <p:cNvPr id="8" name="emblem_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1965960"/>
            <a:ext cx="1920240" cy="1920240"/>
          </a:xfrm>
          <a:prstGeom prst="rect">
            <a:avLst/>
          </a:prstGeom>
        </p:spPr>
      </p:pic>
      <p:sp>
        <p:nvSpPr>
          <p:cNvPr id="9" name="home_5"/>
          <p:cNvSpPr txBox="1"/>
          <p:nvPr/>
        </p:nvSpPr>
        <p:spPr>
          <a:xfrm>
            <a:off x="10058400" y="6172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u="sng" dirty="0">
                <a:solidFill>
                  <a:srgbClr val="6FE0D6"/>
                </a:solidFill>
                <a:hlinkClick r:id="rId8" action="ppaction://hlinksldjump" tooltip="Back to the bootcamp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Realm map</a:t>
            </a:r>
            <a:endParaRPr lang="en-US" sz="1300" dirty="0"/>
          </a:p>
        </p:txBody>
      </p:sp>
      <p:pic>
        <p:nvPicPr>
          <p:cNvPr id="12" name="bg_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097280" y="182880"/>
            <a:ext cx="548640" cy="548640"/>
          </a:xfrm>
          <a:prstGeom prst="rect">
            <a:avLst/>
          </a:prstGeom>
        </p:spPr>
      </p:pic>
      <p:sp>
        <p:nvSpPr>
          <p:cNvPr id="11" name="music_btn"/>
          <p:cNvSpPr/>
          <p:nvPr/>
        </p:nvSpPr>
        <p:spPr>
          <a:xfrm>
            <a:off x="320040" y="61722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0B0D1C">
              <a:alpha val="75000"/>
            </a:srgbClr>
          </a:solidFill>
          <a:ln w="15875">
            <a:solidFill>
              <a:srgbClr val="E9B9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949"/>
                </a:solidFill>
              </a:rPr>
              <a:t>♪  Music on / off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  <p:sndAc>
          <p:stSnd>
            <p:snd r:embed="rId5" name="boom.wav"/>
          </p:stSnd>
        </p:sndAc>
      </p:transition>
    </mc:Choice>
    <mc:Fallback xmlns="">
      <p:transition spd="slow">
        <p:fade/>
        <p:sndAc>
          <p:stSnd>
            <p:snd r:embed="rIdFx1" name="boom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45000" numSld="8" showWhenStopped="0">
                <p:cTn id="3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warm-up: 5-minute rapid recall</a:t>
            </a:r>
            <a:endParaRPr lang="en-US" sz="3600" dirty="0"/>
          </a:p>
        </p:txBody>
      </p:sp>
      <p:sp>
        <p:nvSpPr>
          <p:cNvPr id="3" name="rq_0"/>
          <p:cNvSpPr/>
          <p:nvPr/>
        </p:nvSpPr>
        <p:spPr>
          <a:xfrm>
            <a:off x="548640" y="1325880"/>
            <a:ext cx="3566160" cy="1051560"/>
          </a:xfrm>
          <a:prstGeom prst="roundRect">
            <a:avLst>
              <a:gd name="adj" fmla="val 12174"/>
            </a:avLst>
          </a:prstGeom>
          <a:solidFill>
            <a:srgbClr val="22275A"/>
          </a:solidFill>
          <a:ln w="25400">
            <a:solidFill>
              <a:srgbClr val="E9B949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B949"/>
                </a:solidFill>
              </a:rPr>
              <a:t>1.  Blood flow through the heart</a:t>
            </a:r>
            <a:endParaRPr lang="en-US" sz="1800" dirty="0"/>
          </a:p>
        </p:txBody>
      </p:sp>
      <p:sp>
        <p:nvSpPr>
          <p:cNvPr id="4" name="ra_0"/>
          <p:cNvSpPr/>
          <p:nvPr/>
        </p:nvSpPr>
        <p:spPr>
          <a:xfrm>
            <a:off x="4297680" y="1325880"/>
            <a:ext cx="7315200" cy="1051560"/>
          </a:xfrm>
          <a:prstGeom prst="roundRect">
            <a:avLst>
              <a:gd name="adj" fmla="val 12174"/>
            </a:avLst>
          </a:prstGeom>
          <a:solidFill>
            <a:srgbClr val="0B0D1C"/>
          </a:solidFill>
          <a:ln w="19050"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EEFF"/>
                </a:solidFill>
              </a:rPr>
              <a:t>RA → tricuspid → RV → pulmonary artery → lungs → pulmonary vein → LA → mitral → LV → aorta</a:t>
            </a:r>
            <a:endParaRPr lang="en-US" sz="1600" dirty="0"/>
          </a:p>
        </p:txBody>
      </p:sp>
      <p:sp>
        <p:nvSpPr>
          <p:cNvPr id="5" name="rq_1"/>
          <p:cNvSpPr/>
          <p:nvPr/>
        </p:nvSpPr>
        <p:spPr>
          <a:xfrm>
            <a:off x="548640" y="2542032"/>
            <a:ext cx="3566160" cy="1051560"/>
          </a:xfrm>
          <a:prstGeom prst="roundRect">
            <a:avLst>
              <a:gd name="adj" fmla="val 12174"/>
            </a:avLst>
          </a:prstGeom>
          <a:solidFill>
            <a:srgbClr val="22275A"/>
          </a:solidFill>
          <a:ln w="25400">
            <a:solidFill>
              <a:srgbClr val="E9B949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B949"/>
                </a:solidFill>
              </a:rPr>
              <a:t>2.  Gland → hormone pairs</a:t>
            </a:r>
            <a:endParaRPr lang="en-US" sz="1800" dirty="0"/>
          </a:p>
        </p:txBody>
      </p:sp>
      <p:sp>
        <p:nvSpPr>
          <p:cNvPr id="6" name="ra_1"/>
          <p:cNvSpPr/>
          <p:nvPr/>
        </p:nvSpPr>
        <p:spPr>
          <a:xfrm>
            <a:off x="4297680" y="2542032"/>
            <a:ext cx="7315200" cy="1051560"/>
          </a:xfrm>
          <a:prstGeom prst="roundRect">
            <a:avLst>
              <a:gd name="adj" fmla="val 12174"/>
            </a:avLst>
          </a:prstGeom>
          <a:solidFill>
            <a:srgbClr val="0B0D1C"/>
          </a:solidFill>
          <a:ln w="19050"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EEFF"/>
                </a:solidFill>
              </a:rPr>
              <a:t>Pancreas: insulin/glucagon · Thyroid: T3/T4, calcitonin · Parathyroid: PTH · Adrenal: cortisol, aldosterone, epinephrine</a:t>
            </a:r>
            <a:endParaRPr lang="en-US" sz="1600" dirty="0"/>
          </a:p>
        </p:txBody>
      </p:sp>
      <p:sp>
        <p:nvSpPr>
          <p:cNvPr id="7" name="rq_2"/>
          <p:cNvSpPr/>
          <p:nvPr/>
        </p:nvSpPr>
        <p:spPr>
          <a:xfrm>
            <a:off x="548640" y="3758184"/>
            <a:ext cx="3566160" cy="1051560"/>
          </a:xfrm>
          <a:prstGeom prst="roundRect">
            <a:avLst>
              <a:gd name="adj" fmla="val 12174"/>
            </a:avLst>
          </a:prstGeom>
          <a:solidFill>
            <a:srgbClr val="22275A"/>
          </a:solidFill>
          <a:ln w="25400">
            <a:solidFill>
              <a:srgbClr val="E9B949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B949"/>
                </a:solidFill>
              </a:rPr>
              <a:t>3.  The food path</a:t>
            </a:r>
            <a:endParaRPr lang="en-US" sz="1800" dirty="0"/>
          </a:p>
        </p:txBody>
      </p:sp>
      <p:sp>
        <p:nvSpPr>
          <p:cNvPr id="8" name="ra_2"/>
          <p:cNvSpPr/>
          <p:nvPr/>
        </p:nvSpPr>
        <p:spPr>
          <a:xfrm>
            <a:off x="4297680" y="3758184"/>
            <a:ext cx="7315200" cy="1051560"/>
          </a:xfrm>
          <a:prstGeom prst="roundRect">
            <a:avLst>
              <a:gd name="adj" fmla="val 12174"/>
            </a:avLst>
          </a:prstGeom>
          <a:solidFill>
            <a:srgbClr val="0B0D1C"/>
          </a:solidFill>
          <a:ln w="19050"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EEFF"/>
                </a:solidFill>
              </a:rPr>
              <a:t>Mouth → esophagus → stomach → small intestine → large intestine → rectum</a:t>
            </a:r>
            <a:endParaRPr lang="en-US" sz="1600" dirty="0"/>
          </a:p>
        </p:txBody>
      </p:sp>
      <p:sp>
        <p:nvSpPr>
          <p:cNvPr id="9" name="rq_3"/>
          <p:cNvSpPr/>
          <p:nvPr/>
        </p:nvSpPr>
        <p:spPr>
          <a:xfrm>
            <a:off x="548640" y="4974336"/>
            <a:ext cx="3566160" cy="1051560"/>
          </a:xfrm>
          <a:prstGeom prst="roundRect">
            <a:avLst>
              <a:gd name="adj" fmla="val 12174"/>
            </a:avLst>
          </a:prstGeom>
          <a:solidFill>
            <a:srgbClr val="22275A"/>
          </a:solidFill>
          <a:ln w="25400">
            <a:solidFill>
              <a:srgbClr val="E9B949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B949"/>
                </a:solidFill>
              </a:rPr>
              <a:t>4.  The urine path</a:t>
            </a:r>
            <a:endParaRPr lang="en-US" sz="1800" dirty="0"/>
          </a:p>
        </p:txBody>
      </p:sp>
      <p:sp>
        <p:nvSpPr>
          <p:cNvPr id="10" name="ra_3"/>
          <p:cNvSpPr/>
          <p:nvPr/>
        </p:nvSpPr>
        <p:spPr>
          <a:xfrm>
            <a:off x="4297680" y="4974336"/>
            <a:ext cx="7315200" cy="1051560"/>
          </a:xfrm>
          <a:prstGeom prst="roundRect">
            <a:avLst>
              <a:gd name="adj" fmla="val 12174"/>
            </a:avLst>
          </a:prstGeom>
          <a:solidFill>
            <a:srgbClr val="0B0D1C"/>
          </a:solidFill>
          <a:ln w="19050"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EEFF"/>
                </a:solidFill>
              </a:rPr>
              <a:t>Kidney → ureter → bladder → urethra</a:t>
            </a:r>
            <a:endParaRPr lang="en-US" sz="1600" dirty="0"/>
          </a:p>
        </p:txBody>
      </p:sp>
      <p:sp>
        <p:nvSpPr>
          <p:cNvPr id="11" name="h_1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5D6"/>
                </a:solidFill>
              </a:rPr>
              <a:t>Students answer out loud, then click the gold card to check.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Skeletal system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28016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206</a:t>
            </a:r>
            <a:endParaRPr lang="en-US" sz="6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bones in the adult body</a:t>
            </a:r>
            <a:endParaRPr lang="en-US" sz="6000" dirty="0"/>
          </a:p>
        </p:txBody>
      </p:sp>
      <p:sp>
        <p:nvSpPr>
          <p:cNvPr id="4" name="card_2"/>
          <p:cNvSpPr/>
          <p:nvPr/>
        </p:nvSpPr>
        <p:spPr>
          <a:xfrm>
            <a:off x="3703320" y="1280160"/>
            <a:ext cx="7909560" cy="914400"/>
          </a:xfrm>
          <a:prstGeom prst="roundRect">
            <a:avLst>
              <a:gd name="adj" fmla="val 120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Support, protect, move, store calcium, make blood cells (red marrow).</a:t>
            </a:r>
            <a:endParaRPr lang="en-US" sz="1700" dirty="0"/>
          </a:p>
        </p:txBody>
      </p:sp>
      <p:sp>
        <p:nvSpPr>
          <p:cNvPr id="5" name="card_3"/>
          <p:cNvSpPr/>
          <p:nvPr/>
        </p:nvSpPr>
        <p:spPr>
          <a:xfrm>
            <a:off x="3703320" y="2377440"/>
            <a:ext cx="7909560" cy="914400"/>
          </a:xfrm>
          <a:prstGeom prst="roundRect">
            <a:avLst>
              <a:gd name="adj" fmla="val 120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6FE0D6"/>
                </a:solidFill>
              </a:rPr>
              <a:t>Blast = Build.  </a:t>
            </a:r>
            <a:r>
              <a:rPr lang="en-US" sz="1700" b="1" dirty="0">
                <a:solidFill>
                  <a:srgbClr val="FF6B4A"/>
                </a:solidFill>
              </a:rPr>
              <a:t>Clast = Crush.  </a:t>
            </a:r>
            <a:r>
              <a:rPr lang="en-US" sz="1700" dirty="0">
                <a:solidFill>
                  <a:srgbClr val="F2EEFF"/>
                </a:solidFill>
              </a:rPr>
              <a:t>Osteoblasts build bone; osteoclasts break it down.</a:t>
            </a:r>
            <a:endParaRPr lang="en-US" sz="1700" dirty="0"/>
          </a:p>
        </p:txBody>
      </p:sp>
      <p:sp>
        <p:nvSpPr>
          <p:cNvPr id="6" name="chip_4"/>
          <p:cNvSpPr/>
          <p:nvPr/>
        </p:nvSpPr>
        <p:spPr>
          <a:xfrm>
            <a:off x="548640" y="35204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22275A"/>
          </a:solidFill>
          <a:ln w="19050">
            <a:solidFill>
              <a:srgbClr val="E9D8A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femur</a:t>
            </a:r>
            <a:endParaRPr lang="en-US" sz="1500" dirty="0"/>
          </a:p>
        </p:txBody>
      </p:sp>
      <p:sp>
        <p:nvSpPr>
          <p:cNvPr id="7" name="chip_5"/>
          <p:cNvSpPr/>
          <p:nvPr/>
        </p:nvSpPr>
        <p:spPr>
          <a:xfrm>
            <a:off x="2788920" y="35204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22275A"/>
          </a:solidFill>
          <a:ln w="19050">
            <a:solidFill>
              <a:srgbClr val="E9D8A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Short: wrist, ankle</a:t>
            </a:r>
            <a:endParaRPr lang="en-US" sz="1500" dirty="0"/>
          </a:p>
        </p:txBody>
      </p:sp>
      <p:sp>
        <p:nvSpPr>
          <p:cNvPr id="8" name="chip_6"/>
          <p:cNvSpPr/>
          <p:nvPr/>
        </p:nvSpPr>
        <p:spPr>
          <a:xfrm>
            <a:off x="5029200" y="35204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22275A"/>
          </a:solidFill>
          <a:ln w="19050">
            <a:solidFill>
              <a:srgbClr val="E9D8A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Flat: skull, ribs, sternum</a:t>
            </a:r>
            <a:endParaRPr lang="en-US" sz="1500" dirty="0"/>
          </a:p>
        </p:txBody>
      </p:sp>
      <p:sp>
        <p:nvSpPr>
          <p:cNvPr id="9" name="chip_7"/>
          <p:cNvSpPr/>
          <p:nvPr/>
        </p:nvSpPr>
        <p:spPr>
          <a:xfrm>
            <a:off x="7269480" y="35204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22275A"/>
          </a:solidFill>
          <a:ln w="19050">
            <a:solidFill>
              <a:srgbClr val="E9D8A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Irregular: vertebrae, pelvis</a:t>
            </a:r>
            <a:endParaRPr lang="en-US" sz="1500" dirty="0"/>
          </a:p>
        </p:txBody>
      </p:sp>
      <p:sp>
        <p:nvSpPr>
          <p:cNvPr id="10" name="chip_8"/>
          <p:cNvSpPr/>
          <p:nvPr/>
        </p:nvSpPr>
        <p:spPr>
          <a:xfrm>
            <a:off x="9509760" y="35204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22275A"/>
          </a:solidFill>
          <a:ln w="19050">
            <a:solidFill>
              <a:srgbClr val="E9D8A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Sesamoid: kneecap</a:t>
            </a:r>
            <a:endParaRPr lang="en-US" sz="1500" dirty="0"/>
          </a:p>
        </p:txBody>
      </p:sp>
      <p:sp>
        <p:nvSpPr>
          <p:cNvPr id="11" name="card_9"/>
          <p:cNvSpPr/>
          <p:nvPr/>
        </p:nvSpPr>
        <p:spPr>
          <a:xfrm>
            <a:off x="548640" y="45720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9B949"/>
                </a:solidFill>
              </a:rPr>
              <a:t>L</a:t>
            </a:r>
            <a:r>
              <a:rPr lang="en-US" sz="1600" dirty="0">
                <a:solidFill>
                  <a:srgbClr val="F2EEFF"/>
                </a:solidFill>
              </a:rPr>
              <a:t>igament = bone to bone ("Link").  </a:t>
            </a:r>
            <a:r>
              <a:rPr lang="en-US" sz="1600" b="1" dirty="0">
                <a:solidFill>
                  <a:srgbClr val="E9B949"/>
                </a:solidFill>
              </a:rPr>
              <a:t>T</a:t>
            </a:r>
            <a:r>
              <a:rPr lang="en-US" sz="1600" dirty="0">
                <a:solidFill>
                  <a:srgbClr val="F2EEFF"/>
                </a:solidFill>
              </a:rPr>
              <a:t>endon = muscle to bone ("Tug").</a:t>
            </a:r>
            <a:endParaRPr lang="en-US" sz="1600" dirty="0"/>
          </a:p>
        </p:txBody>
      </p:sp>
      <p:sp>
        <p:nvSpPr>
          <p:cNvPr id="12" name="card_10"/>
          <p:cNvSpPr/>
          <p:nvPr/>
        </p:nvSpPr>
        <p:spPr>
          <a:xfrm>
            <a:off x="6172200" y="457200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"Breakfast at 7, lunch at 12, dinner at 5" = cervical, thoracic, lumbar vertebrae.</a:t>
            </a:r>
            <a:endParaRPr lang="en-US" sz="1600" dirty="0"/>
          </a:p>
        </p:txBody>
      </p:sp>
      <p:sp>
        <p:nvSpPr>
          <p:cNvPr id="13" name="nurse_11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6FE0D6"/>
          </a:solidFill>
          <a:ln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D1C"/>
                </a:solidFill>
              </a:rPr>
              <a:t>Nursing link  </a:t>
            </a:r>
            <a:r>
              <a:rPr lang="en-US" sz="1600" dirty="0">
                <a:solidFill>
                  <a:srgbClr val="0B0D1C"/>
                </a:solidFill>
              </a:rPr>
              <a:t>Osteoporosis = clasts beat blasts → fragile bones. Risk: menopause (low estrogen), low calcium/vitamin D, inactivity.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Muscular system</a:t>
            </a:r>
            <a:endParaRPr lang="en-US" sz="3600" dirty="0"/>
          </a:p>
        </p:txBody>
      </p:sp>
      <p:graphicFrame>
        <p:nvGraphicFramePr>
          <p:cNvPr id="46" name="mus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0D1C"/>
                          </a:solidFill>
                        </a:rPr>
                        <a:t>Type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0D1C"/>
                          </a:solidFill>
                        </a:rPr>
                        <a:t>Control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0D1C"/>
                          </a:solidFill>
                        </a:rPr>
                        <a:t>Striped?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0D1C"/>
                          </a:solidFill>
                        </a:rPr>
                        <a:t>Where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E9B949"/>
                          </a:solidFill>
                        </a:rPr>
                        <a:t>Skeletal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2EEFF"/>
                          </a:solidFill>
                        </a:rPr>
                        <a:t>Voluntary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2EEFF"/>
                          </a:solidFill>
                        </a:rPr>
                        <a:t>Yes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2EEFF"/>
                          </a:solidFill>
                        </a:rPr>
                        <a:t>Bones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E9B949"/>
                          </a:solidFill>
                        </a:rPr>
                        <a:t>Cardiac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2EEFF"/>
                          </a:solidFill>
                        </a:rPr>
                        <a:t>Involuntary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2EEFF"/>
                          </a:solidFill>
                        </a:rPr>
                        <a:t>Yes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2EEFF"/>
                          </a:solidFill>
                        </a:rPr>
                        <a:t>Heart only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E9B949"/>
                          </a:solidFill>
                        </a:rPr>
                        <a:t>Smooth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2EEFF"/>
                          </a:solidFill>
                        </a:rPr>
                        <a:t>Involuntary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2EEFF"/>
                          </a:solidFill>
                        </a:rPr>
                        <a:t>No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2EEFF"/>
                          </a:solidFill>
                        </a:rPr>
                        <a:t>Organs, vessels</a:t>
                      </a:r>
                      <a:endParaRPr lang="en-US" sz="1700" dirty="0"/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nh_1"/>
          <p:cNvSpPr txBox="1"/>
          <p:nvPr/>
        </p:nvSpPr>
        <p:spPr>
          <a:xfrm>
            <a:off x="6675120" y="1280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B949"/>
                </a:solidFill>
              </a:rPr>
              <a:t>Contraction, step by step (needs ATP)</a:t>
            </a:r>
            <a:endParaRPr lang="en-US" sz="1800" dirty="0"/>
          </a:p>
        </p:txBody>
      </p:sp>
      <p:sp>
        <p:nvSpPr>
          <p:cNvPr id="5" name="chip_2"/>
          <p:cNvSpPr/>
          <p:nvPr/>
        </p:nvSpPr>
        <p:spPr>
          <a:xfrm>
            <a:off x="6675120" y="1828800"/>
            <a:ext cx="4937760" cy="640080"/>
          </a:xfrm>
          <a:prstGeom prst="roundRect">
            <a:avLst>
              <a:gd name="adj" fmla="val 14286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Nerve signal</a:t>
            </a:r>
            <a:endParaRPr lang="en-US" sz="1600" dirty="0"/>
          </a:p>
        </p:txBody>
      </p:sp>
      <p:sp>
        <p:nvSpPr>
          <p:cNvPr id="6" name="chip_3"/>
          <p:cNvSpPr/>
          <p:nvPr/>
        </p:nvSpPr>
        <p:spPr>
          <a:xfrm>
            <a:off x="6675120" y="2606040"/>
            <a:ext cx="4937760" cy="640080"/>
          </a:xfrm>
          <a:prstGeom prst="roundRect">
            <a:avLst>
              <a:gd name="adj" fmla="val 14286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Calcium released</a:t>
            </a:r>
            <a:endParaRPr lang="en-US" sz="1600" dirty="0"/>
          </a:p>
        </p:txBody>
      </p:sp>
      <p:sp>
        <p:nvSpPr>
          <p:cNvPr id="7" name="chip_4"/>
          <p:cNvSpPr/>
          <p:nvPr/>
        </p:nvSpPr>
        <p:spPr>
          <a:xfrm>
            <a:off x="6675120" y="3383280"/>
            <a:ext cx="4937760" cy="640080"/>
          </a:xfrm>
          <a:prstGeom prst="roundRect">
            <a:avLst>
              <a:gd name="adj" fmla="val 14286"/>
            </a:avLst>
          </a:prstGeom>
          <a:solidFill>
            <a:srgbClr val="22275A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Myosin grabs actin and pulls</a:t>
            </a:r>
            <a:endParaRPr lang="en-US" sz="1600" dirty="0"/>
          </a:p>
        </p:txBody>
      </p:sp>
      <p:sp>
        <p:nvSpPr>
          <p:cNvPr id="8" name="chip_5"/>
          <p:cNvSpPr/>
          <p:nvPr/>
        </p:nvSpPr>
        <p:spPr>
          <a:xfrm>
            <a:off x="6675120" y="4160520"/>
            <a:ext cx="4937760" cy="640080"/>
          </a:xfrm>
          <a:prstGeom prst="roundRect">
            <a:avLst>
              <a:gd name="adj" fmla="val 14286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Muscle shortens</a:t>
            </a:r>
            <a:endParaRPr lang="en-US" sz="1600" dirty="0"/>
          </a:p>
        </p:txBody>
      </p:sp>
      <p:sp>
        <p:nvSpPr>
          <p:cNvPr id="9" name="card_6"/>
          <p:cNvSpPr/>
          <p:nvPr/>
        </p:nvSpPr>
        <p:spPr>
          <a:xfrm>
            <a:off x="548640" y="3840480"/>
            <a:ext cx="5852160" cy="1143000"/>
          </a:xfrm>
          <a:prstGeom prst="roundRect">
            <a:avLst>
              <a:gd name="adj" fmla="val 96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work in pairs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Biceps bends; triceps straightens.</a:t>
            </a:r>
            <a:endParaRPr lang="en-US" sz="1800" dirty="0"/>
          </a:p>
        </p:txBody>
      </p:sp>
      <p:sp>
        <p:nvSpPr>
          <p:cNvPr id="10" name="card_7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6B4A"/>
                </a:solidFill>
              </a:rPr>
              <a:t>AB</a:t>
            </a:r>
            <a:r>
              <a:rPr lang="en-US" sz="1900" dirty="0">
                <a:solidFill>
                  <a:srgbClr val="F2EEFF"/>
                </a:solidFill>
              </a:rPr>
              <a:t>duction = ABducted AWAY from the midline.     </a:t>
            </a:r>
            <a:r>
              <a:rPr lang="en-US" sz="1900" b="1" dirty="0">
                <a:solidFill>
                  <a:srgbClr val="6FE0D6"/>
                </a:solidFill>
              </a:rPr>
              <a:t>ADD</a:t>
            </a:r>
            <a:r>
              <a:rPr lang="en-US" sz="1900" dirty="0">
                <a:solidFill>
                  <a:srgbClr val="F2EEFF"/>
                </a:solidFill>
              </a:rPr>
              <a:t>uction = ADD back to the body.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6" grpId="0">
        <p:bldAsOne/>
      </p:bldGraphic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Skin: the integumentary system</a:t>
            </a:r>
            <a:endParaRPr lang="en-US" sz="3600" dirty="0"/>
          </a:p>
        </p:txBody>
      </p:sp>
      <p:sp>
        <p:nvSpPr>
          <p:cNvPr id="3" name="layer_1"/>
          <p:cNvSpPr/>
          <p:nvPr/>
        </p:nvSpPr>
        <p:spPr>
          <a:xfrm>
            <a:off x="548640" y="1325880"/>
            <a:ext cx="5120640" cy="1188720"/>
          </a:xfrm>
          <a:prstGeom prst="rect">
            <a:avLst/>
          </a:prstGeom>
          <a:solidFill>
            <a:srgbClr val="E8C7A8"/>
          </a:solidFill>
          <a:ln w="12700">
            <a:solidFill>
              <a:srgbClr val="0B0D1C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404"/>
                </a:solidFill>
              </a:rPr>
              <a:t>Epidermis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1B1404"/>
                </a:solidFill>
              </a:rPr>
              <a:t>No blood vessels; melanin, keratin</a:t>
            </a:r>
            <a:endParaRPr lang="en-US" sz="2000" dirty="0"/>
          </a:p>
        </p:txBody>
      </p:sp>
      <p:sp>
        <p:nvSpPr>
          <p:cNvPr id="4" name="layer_2"/>
          <p:cNvSpPr/>
          <p:nvPr/>
        </p:nvSpPr>
        <p:spPr>
          <a:xfrm>
            <a:off x="548640" y="2560320"/>
            <a:ext cx="5120640" cy="1188720"/>
          </a:xfrm>
          <a:prstGeom prst="rect">
            <a:avLst/>
          </a:prstGeom>
          <a:solidFill>
            <a:srgbClr val="D98C8C"/>
          </a:solidFill>
          <a:ln w="12700">
            <a:solidFill>
              <a:srgbClr val="0B0D1C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404"/>
                </a:solidFill>
              </a:rPr>
              <a:t>Dermis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1B1404"/>
                </a:solidFill>
              </a:rPr>
              <a:t>Vessels, nerves, glands, hair</a:t>
            </a:r>
            <a:endParaRPr lang="en-US" sz="2000" dirty="0"/>
          </a:p>
        </p:txBody>
      </p:sp>
      <p:sp>
        <p:nvSpPr>
          <p:cNvPr id="5" name="layer_3"/>
          <p:cNvSpPr/>
          <p:nvPr/>
        </p:nvSpPr>
        <p:spPr>
          <a:xfrm>
            <a:off x="548640" y="3794760"/>
            <a:ext cx="5120640" cy="1188720"/>
          </a:xfrm>
          <a:prstGeom prst="rect">
            <a:avLst/>
          </a:prstGeom>
          <a:solidFill>
            <a:srgbClr val="E9D8A6"/>
          </a:solidFill>
          <a:ln w="12700">
            <a:solidFill>
              <a:srgbClr val="0B0D1C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404"/>
                </a:solidFill>
              </a:rPr>
              <a:t>Hypodermis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1B1404"/>
                </a:solidFill>
              </a:rPr>
              <a:t>Fat</a:t>
            </a:r>
            <a:endParaRPr lang="en-US" sz="2000" dirty="0"/>
          </a:p>
        </p:txBody>
      </p:sp>
      <p:sp>
        <p:nvSpPr>
          <p:cNvPr id="6" name="card_4"/>
          <p:cNvSpPr/>
          <p:nvPr/>
        </p:nvSpPr>
        <p:spPr>
          <a:xfrm>
            <a:off x="5989320" y="1325880"/>
            <a:ext cx="5623560" cy="1143000"/>
          </a:xfrm>
          <a:prstGeom prst="roundRect">
            <a:avLst>
              <a:gd name="adj" fmla="val 96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Barrier, temperature control, sensation, MAKES VITAMIN D.</a:t>
            </a:r>
            <a:endParaRPr lang="en-US" sz="1800" dirty="0"/>
          </a:p>
        </p:txBody>
      </p:sp>
      <p:sp>
        <p:nvSpPr>
          <p:cNvPr id="7" name="card_5"/>
          <p:cNvSpPr/>
          <p:nvPr/>
        </p:nvSpPr>
        <p:spPr>
          <a:xfrm>
            <a:off x="5989320" y="2651760"/>
            <a:ext cx="562356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6FE0D6"/>
                </a:solidFill>
              </a:rPr>
              <a:t>Eccrine = </a:t>
            </a:r>
            <a:r>
              <a:rPr lang="en-US" sz="1700" dirty="0">
                <a:solidFill>
                  <a:srgbClr val="F2EEFF"/>
                </a:solidFill>
              </a:rPr>
              <a:t>Everyday cooling sweat</a:t>
            </a:r>
            <a:endParaRPr lang="en-US" sz="1700" dirty="0"/>
          </a:p>
        </p:txBody>
      </p:sp>
      <p:sp>
        <p:nvSpPr>
          <p:cNvPr id="8" name="card_6"/>
          <p:cNvSpPr/>
          <p:nvPr/>
        </p:nvSpPr>
        <p:spPr>
          <a:xfrm>
            <a:off x="5989320" y="3639312"/>
            <a:ext cx="562356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6B4A"/>
                </a:solidFill>
              </a:rPr>
              <a:t>Apocrine = </a:t>
            </a:r>
            <a:r>
              <a:rPr lang="en-US" sz="1700" dirty="0">
                <a:solidFill>
                  <a:srgbClr val="F2EEFF"/>
                </a:solidFill>
              </a:rPr>
              <a:t>Armpit/groin; body odor (after puberty)</a:t>
            </a:r>
            <a:endParaRPr lang="en-US" sz="1700" dirty="0"/>
          </a:p>
        </p:txBody>
      </p:sp>
      <p:sp>
        <p:nvSpPr>
          <p:cNvPr id="9" name="card_7"/>
          <p:cNvSpPr/>
          <p:nvPr/>
        </p:nvSpPr>
        <p:spPr>
          <a:xfrm>
            <a:off x="5989320" y="4626864"/>
            <a:ext cx="562356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9B949"/>
                </a:solidFill>
              </a:rPr>
              <a:t>Sebaceous = </a:t>
            </a:r>
            <a:r>
              <a:rPr lang="en-US" sz="1700" dirty="0">
                <a:solidFill>
                  <a:srgbClr val="F2EEFF"/>
                </a:solidFill>
              </a:rPr>
              <a:t>Sebum (oil)</a:t>
            </a:r>
            <a:endParaRPr lang="en-US" sz="1700" dirty="0"/>
          </a:p>
        </p:txBody>
      </p:sp>
      <p:sp>
        <p:nvSpPr>
          <p:cNvPr id="10" name="nurse_8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6FE0D6"/>
          </a:solidFill>
          <a:ln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D1C"/>
                </a:solidFill>
              </a:rPr>
              <a:t>Nursing link  </a:t>
            </a:r>
            <a:r>
              <a:rPr lang="en-US" sz="1600" dirty="0">
                <a:solidFill>
                  <a:srgbClr val="0B0D1C"/>
                </a:solidFill>
              </a:rPr>
              <a:t>Turn bedbound patients every 2 hours to prevent pressure injuries.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5 · Question 1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9D8A6"/>
                </a:solidFill>
              </a:rPr>
              <a:t>The Rattling Gymnasium  </a:t>
            </a:r>
            <a:r>
              <a:rPr lang="en-US" sz="1400" dirty="0">
                <a:solidFill>
                  <a:srgbClr val="B9B5D6"/>
                </a:solidFill>
              </a:rPr>
              <a:t>vs Sir Rattlebones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Q13.  Which cell breaks down bone?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Osteoblast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Osteoclast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Osteocyte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Chondrocyte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ok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1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B: Osteoclast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Clast = crush</a:t>
            </a:r>
            <a:endParaRPr lang="en-US" sz="2000" dirty="0"/>
          </a:p>
        </p:txBody>
      </p:sp>
      <p:sp>
        <p:nvSpPr>
          <p:cNvPr id="12" name="no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5 · Question 2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9D8A6"/>
                </a:solidFill>
              </a:rPr>
              <a:t>The Rattling Gymnasium  </a:t>
            </a:r>
            <a:r>
              <a:rPr lang="en-US" sz="1400" dirty="0">
                <a:solidFill>
                  <a:srgbClr val="B9B5D6"/>
                </a:solidFill>
              </a:rPr>
              <a:t>vs Sir Rattlebones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Q14.  Muscle is attached to bone by: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Ligaments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Cartilage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Tendons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Fascia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Tendons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Tendon = tug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5 · Question 3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9D8A6"/>
                </a:solidFill>
              </a:rPr>
              <a:t>The Rattling Gymnasium  </a:t>
            </a:r>
            <a:r>
              <a:rPr lang="en-US" sz="1400" dirty="0">
                <a:solidFill>
                  <a:srgbClr val="B9B5D6"/>
                </a:solidFill>
              </a:rPr>
              <a:t>vs Sir Rattlebones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Q15.  Which gland produces sebum?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Eccrine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Apocrine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Sebaceous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E9D8A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Thyroid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Sebaceous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Sebaceous = sebum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Bastion of Wards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Immune/lymphatic + reproductive</a:t>
            </a:r>
            <a:endParaRPr lang="en-US" sz="2400" dirty="0"/>
          </a:p>
        </p:txBody>
      </p:sp>
      <p:sp>
        <p:nvSpPr>
          <p:cNvPr id="4" name="tag_1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7FE0A8"/>
                </a:solidFill>
              </a:rPr>
              <a:t>DAY 2  ·  HOUR 6</a:t>
            </a:r>
            <a:endParaRPr lang="en-US" sz="2000" dirty="0"/>
          </a:p>
        </p:txBody>
      </p:sp>
      <p:sp>
        <p:nvSpPr>
          <p:cNvPr id="5" name="boss_2"/>
          <p:cNvSpPr txBox="1"/>
          <p:nvPr/>
        </p:nvSpPr>
        <p:spPr>
          <a:xfrm>
            <a:off x="73152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B5D6"/>
                </a:solidFill>
              </a:rPr>
              <a:t>Boss: </a:t>
            </a:r>
            <a:r>
              <a:rPr lang="en-US" sz="2000" b="1" dirty="0">
                <a:solidFill>
                  <a:srgbClr val="F2EEFF"/>
                </a:solidFill>
              </a:rPr>
              <a:t>The Germ Overlord</a:t>
            </a:r>
            <a:endParaRPr lang="en-US" sz="2000" dirty="0"/>
          </a:p>
        </p:txBody>
      </p:sp>
      <p:sp>
        <p:nvSpPr>
          <p:cNvPr id="6" name="card_3"/>
          <p:cNvSpPr/>
          <p:nvPr/>
        </p:nvSpPr>
        <p:spPr>
          <a:xfrm>
            <a:off x="731520" y="4800600"/>
            <a:ext cx="7498080" cy="960120"/>
          </a:xfrm>
          <a:prstGeom prst="roundRect">
            <a:avLst>
              <a:gd name="adj" fmla="val 11429"/>
            </a:avLst>
          </a:prstGeom>
          <a:solidFill>
            <a:srgbClr val="0B0D1C">
              <a:alpha val="70000"/>
            </a:srgbClr>
          </a:solidFill>
          <a:ln w="127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able to…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Fill in the active/passive immunity grid; name antibody types</a:t>
            </a:r>
            <a:endParaRPr lang="en-US" sz="1600" dirty="0"/>
          </a:p>
        </p:txBody>
      </p:sp>
      <p:sp>
        <p:nvSpPr>
          <p:cNvPr id="7" name="emblem_4c"/>
          <p:cNvSpPr/>
          <p:nvPr/>
        </p:nvSpPr>
        <p:spPr>
          <a:xfrm>
            <a:off x="8823960" y="1508760"/>
            <a:ext cx="2834640" cy="2834640"/>
          </a:xfrm>
          <a:prstGeom prst="ellipse">
            <a:avLst/>
          </a:prstGeom>
          <a:solidFill>
            <a:srgbClr val="0B0D1C">
              <a:alpha val="70000"/>
            </a:srgbClr>
          </a:solidFill>
          <a:ln w="38100">
            <a:solidFill>
              <a:srgbClr val="7FE0A8"/>
            </a:solidFill>
            <a:prstDash val="solid"/>
          </a:ln>
        </p:spPr>
      </p:sp>
      <p:pic>
        <p:nvPicPr>
          <p:cNvPr id="8" name="emblem_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1965960"/>
            <a:ext cx="1920240" cy="1920240"/>
          </a:xfrm>
          <a:prstGeom prst="rect">
            <a:avLst/>
          </a:prstGeom>
        </p:spPr>
      </p:pic>
      <p:sp>
        <p:nvSpPr>
          <p:cNvPr id="9" name="home_5"/>
          <p:cNvSpPr txBox="1"/>
          <p:nvPr/>
        </p:nvSpPr>
        <p:spPr>
          <a:xfrm>
            <a:off x="10058400" y="6172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u="sng" dirty="0">
                <a:solidFill>
                  <a:srgbClr val="6FE0D6"/>
                </a:solidFill>
                <a:hlinkClick r:id="rId8" action="ppaction://hlinksldjump" tooltip="Back to the bootcamp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Realm map</a:t>
            </a:r>
            <a:endParaRPr lang="en-US" sz="1300" dirty="0"/>
          </a:p>
        </p:txBody>
      </p:sp>
      <p:pic>
        <p:nvPicPr>
          <p:cNvPr id="12" name="bg_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097280" y="182880"/>
            <a:ext cx="548640" cy="548640"/>
          </a:xfrm>
          <a:prstGeom prst="rect">
            <a:avLst/>
          </a:prstGeom>
        </p:spPr>
      </p:pic>
      <p:sp>
        <p:nvSpPr>
          <p:cNvPr id="11" name="music_btn"/>
          <p:cNvSpPr/>
          <p:nvPr/>
        </p:nvSpPr>
        <p:spPr>
          <a:xfrm>
            <a:off x="320040" y="61722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0B0D1C">
              <a:alpha val="75000"/>
            </a:srgbClr>
          </a:solidFill>
          <a:ln w="15875">
            <a:solidFill>
              <a:srgbClr val="E9B9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949"/>
                </a:solidFill>
              </a:rPr>
              <a:t>♪  Music on / off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  <p:sndAc>
          <p:stSnd>
            <p:snd r:embed="rId5" name="boom.wav"/>
          </p:stSnd>
        </p:sndAc>
      </p:transition>
    </mc:Choice>
    <mc:Fallback xmlns="">
      <p:transition spd="slow">
        <p:fade/>
        <p:sndAc>
          <p:stSnd>
            <p:snd r:embed="rIdFx1" name="boom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45000" numSld="7" showWhenStopped="0">
                <p:cTn id="3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Immune &amp; lymphatic defenses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7FE0A8"/>
                </a:solidFill>
              </a:rPr>
              <a:t>Lymphatic: </a:t>
            </a:r>
            <a:r>
              <a:rPr lang="en-US" sz="1700" dirty="0">
                <a:solidFill>
                  <a:srgbClr val="F2EEFF"/>
                </a:solidFill>
              </a:rPr>
              <a:t>returns fluid to blood; lymph nodes filter; SPLEEN filters blood; THYMUS trains T cells.</a:t>
            </a:r>
            <a:endParaRPr lang="en-US" sz="1700" dirty="0"/>
          </a:p>
        </p:txBody>
      </p:sp>
      <p:sp>
        <p:nvSpPr>
          <p:cNvPr id="4" name="card_2"/>
          <p:cNvSpPr/>
          <p:nvPr/>
        </p:nvSpPr>
        <p:spPr>
          <a:xfrm>
            <a:off x="548640" y="22402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(born with, nonspecific)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Skin, mucus, stomach acid, fever, inflammation, phagocytes.</a:t>
            </a:r>
            <a:endParaRPr lang="en-US" sz="1700" dirty="0"/>
          </a:p>
        </p:txBody>
      </p:sp>
      <p:sp>
        <p:nvSpPr>
          <p:cNvPr id="5" name="card_3"/>
          <p:cNvSpPr/>
          <p:nvPr/>
        </p:nvSpPr>
        <p:spPr>
          <a:xfrm>
            <a:off x="6217920" y="22402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(learned, specific, has memory)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B cells → antibodies.  T cells → kill infected cells.</a:t>
            </a:r>
            <a:endParaRPr lang="en-US" sz="1700" dirty="0"/>
          </a:p>
        </p:txBody>
      </p:sp>
      <p:sp>
        <p:nvSpPr>
          <p:cNvPr id="6" name="g_4"/>
          <p:cNvSpPr txBox="1"/>
          <p:nvPr/>
        </p:nvSpPr>
        <p:spPr>
          <a:xfrm>
            <a:off x="237744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FE0D6"/>
                </a:solidFill>
              </a:rPr>
              <a:t>You MAKE the antibodies (lasts long)</a:t>
            </a:r>
            <a:endParaRPr lang="en-US" sz="1500" dirty="0"/>
          </a:p>
        </p:txBody>
      </p:sp>
      <p:sp>
        <p:nvSpPr>
          <p:cNvPr id="7" name="g_5"/>
          <p:cNvSpPr txBox="1"/>
          <p:nvPr/>
        </p:nvSpPr>
        <p:spPr>
          <a:xfrm>
            <a:off x="704088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4A"/>
                </a:solidFill>
              </a:rPr>
              <a:t>You are GIVEN antibodies (short-term)</a:t>
            </a:r>
            <a:endParaRPr lang="en-US" sz="1500" dirty="0"/>
          </a:p>
        </p:txBody>
      </p:sp>
      <p:sp>
        <p:nvSpPr>
          <p:cNvPr id="8" name="g_6"/>
          <p:cNvSpPr txBox="1"/>
          <p:nvPr/>
        </p:nvSpPr>
        <p:spPr>
          <a:xfrm>
            <a:off x="548640" y="4206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</a:rPr>
              <a:t>Natural</a:t>
            </a:r>
            <a:endParaRPr lang="en-US" sz="1500" dirty="0"/>
          </a:p>
        </p:txBody>
      </p:sp>
      <p:sp>
        <p:nvSpPr>
          <p:cNvPr id="9" name="g_7"/>
          <p:cNvSpPr txBox="1"/>
          <p:nvPr/>
        </p:nvSpPr>
        <p:spPr>
          <a:xfrm>
            <a:off x="548640" y="4983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</a:rPr>
              <a:t>Artificial</a:t>
            </a:r>
            <a:endParaRPr lang="en-US" sz="1500" dirty="0"/>
          </a:p>
        </p:txBody>
      </p:sp>
      <p:sp>
        <p:nvSpPr>
          <p:cNvPr id="10" name="cell_10"/>
          <p:cNvSpPr/>
          <p:nvPr/>
        </p:nvSpPr>
        <p:spPr>
          <a:xfrm>
            <a:off x="2377440" y="4114800"/>
            <a:ext cx="4526280" cy="685800"/>
          </a:xfrm>
          <a:prstGeom prst="roundRect">
            <a:avLst>
              <a:gd name="adj" fmla="val 13333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B5D6"/>
                </a:solidFill>
              </a:rPr>
              <a:t>Active: ?</a:t>
            </a:r>
            <a:endParaRPr lang="en-US" sz="1600" dirty="0"/>
          </a:p>
        </p:txBody>
      </p:sp>
      <p:sp>
        <p:nvSpPr>
          <p:cNvPr id="11" name="fill_10"/>
          <p:cNvSpPr/>
          <p:nvPr/>
        </p:nvSpPr>
        <p:spPr>
          <a:xfrm>
            <a:off x="2377440" y="4114800"/>
            <a:ext cx="4526280" cy="685800"/>
          </a:xfrm>
          <a:prstGeom prst="roundRect">
            <a:avLst>
              <a:gd name="adj" fmla="val 13333"/>
            </a:avLst>
          </a:prstGeom>
          <a:solidFill>
            <a:srgbClr val="0B0D1C"/>
          </a:solidFill>
          <a:ln w="2540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E0D6"/>
                </a:solidFill>
              </a:rPr>
              <a:t>Active: </a:t>
            </a:r>
            <a:r>
              <a:rPr lang="en-US" sz="1600" b="1" dirty="0">
                <a:solidFill>
                  <a:srgbClr val="F2EEFF"/>
                </a:solidFill>
              </a:rPr>
              <a:t>You catch the disease</a:t>
            </a:r>
            <a:endParaRPr lang="en-US" sz="1600" dirty="0"/>
          </a:p>
        </p:txBody>
      </p:sp>
      <p:sp>
        <p:nvSpPr>
          <p:cNvPr id="12" name="cell_11"/>
          <p:cNvSpPr/>
          <p:nvPr/>
        </p:nvSpPr>
        <p:spPr>
          <a:xfrm>
            <a:off x="7040880" y="4114800"/>
            <a:ext cx="4526280" cy="685800"/>
          </a:xfrm>
          <a:prstGeom prst="roundRect">
            <a:avLst>
              <a:gd name="adj" fmla="val 13333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B5D6"/>
                </a:solidFill>
              </a:rPr>
              <a:t>Passive: ?</a:t>
            </a:r>
            <a:endParaRPr lang="en-US" sz="1600" dirty="0"/>
          </a:p>
        </p:txBody>
      </p:sp>
      <p:sp>
        <p:nvSpPr>
          <p:cNvPr id="13" name="fill_11"/>
          <p:cNvSpPr/>
          <p:nvPr/>
        </p:nvSpPr>
        <p:spPr>
          <a:xfrm>
            <a:off x="7040880" y="4114800"/>
            <a:ext cx="4526280" cy="685800"/>
          </a:xfrm>
          <a:prstGeom prst="roundRect">
            <a:avLst>
              <a:gd name="adj" fmla="val 13333"/>
            </a:avLst>
          </a:prstGeom>
          <a:solidFill>
            <a:srgbClr val="0B0D1C"/>
          </a:solidFill>
          <a:ln w="25400">
            <a:solidFill>
              <a:srgbClr val="FF6B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4A"/>
                </a:solidFill>
              </a:rPr>
              <a:t>Passive: </a:t>
            </a:r>
            <a:r>
              <a:rPr lang="en-US" sz="1600" b="1" dirty="0">
                <a:solidFill>
                  <a:srgbClr val="F2EEFF"/>
                </a:solidFill>
              </a:rPr>
              <a:t>Mom → baby (placenta, breast milk)</a:t>
            </a:r>
            <a:endParaRPr lang="en-US" sz="1600" dirty="0"/>
          </a:p>
        </p:txBody>
      </p:sp>
      <p:sp>
        <p:nvSpPr>
          <p:cNvPr id="14" name="cell_20"/>
          <p:cNvSpPr/>
          <p:nvPr/>
        </p:nvSpPr>
        <p:spPr>
          <a:xfrm>
            <a:off x="2377440" y="4892040"/>
            <a:ext cx="4526280" cy="685800"/>
          </a:xfrm>
          <a:prstGeom prst="roundRect">
            <a:avLst>
              <a:gd name="adj" fmla="val 13333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B5D6"/>
                </a:solidFill>
              </a:rPr>
              <a:t>Active: ?</a:t>
            </a:r>
            <a:endParaRPr lang="en-US" sz="1600" dirty="0"/>
          </a:p>
        </p:txBody>
      </p:sp>
      <p:sp>
        <p:nvSpPr>
          <p:cNvPr id="15" name="fill_20"/>
          <p:cNvSpPr/>
          <p:nvPr/>
        </p:nvSpPr>
        <p:spPr>
          <a:xfrm>
            <a:off x="2377440" y="4892040"/>
            <a:ext cx="4526280" cy="685800"/>
          </a:xfrm>
          <a:prstGeom prst="roundRect">
            <a:avLst>
              <a:gd name="adj" fmla="val 13333"/>
            </a:avLst>
          </a:prstGeom>
          <a:solidFill>
            <a:srgbClr val="0B0D1C"/>
          </a:solidFill>
          <a:ln w="2540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E0D6"/>
                </a:solidFill>
              </a:rPr>
              <a:t>Active: </a:t>
            </a:r>
            <a:r>
              <a:rPr lang="en-US" sz="1600" b="1" dirty="0">
                <a:solidFill>
                  <a:srgbClr val="F2EEFF"/>
                </a:solidFill>
              </a:rPr>
              <a:t>Vaccine</a:t>
            </a:r>
            <a:endParaRPr lang="en-US" sz="1600" dirty="0"/>
          </a:p>
        </p:txBody>
      </p:sp>
      <p:sp>
        <p:nvSpPr>
          <p:cNvPr id="16" name="cell_21"/>
          <p:cNvSpPr/>
          <p:nvPr/>
        </p:nvSpPr>
        <p:spPr>
          <a:xfrm>
            <a:off x="7040880" y="4892040"/>
            <a:ext cx="4526280" cy="685800"/>
          </a:xfrm>
          <a:prstGeom prst="roundRect">
            <a:avLst>
              <a:gd name="adj" fmla="val 13333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B5D6"/>
                </a:solidFill>
              </a:rPr>
              <a:t>Passive: ?</a:t>
            </a:r>
            <a:endParaRPr lang="en-US" sz="1600" dirty="0"/>
          </a:p>
        </p:txBody>
      </p:sp>
      <p:sp>
        <p:nvSpPr>
          <p:cNvPr id="17" name="fill_21"/>
          <p:cNvSpPr/>
          <p:nvPr/>
        </p:nvSpPr>
        <p:spPr>
          <a:xfrm>
            <a:off x="7040880" y="4892040"/>
            <a:ext cx="4526280" cy="685800"/>
          </a:xfrm>
          <a:prstGeom prst="roundRect">
            <a:avLst>
              <a:gd name="adj" fmla="val 13333"/>
            </a:avLst>
          </a:prstGeom>
          <a:solidFill>
            <a:srgbClr val="0B0D1C"/>
          </a:solidFill>
          <a:ln w="25400">
            <a:solidFill>
              <a:srgbClr val="FF6B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4A"/>
                </a:solidFill>
              </a:rPr>
              <a:t>Passive: </a:t>
            </a:r>
            <a:r>
              <a:rPr lang="en-US" sz="1600" b="1" dirty="0">
                <a:solidFill>
                  <a:srgbClr val="F2EEFF"/>
                </a:solidFill>
              </a:rPr>
              <a:t>Antibody shot</a:t>
            </a:r>
            <a:endParaRPr lang="en-US" sz="1600" dirty="0"/>
          </a:p>
        </p:txBody>
      </p:sp>
      <p:sp>
        <p:nvSpPr>
          <p:cNvPr id="18" name="hook_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B949"/>
                </a:solidFill>
              </a:rPr>
              <a:t>Click each "?" to fill the grid.   Hook: ACTIVE = your body does the work. PASSIVE = borrowed.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Antibodies: think "G-A-M-E"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371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FE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IgG</a:t>
            </a:r>
            <a:endParaRPr lang="en-US" sz="44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F2EEFF"/>
                </a:solidFill>
              </a:rPr>
              <a:t>Most common; crosses the placenta</a:t>
            </a:r>
            <a:endParaRPr lang="en-US" sz="44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6FE0D6"/>
                </a:solidFill>
              </a:rPr>
              <a:t>"Gestation"</a:t>
            </a:r>
            <a:endParaRPr lang="en-US" sz="4400" dirty="0"/>
          </a:p>
        </p:txBody>
      </p:sp>
      <p:sp>
        <p:nvSpPr>
          <p:cNvPr id="4" name="card_2"/>
          <p:cNvSpPr/>
          <p:nvPr/>
        </p:nvSpPr>
        <p:spPr>
          <a:xfrm>
            <a:off x="3355848" y="1371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IgA</a:t>
            </a:r>
            <a:endParaRPr lang="en-US" sz="44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F2EEFF"/>
                </a:solidFill>
              </a:rPr>
              <a:t>Tears, saliva, breast milk</a:t>
            </a:r>
            <a:endParaRPr lang="en-US" sz="44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9B949"/>
                </a:solidFill>
              </a:rPr>
              <a:t>"A" for secretions</a:t>
            </a:r>
            <a:endParaRPr lang="en-US" sz="4400" dirty="0"/>
          </a:p>
        </p:txBody>
      </p:sp>
      <p:sp>
        <p:nvSpPr>
          <p:cNvPr id="5" name="card_3"/>
          <p:cNvSpPr/>
          <p:nvPr/>
        </p:nvSpPr>
        <p:spPr>
          <a:xfrm>
            <a:off x="6163056" y="1371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IgM</a:t>
            </a:r>
            <a:endParaRPr lang="en-US" sz="44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F2EEFF"/>
                </a:solidFill>
              </a:rPr>
              <a:t>First responder</a:t>
            </a:r>
            <a:endParaRPr lang="en-US" sz="44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6B4A"/>
                </a:solidFill>
              </a:rPr>
              <a:t>"Main first"</a:t>
            </a:r>
            <a:endParaRPr lang="en-US" sz="4400" dirty="0"/>
          </a:p>
        </p:txBody>
      </p:sp>
      <p:sp>
        <p:nvSpPr>
          <p:cNvPr id="6" name="card_4"/>
          <p:cNvSpPr/>
          <p:nvPr/>
        </p:nvSpPr>
        <p:spPr>
          <a:xfrm>
            <a:off x="8970264" y="13716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4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</a:t>
            </a:r>
            <a:endParaRPr lang="en-US" sz="44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F2EEFF"/>
                </a:solidFill>
              </a:rPr>
              <a:t>Allergies</a:t>
            </a:r>
            <a:endParaRPr lang="en-US" sz="44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B48CFF"/>
                </a:solidFill>
              </a:rPr>
              <a:t>"Eek!"</a:t>
            </a:r>
            <a:endParaRPr lang="en-US" sz="4400" dirty="0"/>
          </a:p>
        </p:txBody>
      </p:sp>
      <p:sp>
        <p:nvSpPr>
          <p:cNvPr id="7" name="nurse_5"/>
          <p:cNvSpPr/>
          <p:nvPr/>
        </p:nvSpPr>
        <p:spPr>
          <a:xfrm>
            <a:off x="548640" y="484632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6FE0D6"/>
          </a:solidFill>
          <a:ln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D1C"/>
                </a:solidFill>
              </a:rPr>
              <a:t>Nursing link  </a:t>
            </a:r>
            <a:r>
              <a:rPr lang="en-US" sz="1600" dirty="0">
                <a:solidFill>
                  <a:srgbClr val="0B0D1C"/>
                </a:solidFill>
              </a:rPr>
              <a:t>HIV attacks helper T cells → frequent infections.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Reproductive system</a:t>
            </a:r>
            <a:endParaRPr lang="en-US" sz="3600" dirty="0"/>
          </a:p>
        </p:txBody>
      </p:sp>
      <p:sp>
        <p:nvSpPr>
          <p:cNvPr id="3" name="chip_1"/>
          <p:cNvSpPr/>
          <p:nvPr/>
        </p:nvSpPr>
        <p:spPr>
          <a:xfrm>
            <a:off x="548640" y="1600200"/>
            <a:ext cx="2546604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Testes: sperm + testosterone</a:t>
            </a:r>
            <a:endParaRPr lang="en-US" sz="1500" dirty="0"/>
          </a:p>
        </p:txBody>
      </p:sp>
      <p:sp>
        <p:nvSpPr>
          <p:cNvPr id="4" name="arr_2"/>
          <p:cNvSpPr/>
          <p:nvPr/>
        </p:nvSpPr>
        <p:spPr>
          <a:xfrm>
            <a:off x="3131820" y="18699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5" name="chip_3"/>
          <p:cNvSpPr/>
          <p:nvPr/>
        </p:nvSpPr>
        <p:spPr>
          <a:xfrm>
            <a:off x="3387852" y="1600200"/>
            <a:ext cx="2546604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Epididymis (matures)</a:t>
            </a:r>
            <a:endParaRPr lang="en-US" sz="1500" dirty="0"/>
          </a:p>
        </p:txBody>
      </p:sp>
      <p:sp>
        <p:nvSpPr>
          <p:cNvPr id="6" name="arr_4"/>
          <p:cNvSpPr/>
          <p:nvPr/>
        </p:nvSpPr>
        <p:spPr>
          <a:xfrm>
            <a:off x="5971032" y="18699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7" name="chip_5"/>
          <p:cNvSpPr/>
          <p:nvPr/>
        </p:nvSpPr>
        <p:spPr>
          <a:xfrm>
            <a:off x="6227064" y="1600200"/>
            <a:ext cx="2546604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deferens</a:t>
            </a:r>
            <a:endParaRPr lang="en-US" sz="1500" dirty="0"/>
          </a:p>
        </p:txBody>
      </p:sp>
      <p:sp>
        <p:nvSpPr>
          <p:cNvPr id="8" name="arr_6"/>
          <p:cNvSpPr/>
          <p:nvPr/>
        </p:nvSpPr>
        <p:spPr>
          <a:xfrm>
            <a:off x="8810244" y="18699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9" name="chip_7"/>
          <p:cNvSpPr/>
          <p:nvPr/>
        </p:nvSpPr>
        <p:spPr>
          <a:xfrm>
            <a:off x="9066276" y="1600200"/>
            <a:ext cx="2546604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Urethra</a:t>
            </a:r>
            <a:endParaRPr lang="en-US" sz="1500" dirty="0"/>
          </a:p>
        </p:txBody>
      </p:sp>
      <p:sp>
        <p:nvSpPr>
          <p:cNvPr id="10" name="ml_8"/>
          <p:cNvSpPr txBox="1"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A2FF"/>
                </a:solidFill>
              </a:rPr>
              <a:t>Male path</a:t>
            </a:r>
            <a:endParaRPr lang="en-US" sz="1600" dirty="0"/>
          </a:p>
        </p:txBody>
      </p:sp>
      <p:sp>
        <p:nvSpPr>
          <p:cNvPr id="11" name="chip_9"/>
          <p:cNvSpPr/>
          <p:nvPr/>
        </p:nvSpPr>
        <p:spPr>
          <a:xfrm>
            <a:off x="548640" y="2880360"/>
            <a:ext cx="3493008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7AC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Ovaries: eggs + estrogen/progesterone</a:t>
            </a:r>
            <a:endParaRPr lang="en-US" sz="1500" dirty="0"/>
          </a:p>
        </p:txBody>
      </p:sp>
      <p:sp>
        <p:nvSpPr>
          <p:cNvPr id="12" name="arr_10"/>
          <p:cNvSpPr/>
          <p:nvPr/>
        </p:nvSpPr>
        <p:spPr>
          <a:xfrm>
            <a:off x="4078224" y="315010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3" name="chip_11"/>
          <p:cNvSpPr/>
          <p:nvPr/>
        </p:nvSpPr>
        <p:spPr>
          <a:xfrm>
            <a:off x="4334256" y="2880360"/>
            <a:ext cx="3493008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7AC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Fertilization in the FALLOPIAN TUBE</a:t>
            </a:r>
            <a:endParaRPr lang="en-US" sz="1500" dirty="0"/>
          </a:p>
        </p:txBody>
      </p:sp>
      <p:sp>
        <p:nvSpPr>
          <p:cNvPr id="14" name="arr_12"/>
          <p:cNvSpPr/>
          <p:nvPr/>
        </p:nvSpPr>
        <p:spPr>
          <a:xfrm>
            <a:off x="7863840" y="315010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5" name="chip_13"/>
          <p:cNvSpPr/>
          <p:nvPr/>
        </p:nvSpPr>
        <p:spPr>
          <a:xfrm>
            <a:off x="8119872" y="2880360"/>
            <a:ext cx="3493008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F7AC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Implants in the uterus</a:t>
            </a:r>
            <a:endParaRPr lang="en-US" sz="1500" dirty="0"/>
          </a:p>
        </p:txBody>
      </p:sp>
      <p:sp>
        <p:nvSpPr>
          <p:cNvPr id="16" name="fl_14"/>
          <p:cNvSpPr txBox="1"/>
          <p:nvPr/>
        </p:nvSpPr>
        <p:spPr>
          <a:xfrm>
            <a:off x="5486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AC8"/>
                </a:solidFill>
              </a:rPr>
              <a:t>Female path</a:t>
            </a:r>
            <a:endParaRPr lang="en-US" sz="1600" dirty="0"/>
          </a:p>
        </p:txBody>
      </p:sp>
      <p:sp>
        <p:nvSpPr>
          <p:cNvPr id="17" name="card_15"/>
          <p:cNvSpPr/>
          <p:nvPr/>
        </p:nvSpPr>
        <p:spPr>
          <a:xfrm>
            <a:off x="548640" y="388620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surge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→ ovulation (about day 14).</a:t>
            </a:r>
            <a:endParaRPr lang="en-US" sz="2000" dirty="0"/>
          </a:p>
        </p:txBody>
      </p:sp>
      <p:sp>
        <p:nvSpPr>
          <p:cNvPr id="18" name="card_16"/>
          <p:cNvSpPr/>
          <p:nvPr/>
        </p:nvSpPr>
        <p:spPr>
          <a:xfrm>
            <a:off x="4297680" y="388620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Progesterone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"Pro-gestation": keeps the uterine lining.</a:t>
            </a:r>
            <a:endParaRPr lang="en-US" sz="2000" dirty="0"/>
          </a:p>
        </p:txBody>
      </p:sp>
      <p:sp>
        <p:nvSpPr>
          <p:cNvPr id="19" name="card_17"/>
          <p:cNvSpPr/>
          <p:nvPr/>
        </p:nvSpPr>
        <p:spPr>
          <a:xfrm>
            <a:off x="8046720" y="388620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Meiosis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Gametes have 23 chromosomes. Egg + sperm → 46.</a:t>
            </a:r>
            <a:endParaRPr lang="en-US" sz="2000" dirty="0"/>
          </a:p>
        </p:txBody>
      </p:sp>
      <p:sp>
        <p:nvSpPr>
          <p:cNvPr id="20" name="nurse_18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6FE0D6"/>
          </a:solidFill>
          <a:ln>
            <a:solidFill>
              <a:srgbClr val="6FE0D6"/>
            </a:solidFill>
          </a:ln>
        </p:spPr>
        <p:txBody>
          <a:bodyPr wrap="square" lIns="50800" tIns="177800" rIns="177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D1C"/>
                </a:solidFill>
              </a:rPr>
              <a:t>Nursing link  </a:t>
            </a:r>
            <a:r>
              <a:rPr lang="en-US" sz="1600" dirty="0">
                <a:solidFill>
                  <a:srgbClr val="0B0D1C"/>
                </a:solidFill>
              </a:rPr>
              <a:t>Embryo implanted in the fallopian tube = ECTOPIC pregnancy (emergency).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6 · Question 1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FE0A8"/>
                </a:solidFill>
              </a:rPr>
              <a:t>Bastion of Wards  </a:t>
            </a:r>
            <a:r>
              <a:rPr lang="en-US" sz="1400" dirty="0">
                <a:solidFill>
                  <a:srgbClr val="B9B5D6"/>
                </a:solidFill>
              </a:rPr>
              <a:t>vs The Germ Overlord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Q16.  A baby receiving antibodies through breast milk is an example of: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Natural active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Artificial active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Natural passive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Artificial passive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Natural passive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Borrowed from mom = natural passive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6 · Question 2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FE0A8"/>
                </a:solidFill>
              </a:rPr>
              <a:t>Bastion of Wards  </a:t>
            </a:r>
            <a:r>
              <a:rPr lang="en-US" sz="1400" dirty="0">
                <a:solidFill>
                  <a:srgbClr val="B9B5D6"/>
                </a:solidFill>
              </a:rPr>
              <a:t>vs The Germ Overlord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Q17.  Which cells make antibodies?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T cells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B cells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Neutrophils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Platelets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ok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1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B: B cells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B cells → antibodies</a:t>
            </a:r>
            <a:endParaRPr lang="en-US" sz="2000" dirty="0"/>
          </a:p>
        </p:txBody>
      </p:sp>
      <p:sp>
        <p:nvSpPr>
          <p:cNvPr id="12" name="no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6 · Question 3 of 3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FE0A8"/>
                </a:solidFill>
              </a:rPr>
              <a:t>Bastion of Wards  </a:t>
            </a:r>
            <a:r>
              <a:rPr lang="en-US" sz="1400" dirty="0">
                <a:solidFill>
                  <a:srgbClr val="B9B5D6"/>
                </a:solidFill>
              </a:rPr>
              <a:t>vs The Germ Overlord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Q18.  Fertilization usually happens in the: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Uterus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Ovary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Fallopian tube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Cervix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Fallopian tube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Fallopian tube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Mad Alchemist's Lab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Biology + chemistry</a:t>
            </a:r>
            <a:endParaRPr lang="en-US" sz="2400" dirty="0"/>
          </a:p>
        </p:txBody>
      </p:sp>
      <p:sp>
        <p:nvSpPr>
          <p:cNvPr id="4" name="tag_1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FD166"/>
                </a:solidFill>
              </a:rPr>
              <a:t>DAY 2  ·  HOUR 7</a:t>
            </a:r>
            <a:endParaRPr lang="en-US" sz="2000" dirty="0"/>
          </a:p>
        </p:txBody>
      </p:sp>
      <p:sp>
        <p:nvSpPr>
          <p:cNvPr id="5" name="boss_2"/>
          <p:cNvSpPr txBox="1"/>
          <p:nvPr/>
        </p:nvSpPr>
        <p:spPr>
          <a:xfrm>
            <a:off x="73152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B5D6"/>
                </a:solidFill>
              </a:rPr>
              <a:t>Boss: </a:t>
            </a:r>
            <a:r>
              <a:rPr lang="en-US" sz="2000" b="1" dirty="0">
                <a:solidFill>
                  <a:srgbClr val="F2EEFF"/>
                </a:solidFill>
              </a:rPr>
              <a:t>Professor Fizzwick</a:t>
            </a:r>
            <a:endParaRPr lang="en-US" sz="2000" dirty="0"/>
          </a:p>
        </p:txBody>
      </p:sp>
      <p:sp>
        <p:nvSpPr>
          <p:cNvPr id="6" name="card_3"/>
          <p:cNvSpPr/>
          <p:nvPr/>
        </p:nvSpPr>
        <p:spPr>
          <a:xfrm>
            <a:off x="731520" y="4800600"/>
            <a:ext cx="7498080" cy="960120"/>
          </a:xfrm>
          <a:prstGeom prst="roundRect">
            <a:avLst>
              <a:gd name="adj" fmla="val 11429"/>
            </a:avLst>
          </a:prstGeom>
          <a:solidFill>
            <a:srgbClr val="0B0D1C">
              <a:alpha val="70000"/>
            </a:srgbClr>
          </a:solidFill>
          <a:ln w="127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able to…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Match organelles; do a Punnett square; read pH; name reaction types</a:t>
            </a:r>
            <a:endParaRPr lang="en-US" sz="1600" dirty="0"/>
          </a:p>
        </p:txBody>
      </p:sp>
      <p:sp>
        <p:nvSpPr>
          <p:cNvPr id="7" name="emblem_4c"/>
          <p:cNvSpPr/>
          <p:nvPr/>
        </p:nvSpPr>
        <p:spPr>
          <a:xfrm>
            <a:off x="8823960" y="1508760"/>
            <a:ext cx="2834640" cy="2834640"/>
          </a:xfrm>
          <a:prstGeom prst="ellipse">
            <a:avLst/>
          </a:prstGeom>
          <a:solidFill>
            <a:srgbClr val="0B0D1C">
              <a:alpha val="70000"/>
            </a:srgbClr>
          </a:solidFill>
          <a:ln w="38100">
            <a:solidFill>
              <a:srgbClr val="FFD166"/>
            </a:solidFill>
            <a:prstDash val="solid"/>
          </a:ln>
        </p:spPr>
      </p:sp>
      <p:pic>
        <p:nvPicPr>
          <p:cNvPr id="8" name="emblem_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1965960"/>
            <a:ext cx="1920240" cy="1920240"/>
          </a:xfrm>
          <a:prstGeom prst="rect">
            <a:avLst/>
          </a:prstGeom>
        </p:spPr>
      </p:pic>
      <p:sp>
        <p:nvSpPr>
          <p:cNvPr id="9" name="home_5"/>
          <p:cNvSpPr txBox="1"/>
          <p:nvPr/>
        </p:nvSpPr>
        <p:spPr>
          <a:xfrm>
            <a:off x="10058400" y="6172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u="sng" dirty="0">
                <a:solidFill>
                  <a:srgbClr val="6FE0D6"/>
                </a:solidFill>
                <a:hlinkClick r:id="rId8" action="ppaction://hlinksldjump" tooltip="Back to the bootcamp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Realm map</a:t>
            </a:r>
            <a:endParaRPr lang="en-US" sz="1300" dirty="0"/>
          </a:p>
        </p:txBody>
      </p:sp>
      <p:pic>
        <p:nvPicPr>
          <p:cNvPr id="12" name="bg_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097280" y="182880"/>
            <a:ext cx="548640" cy="548640"/>
          </a:xfrm>
          <a:prstGeom prst="rect">
            <a:avLst/>
          </a:prstGeom>
        </p:spPr>
      </p:pic>
      <p:sp>
        <p:nvSpPr>
          <p:cNvPr id="11" name="music_btn"/>
          <p:cNvSpPr/>
          <p:nvPr/>
        </p:nvSpPr>
        <p:spPr>
          <a:xfrm>
            <a:off x="320040" y="61722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0B0D1C">
              <a:alpha val="75000"/>
            </a:srgbClr>
          </a:solidFill>
          <a:ln w="15875">
            <a:solidFill>
              <a:srgbClr val="E9B9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949"/>
                </a:solidFill>
              </a:rPr>
              <a:t>♪  Music on / off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  <p:sndAc>
          <p:stSnd>
            <p:snd r:embed="rId5" name="boom.wav"/>
          </p:stSnd>
        </p:sndAc>
      </p:transition>
    </mc:Choice>
    <mc:Fallback xmlns="">
      <p:transition spd="slow">
        <p:fade/>
        <p:sndAc>
          <p:stSnd>
            <p:snd r:embed="rIdFx1" name="boom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45000" numSld="13" showWhenStopped="0">
                <p:cTn id="3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cell is a factory</a:t>
            </a:r>
            <a:endParaRPr lang="en-US" sz="3600" dirty="0"/>
          </a:p>
        </p:txBody>
      </p:sp>
      <p:pic>
        <p:nvPicPr>
          <p:cNvPr id="3" name="cell_1" descr="/home/claude/teas-slides/assets/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663440" cy="3630168"/>
          </a:xfrm>
          <a:prstGeom prst="rect">
            <a:avLst/>
          </a:prstGeom>
        </p:spPr>
      </p:pic>
      <p:graphicFrame>
        <p:nvGraphicFramePr>
          <p:cNvPr id="59" name="cell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280160"/>
          <a:ext cx="6309360" cy="914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Organelle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Job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Factory role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Nucleus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Holds DNA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Boss's office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Mitochondria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Makes ATP (cellular respiration)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Power plant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Ribosomes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Make proteins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Workers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Rough ER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Protein transport (has ribosomes)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Assembly line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Smooth ER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Makes lipids, detox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Chemical shop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Golgi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Packages and ships proteins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Shipping office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Lysosome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Breaks down waste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Clean-up crew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Cell membrane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Controls what enters/leaves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Security gate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Cytoskeleton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Shape and movement (protein)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Building frame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card_2"/>
          <p:cNvSpPr/>
          <p:nvPr/>
        </p:nvSpPr>
        <p:spPr>
          <a:xfrm>
            <a:off x="548640" y="516636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7FE0A8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Plant cells also have a cell wall, chloroplasts and a big central vacuole.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9" grpId="0">
        <p:bldAsOne/>
      </p:bldGraphic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Mitosis vs meiosis</a:t>
            </a:r>
            <a:endParaRPr lang="en-US" sz="3600" dirty="0"/>
          </a:p>
        </p:txBody>
      </p:sp>
      <p:pic>
        <p:nvPicPr>
          <p:cNvPr id="3" name="mito_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234440"/>
            <a:ext cx="6583680" cy="3703320"/>
          </a:xfrm>
          <a:prstGeom prst="rect">
            <a:avLst/>
          </a:prstGeom>
        </p:spPr>
      </p:pic>
      <p:sp>
        <p:nvSpPr>
          <p:cNvPr id="4" name="card_1"/>
          <p:cNvSpPr/>
          <p:nvPr/>
        </p:nvSpPr>
        <p:spPr>
          <a:xfrm>
            <a:off x="7406640" y="1234440"/>
            <a:ext cx="4206240" cy="2240280"/>
          </a:xfrm>
          <a:prstGeom prst="roundRect">
            <a:avLst>
              <a:gd name="adj" fmla="val 4898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Mitosis</a:t>
            </a:r>
            <a:endParaRPr lang="en-US" sz="2400" dirty="0"/>
          </a:p>
          <a:p>
            <a:pPr marL="203200" indent="-2032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2EEFF"/>
                </a:solidFill>
              </a:rPr>
              <a:t>2 IDENTICAL body cells, diploid (46)</a:t>
            </a:r>
            <a:endParaRPr lang="en-US" sz="2400" dirty="0"/>
          </a:p>
          <a:p>
            <a:pPr marL="203200" indent="-2032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2EEFF"/>
                </a:solidFill>
              </a:rPr>
              <a:t>Growth and repair</a:t>
            </a:r>
            <a:endParaRPr lang="en-US" sz="2400" dirty="0"/>
          </a:p>
          <a:p>
            <a:pPr marL="203200" indent="-2032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2EEFF"/>
                </a:solidFill>
              </a:rPr>
              <a:t>PMAT: Prophase, Metaphase (Middle), Anaphase (Apart), Telophase (Two nuclei)</a:t>
            </a:r>
            <a:endParaRPr lang="en-US" sz="2400" dirty="0"/>
          </a:p>
        </p:txBody>
      </p:sp>
      <p:sp>
        <p:nvSpPr>
          <p:cNvPr id="5" name="card_2"/>
          <p:cNvSpPr/>
          <p:nvPr/>
        </p:nvSpPr>
        <p:spPr>
          <a:xfrm>
            <a:off x="7406640" y="361188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Meiosis</a:t>
            </a:r>
            <a:endParaRPr lang="en-US" sz="2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4 UNIQUE sex cells, haploid (23). "Mei-Osis makes Ova."</a:t>
            </a:r>
            <a:endParaRPr lang="en-US" sz="2400" dirty="0"/>
          </a:p>
        </p:txBody>
      </p:sp>
      <p:sp>
        <p:nvSpPr>
          <p:cNvPr id="6" name="cap_3"/>
          <p:cNvSpPr txBox="1"/>
          <p:nvPr/>
        </p:nvSpPr>
        <p:spPr>
          <a:xfrm>
            <a:off x="548640" y="50749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5D6"/>
                </a:solidFill>
              </a:rPr>
              <a:t>The PMAT video plays automatically. Click it to pause or resume.</a:t>
            </a:r>
            <a:endParaRPr lang="en-US" sz="1300" dirty="0"/>
          </a:p>
        </p:txBody>
      </p:sp>
      <p:sp>
        <p:nvSpPr>
          <p:cNvPr id="7" name="chip_4"/>
          <p:cNvSpPr/>
          <p:nvPr/>
        </p:nvSpPr>
        <p:spPr>
          <a:xfrm>
            <a:off x="548640" y="5532120"/>
            <a:ext cx="1426464" cy="640080"/>
          </a:xfrm>
          <a:prstGeom prst="roundRect">
            <a:avLst>
              <a:gd name="adj" fmla="val 14286"/>
            </a:avLst>
          </a:prstGeom>
          <a:solidFill>
            <a:srgbClr val="22275A"/>
          </a:solidFill>
          <a:ln w="19050">
            <a:solidFill>
              <a:srgbClr val="FFD16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8" name="arr_5"/>
          <p:cNvSpPr/>
          <p:nvPr/>
        </p:nvSpPr>
        <p:spPr>
          <a:xfrm>
            <a:off x="2011680" y="573328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9" name="chip_6"/>
          <p:cNvSpPr/>
          <p:nvPr/>
        </p:nvSpPr>
        <p:spPr>
          <a:xfrm>
            <a:off x="2267712" y="5532120"/>
            <a:ext cx="1426464" cy="640080"/>
          </a:xfrm>
          <a:prstGeom prst="roundRect">
            <a:avLst>
              <a:gd name="adj" fmla="val 14286"/>
            </a:avLst>
          </a:prstGeom>
          <a:solidFill>
            <a:srgbClr val="22275A"/>
          </a:solidFill>
          <a:ln w="19050">
            <a:solidFill>
              <a:srgbClr val="FFD16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10" name="arr_7"/>
          <p:cNvSpPr/>
          <p:nvPr/>
        </p:nvSpPr>
        <p:spPr>
          <a:xfrm>
            <a:off x="3730752" y="573328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1" name="chip_8"/>
          <p:cNvSpPr/>
          <p:nvPr/>
        </p:nvSpPr>
        <p:spPr>
          <a:xfrm>
            <a:off x="3986784" y="5532120"/>
            <a:ext cx="1426464" cy="640080"/>
          </a:xfrm>
          <a:prstGeom prst="roundRect">
            <a:avLst>
              <a:gd name="adj" fmla="val 14286"/>
            </a:avLst>
          </a:prstGeom>
          <a:solidFill>
            <a:srgbClr val="22275A"/>
          </a:solidFill>
          <a:ln w="19050">
            <a:solidFill>
              <a:srgbClr val="FFD16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arr_9"/>
          <p:cNvSpPr/>
          <p:nvPr/>
        </p:nvSpPr>
        <p:spPr>
          <a:xfrm>
            <a:off x="5449824" y="573328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3" name="chip_10"/>
          <p:cNvSpPr/>
          <p:nvPr/>
        </p:nvSpPr>
        <p:spPr>
          <a:xfrm>
            <a:off x="5705856" y="5532120"/>
            <a:ext cx="1426464" cy="640080"/>
          </a:xfrm>
          <a:prstGeom prst="roundRect">
            <a:avLst>
              <a:gd name="adj" fmla="val 14286"/>
            </a:avLst>
          </a:prstGeom>
          <a:solidFill>
            <a:srgbClr val="22275A"/>
          </a:solidFill>
          <a:ln w="19050">
            <a:solidFill>
              <a:srgbClr val="FFD16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60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 → RNA → protein</a:t>
            </a:r>
            <a:endParaRPr lang="en-US" sz="3600" dirty="0"/>
          </a:p>
        </p:txBody>
      </p:sp>
      <p:sp>
        <p:nvSpPr>
          <p:cNvPr id="3" name="chip_1"/>
          <p:cNvSpPr/>
          <p:nvPr/>
        </p:nvSpPr>
        <p:spPr>
          <a:xfrm>
            <a:off x="548640" y="137160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4" name="chip_2"/>
          <p:cNvSpPr/>
          <p:nvPr/>
        </p:nvSpPr>
        <p:spPr>
          <a:xfrm>
            <a:off x="2011680" y="137160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000" dirty="0"/>
          </a:p>
        </p:txBody>
      </p:sp>
      <p:sp>
        <p:nvSpPr>
          <p:cNvPr id="5" name="hk_3"/>
          <p:cNvSpPr txBox="1"/>
          <p:nvPr/>
        </p:nvSpPr>
        <p:spPr>
          <a:xfrm>
            <a:off x="54864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B949"/>
                </a:solidFill>
              </a:rPr>
              <a:t>"Apple in the Tree"</a:t>
            </a:r>
            <a:endParaRPr lang="en-US" sz="1600" dirty="0"/>
          </a:p>
        </p:txBody>
      </p:sp>
      <p:sp>
        <p:nvSpPr>
          <p:cNvPr id="6" name="chip_4"/>
          <p:cNvSpPr/>
          <p:nvPr/>
        </p:nvSpPr>
        <p:spPr>
          <a:xfrm>
            <a:off x="3474720" y="137160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22275A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4000" dirty="0"/>
          </a:p>
        </p:txBody>
      </p:sp>
      <p:sp>
        <p:nvSpPr>
          <p:cNvPr id="7" name="chip_5"/>
          <p:cNvSpPr/>
          <p:nvPr/>
        </p:nvSpPr>
        <p:spPr>
          <a:xfrm>
            <a:off x="4937760" y="137160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22275A"/>
          </a:solidFill>
          <a:ln w="19050">
            <a:solidFill>
              <a:srgbClr val="7FE0A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4000" dirty="0"/>
          </a:p>
        </p:txBody>
      </p:sp>
      <p:sp>
        <p:nvSpPr>
          <p:cNvPr id="8" name="hk_6"/>
          <p:cNvSpPr txBox="1"/>
          <p:nvPr/>
        </p:nvSpPr>
        <p:spPr>
          <a:xfrm>
            <a:off x="347472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B949"/>
                </a:solidFill>
              </a:rPr>
              <a:t>"Car in the Garage"</a:t>
            </a:r>
            <a:endParaRPr lang="en-US" sz="1600" dirty="0"/>
          </a:p>
        </p:txBody>
      </p:sp>
      <p:sp>
        <p:nvSpPr>
          <p:cNvPr id="9" name="card_7"/>
          <p:cNvSpPr/>
          <p:nvPr/>
        </p:nvSpPr>
        <p:spPr>
          <a:xfrm>
            <a:off x="6492240" y="137160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swaps T for U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In RNA, A pairs with U (A–U).</a:t>
            </a:r>
            <a:endParaRPr lang="en-US" sz="2000" dirty="0"/>
          </a:p>
        </p:txBody>
      </p:sp>
      <p:sp>
        <p:nvSpPr>
          <p:cNvPr id="10" name="chip_8"/>
          <p:cNvSpPr/>
          <p:nvPr/>
        </p:nvSpPr>
        <p:spPr>
          <a:xfrm>
            <a:off x="548640" y="3291840"/>
            <a:ext cx="3493008" cy="868680"/>
          </a:xfrm>
          <a:prstGeom prst="roundRect">
            <a:avLst>
              <a:gd name="adj" fmla="val 10526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2200" dirty="0"/>
          </a:p>
        </p:txBody>
      </p:sp>
      <p:sp>
        <p:nvSpPr>
          <p:cNvPr id="11" name="arr_9"/>
          <p:cNvSpPr/>
          <p:nvPr/>
        </p:nvSpPr>
        <p:spPr>
          <a:xfrm>
            <a:off x="4078224" y="360730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2" name="chip_10"/>
          <p:cNvSpPr/>
          <p:nvPr/>
        </p:nvSpPr>
        <p:spPr>
          <a:xfrm>
            <a:off x="4334256" y="3291840"/>
            <a:ext cx="3493008" cy="868680"/>
          </a:xfrm>
          <a:prstGeom prst="roundRect">
            <a:avLst>
              <a:gd name="adj" fmla="val 10526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</a:t>
            </a:r>
            <a:endParaRPr lang="en-US" sz="2200" dirty="0"/>
          </a:p>
        </p:txBody>
      </p:sp>
      <p:sp>
        <p:nvSpPr>
          <p:cNvPr id="13" name="arr_11"/>
          <p:cNvSpPr/>
          <p:nvPr/>
        </p:nvSpPr>
        <p:spPr>
          <a:xfrm>
            <a:off x="7863840" y="360730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4" name="chip_12"/>
          <p:cNvSpPr/>
          <p:nvPr/>
        </p:nvSpPr>
        <p:spPr>
          <a:xfrm>
            <a:off x="8119872" y="3291840"/>
            <a:ext cx="3493008" cy="868680"/>
          </a:xfrm>
          <a:prstGeom prst="roundRect">
            <a:avLst>
              <a:gd name="adj" fmla="val 10526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2200" dirty="0"/>
          </a:p>
        </p:txBody>
      </p:sp>
      <p:sp>
        <p:nvSpPr>
          <p:cNvPr id="15" name="l1_13"/>
          <p:cNvSpPr txBox="1"/>
          <p:nvPr/>
        </p:nvSpPr>
        <p:spPr>
          <a:xfrm>
            <a:off x="1463040" y="4206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E0D6"/>
                </a:solidFill>
              </a:rPr>
              <a:t>Transcription (in the nucleus)</a:t>
            </a:r>
            <a:endParaRPr lang="en-US" sz="1500" dirty="0"/>
          </a:p>
        </p:txBody>
      </p:sp>
      <p:sp>
        <p:nvSpPr>
          <p:cNvPr id="16" name="l2_14"/>
          <p:cNvSpPr txBox="1"/>
          <p:nvPr/>
        </p:nvSpPr>
        <p:spPr>
          <a:xfrm>
            <a:off x="6126480" y="4206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B949"/>
                </a:solidFill>
              </a:rPr>
              <a:t>Translation (at the ribosome)</a:t>
            </a:r>
            <a:endParaRPr lang="en-US" sz="1500" dirty="0"/>
          </a:p>
        </p:txBody>
      </p:sp>
      <p:sp>
        <p:nvSpPr>
          <p:cNvPr id="17" name="card_15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E9B949"/>
                </a:solidFill>
              </a:rPr>
              <a:t>DNA</a:t>
            </a:r>
            <a:r>
              <a:rPr lang="en-US" sz="1900" dirty="0">
                <a:solidFill>
                  <a:srgbClr val="F2EEFF"/>
                </a:solidFill>
              </a:rPr>
              <a:t> = double helix, deoxyribose.     </a:t>
            </a:r>
            <a:r>
              <a:rPr lang="en-US" sz="1900" b="1" dirty="0">
                <a:solidFill>
                  <a:srgbClr val="E9B949"/>
                </a:solidFill>
              </a:rPr>
              <a:t>RNA</a:t>
            </a:r>
            <a:r>
              <a:rPr lang="en-US" sz="1900" dirty="0">
                <a:solidFill>
                  <a:srgbClr val="F2EEFF"/>
                </a:solidFill>
              </a:rPr>
              <a:t> = single strand, ribose.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Genetics: the Punnett square</a:t>
            </a:r>
            <a:endParaRPr lang="en-US" sz="3600" dirty="0"/>
          </a:p>
        </p:txBody>
      </p:sp>
      <p:sp>
        <p:nvSpPr>
          <p:cNvPr id="3" name="chip_1"/>
          <p:cNvSpPr/>
          <p:nvPr/>
        </p:nvSpPr>
        <p:spPr>
          <a:xfrm>
            <a:off x="2240280" y="141732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B0D1C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4" name="chip_2"/>
          <p:cNvSpPr/>
          <p:nvPr/>
        </p:nvSpPr>
        <p:spPr>
          <a:xfrm>
            <a:off x="3657600" y="141732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B0D1C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5" name="chip_3"/>
          <p:cNvSpPr/>
          <p:nvPr/>
        </p:nvSpPr>
        <p:spPr>
          <a:xfrm>
            <a:off x="822960" y="265176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B0D1C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6" name="pn_11"/>
          <p:cNvSpPr/>
          <p:nvPr/>
        </p:nvSpPr>
        <p:spPr>
          <a:xfrm>
            <a:off x="2240280" y="265176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9B5D6"/>
                </a:solidFill>
              </a:rPr>
              <a:t>?</a:t>
            </a:r>
            <a:endParaRPr lang="en-US" sz="3000" dirty="0"/>
          </a:p>
        </p:txBody>
      </p:sp>
      <p:sp>
        <p:nvSpPr>
          <p:cNvPr id="7" name="pr_11"/>
          <p:cNvSpPr/>
          <p:nvPr/>
        </p:nvSpPr>
        <p:spPr>
          <a:xfrm>
            <a:off x="2240280" y="265176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EEFF"/>
                </a:solidFill>
              </a:rPr>
              <a:t>BB</a:t>
            </a:r>
            <a:endParaRPr lang="en-US" sz="3200" dirty="0"/>
          </a:p>
        </p:txBody>
      </p:sp>
      <p:sp>
        <p:nvSpPr>
          <p:cNvPr id="8" name="pn_12"/>
          <p:cNvSpPr/>
          <p:nvPr/>
        </p:nvSpPr>
        <p:spPr>
          <a:xfrm>
            <a:off x="3657600" y="265176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9B5D6"/>
                </a:solidFill>
              </a:rPr>
              <a:t>?</a:t>
            </a:r>
            <a:endParaRPr lang="en-US" sz="3000" dirty="0"/>
          </a:p>
        </p:txBody>
      </p:sp>
      <p:sp>
        <p:nvSpPr>
          <p:cNvPr id="9" name="pr_12"/>
          <p:cNvSpPr/>
          <p:nvPr/>
        </p:nvSpPr>
        <p:spPr>
          <a:xfrm>
            <a:off x="3657600" y="265176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EEFF"/>
                </a:solidFill>
              </a:rPr>
              <a:t>Bb</a:t>
            </a:r>
            <a:endParaRPr lang="en-US" sz="3200" dirty="0"/>
          </a:p>
        </p:txBody>
      </p:sp>
      <p:sp>
        <p:nvSpPr>
          <p:cNvPr id="10" name="chip_4"/>
          <p:cNvSpPr/>
          <p:nvPr/>
        </p:nvSpPr>
        <p:spPr>
          <a:xfrm>
            <a:off x="822960" y="38862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B0D1C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1" name="pn_21"/>
          <p:cNvSpPr/>
          <p:nvPr/>
        </p:nvSpPr>
        <p:spPr>
          <a:xfrm>
            <a:off x="2240280" y="38862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9B5D6"/>
                </a:solidFill>
              </a:rPr>
              <a:t>?</a:t>
            </a:r>
            <a:endParaRPr lang="en-US" sz="3000" dirty="0"/>
          </a:p>
        </p:txBody>
      </p:sp>
      <p:sp>
        <p:nvSpPr>
          <p:cNvPr id="12" name="pr_21"/>
          <p:cNvSpPr/>
          <p:nvPr/>
        </p:nvSpPr>
        <p:spPr>
          <a:xfrm>
            <a:off x="2240280" y="38862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EEFF"/>
                </a:solidFill>
              </a:rPr>
              <a:t>Bb</a:t>
            </a:r>
            <a:endParaRPr lang="en-US" sz="3200" dirty="0"/>
          </a:p>
        </p:txBody>
      </p:sp>
      <p:sp>
        <p:nvSpPr>
          <p:cNvPr id="13" name="pn_22"/>
          <p:cNvSpPr/>
          <p:nvPr/>
        </p:nvSpPr>
        <p:spPr>
          <a:xfrm>
            <a:off x="3657600" y="38862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9B5D6"/>
                </a:solidFill>
              </a:rPr>
              <a:t>?</a:t>
            </a:r>
            <a:endParaRPr lang="en-US" sz="3000" dirty="0"/>
          </a:p>
        </p:txBody>
      </p:sp>
      <p:sp>
        <p:nvSpPr>
          <p:cNvPr id="14" name="pr_22"/>
          <p:cNvSpPr/>
          <p:nvPr/>
        </p:nvSpPr>
        <p:spPr>
          <a:xfrm>
            <a:off x="3657600" y="38862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5A2A3A"/>
          </a:solidFill>
          <a:ln w="25400">
            <a:solidFill>
              <a:srgbClr val="FF6B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EEFF"/>
                </a:solidFill>
              </a:rPr>
              <a:t>bb</a:t>
            </a:r>
            <a:endParaRPr lang="en-US" sz="3200" dirty="0"/>
          </a:p>
        </p:txBody>
      </p:sp>
      <p:sp>
        <p:nvSpPr>
          <p:cNvPr id="15" name="tt_5"/>
          <p:cNvSpPr txBox="1"/>
          <p:nvPr/>
        </p:nvSpPr>
        <p:spPr>
          <a:xfrm>
            <a:off x="822960" y="5166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B949"/>
                </a:solidFill>
              </a:rPr>
              <a:t>Bb × Bb   (click each "?")</a:t>
            </a:r>
            <a:endParaRPr lang="en-US" sz="1800" dirty="0"/>
          </a:p>
        </p:txBody>
      </p:sp>
      <p:sp>
        <p:nvSpPr>
          <p:cNvPr id="16" name="card_6"/>
          <p:cNvSpPr/>
          <p:nvPr/>
        </p:nvSpPr>
        <p:spPr>
          <a:xfrm>
            <a:off x="5486400" y="1417320"/>
            <a:ext cx="6126480" cy="1463040"/>
          </a:xfrm>
          <a:prstGeom prst="roundRect">
            <a:avLst>
              <a:gd name="adj" fmla="val 75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E9B949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BB : 2 Bb : 1 bb</a:t>
            </a:r>
            <a:endParaRPr lang="en-US" sz="2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800" dirty="0">
                <a:solidFill>
                  <a:srgbClr val="F2EEFF"/>
                </a:solidFill>
              </a:rPr>
              <a:t>→ 3 : 1 dominant to recessive look (75% / 25%)</a:t>
            </a:r>
            <a:endParaRPr lang="en-US" sz="2800" dirty="0"/>
          </a:p>
        </p:txBody>
      </p:sp>
      <p:sp>
        <p:nvSpPr>
          <p:cNvPr id="17" name="card_7"/>
          <p:cNvSpPr/>
          <p:nvPr/>
        </p:nvSpPr>
        <p:spPr>
          <a:xfrm>
            <a:off x="5486400" y="306324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FE0D6"/>
                </a:solidFill>
              </a:rPr>
              <a:t>Dominant = capital (B); recessive = lowercase (b). </a:t>
            </a:r>
            <a:r>
              <a:rPr lang="en-US" sz="1500" dirty="0">
                <a:solidFill>
                  <a:srgbClr val="F2EEFF"/>
                </a:solidFill>
              </a:rPr>
              <a:t>Recessive shows only as bb.</a:t>
            </a:r>
            <a:endParaRPr lang="en-US" sz="1500" dirty="0"/>
          </a:p>
        </p:txBody>
      </p:sp>
      <p:sp>
        <p:nvSpPr>
          <p:cNvPr id="18" name="card_8"/>
          <p:cNvSpPr/>
          <p:nvPr/>
        </p:nvSpPr>
        <p:spPr>
          <a:xfrm>
            <a:off x="8595360" y="306324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FE0D6"/>
                </a:solidFill>
              </a:rPr>
              <a:t>Genotype = the letters. </a:t>
            </a:r>
            <a:r>
              <a:rPr lang="en-US" sz="1500" dirty="0">
                <a:solidFill>
                  <a:srgbClr val="F2EEFF"/>
                </a:solidFill>
              </a:rPr>
              <a:t>Phenotype = what you see.</a:t>
            </a:r>
            <a:endParaRPr lang="en-US" sz="1500" dirty="0"/>
          </a:p>
        </p:txBody>
      </p:sp>
      <p:sp>
        <p:nvSpPr>
          <p:cNvPr id="19" name="card_9"/>
          <p:cNvSpPr/>
          <p:nvPr/>
        </p:nvSpPr>
        <p:spPr>
          <a:xfrm>
            <a:off x="5486400" y="461772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FE0D6"/>
                </a:solidFill>
              </a:rPr>
              <a:t>Codominance = both show </a:t>
            </a:r>
            <a:r>
              <a:rPr lang="en-US" sz="1500" dirty="0">
                <a:solidFill>
                  <a:srgbClr val="F2EEFF"/>
                </a:solidFill>
              </a:rPr>
              <a:t>(AB blood).</a:t>
            </a:r>
            <a:endParaRPr lang="en-US" sz="1500" dirty="0"/>
          </a:p>
        </p:txBody>
      </p:sp>
      <p:sp>
        <p:nvSpPr>
          <p:cNvPr id="20" name="card_10"/>
          <p:cNvSpPr/>
          <p:nvPr/>
        </p:nvSpPr>
        <p:spPr>
          <a:xfrm>
            <a:off x="8595360" y="461772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FE0D6"/>
                </a:solidFill>
              </a:rPr>
              <a:t>Incomplete dominance = blend </a:t>
            </a:r>
            <a:r>
              <a:rPr lang="en-US" sz="1500" dirty="0">
                <a:solidFill>
                  <a:srgbClr val="F2EEFF"/>
                </a:solidFill>
              </a:rPr>
              <a:t>(red × white = pink).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Macromolecules: "CLiP N"</a:t>
            </a:r>
            <a:endParaRPr lang="en-US" sz="3600" dirty="0"/>
          </a:p>
        </p:txBody>
      </p:sp>
      <p:sp>
        <p:nvSpPr>
          <p:cNvPr id="3" name="dot_1"/>
          <p:cNvSpPr/>
          <p:nvPr/>
        </p:nvSpPr>
        <p:spPr>
          <a:xfrm>
            <a:off x="1371600" y="1325880"/>
            <a:ext cx="960120" cy="9601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E9B949"/>
            </a:solidFill>
            <a:prstDash val="solid"/>
          </a:ln>
        </p:spPr>
      </p:sp>
      <p:pic>
        <p:nvPicPr>
          <p:cNvPr id="4" name="ico_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422" y="1498702"/>
            <a:ext cx="614477" cy="614477"/>
          </a:xfrm>
          <a:prstGeom prst="rect">
            <a:avLst/>
          </a:prstGeom>
        </p:spPr>
      </p:pic>
      <p:sp>
        <p:nvSpPr>
          <p:cNvPr id="5" name="card_3"/>
          <p:cNvSpPr/>
          <p:nvPr/>
        </p:nvSpPr>
        <p:spPr>
          <a:xfrm>
            <a:off x="548640" y="2423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Carbohydrates</a:t>
            </a:r>
            <a:endParaRPr lang="en-US" sz="19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2EEFF"/>
                </a:solidFill>
              </a:rPr>
              <a:t>Built from: </a:t>
            </a:r>
            <a:r>
              <a:rPr lang="en-US" sz="1500" dirty="0">
                <a:solidFill>
                  <a:srgbClr val="F2EEFF"/>
                </a:solidFill>
              </a:rPr>
              <a:t>Monosaccharides (glucose)</a:t>
            </a:r>
            <a:endParaRPr lang="en-US" sz="19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2EEFF"/>
                </a:solidFill>
              </a:rPr>
              <a:t>Job: </a:t>
            </a:r>
            <a:r>
              <a:rPr lang="en-US" sz="1500" dirty="0">
                <a:solidFill>
                  <a:srgbClr val="F2EEFF"/>
                </a:solidFill>
              </a:rPr>
              <a:t>Quick energy</a:t>
            </a:r>
            <a:endParaRPr lang="en-US" sz="1900" dirty="0"/>
          </a:p>
        </p:txBody>
      </p:sp>
      <p:sp>
        <p:nvSpPr>
          <p:cNvPr id="6" name="dot_4"/>
          <p:cNvSpPr/>
          <p:nvPr/>
        </p:nvSpPr>
        <p:spPr>
          <a:xfrm>
            <a:off x="4178808" y="1325880"/>
            <a:ext cx="960120" cy="9601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FF6B4A"/>
            </a:solidFill>
            <a:prstDash val="solid"/>
          </a:ln>
        </p:spPr>
      </p:sp>
      <p:pic>
        <p:nvPicPr>
          <p:cNvPr id="7" name="ico_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630" y="1498702"/>
            <a:ext cx="614477" cy="614477"/>
          </a:xfrm>
          <a:prstGeom prst="rect">
            <a:avLst/>
          </a:prstGeom>
        </p:spPr>
      </p:pic>
      <p:sp>
        <p:nvSpPr>
          <p:cNvPr id="8" name="card_6"/>
          <p:cNvSpPr/>
          <p:nvPr/>
        </p:nvSpPr>
        <p:spPr>
          <a:xfrm>
            <a:off x="3355848" y="2423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· Lipids</a:t>
            </a:r>
            <a:endParaRPr lang="en-US" sz="19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2EEFF"/>
                </a:solidFill>
              </a:rPr>
              <a:t>Built from: </a:t>
            </a:r>
            <a:r>
              <a:rPr lang="en-US" sz="1500" dirty="0">
                <a:solidFill>
                  <a:srgbClr val="F2EEFF"/>
                </a:solidFill>
              </a:rPr>
              <a:t>Fatty acids + glycerol</a:t>
            </a:r>
            <a:endParaRPr lang="en-US" sz="19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2EEFF"/>
                </a:solidFill>
              </a:rPr>
              <a:t>Job: </a:t>
            </a:r>
            <a:r>
              <a:rPr lang="en-US" sz="1500" dirty="0">
                <a:solidFill>
                  <a:srgbClr val="F2EEFF"/>
                </a:solidFill>
              </a:rPr>
              <a:t>Long-term energy, membranes, hormones</a:t>
            </a:r>
            <a:endParaRPr lang="en-US" sz="1900" dirty="0"/>
          </a:p>
        </p:txBody>
      </p:sp>
      <p:sp>
        <p:nvSpPr>
          <p:cNvPr id="9" name="dot_7"/>
          <p:cNvSpPr/>
          <p:nvPr/>
        </p:nvSpPr>
        <p:spPr>
          <a:xfrm>
            <a:off x="6986016" y="1325880"/>
            <a:ext cx="960120" cy="9601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10" name="ico_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838" y="1498702"/>
            <a:ext cx="614477" cy="614477"/>
          </a:xfrm>
          <a:prstGeom prst="rect">
            <a:avLst/>
          </a:prstGeom>
        </p:spPr>
      </p:pic>
      <p:sp>
        <p:nvSpPr>
          <p:cNvPr id="11" name="card_9"/>
          <p:cNvSpPr/>
          <p:nvPr/>
        </p:nvSpPr>
        <p:spPr>
          <a:xfrm>
            <a:off x="6163056" y="2423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· Proteins</a:t>
            </a:r>
            <a:endParaRPr lang="en-US" sz="19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2EEFF"/>
                </a:solidFill>
              </a:rPr>
              <a:t>Built from: </a:t>
            </a:r>
            <a:r>
              <a:rPr lang="en-US" sz="1500" dirty="0">
                <a:solidFill>
                  <a:srgbClr val="F2EEFF"/>
                </a:solidFill>
              </a:rPr>
              <a:t>Amino acids</a:t>
            </a:r>
            <a:endParaRPr lang="en-US" sz="19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2EEFF"/>
                </a:solidFill>
              </a:rPr>
              <a:t>Job: </a:t>
            </a:r>
            <a:r>
              <a:rPr lang="en-US" sz="1500" dirty="0">
                <a:solidFill>
                  <a:srgbClr val="F2EEFF"/>
                </a:solidFill>
              </a:rPr>
              <a:t>Enzymes, structure, antibodies</a:t>
            </a:r>
            <a:endParaRPr lang="en-US" sz="1900" dirty="0"/>
          </a:p>
        </p:txBody>
      </p:sp>
      <p:sp>
        <p:nvSpPr>
          <p:cNvPr id="12" name="dot_10"/>
          <p:cNvSpPr/>
          <p:nvPr/>
        </p:nvSpPr>
        <p:spPr>
          <a:xfrm>
            <a:off x="9793224" y="1325880"/>
            <a:ext cx="960120" cy="9601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B48CFF"/>
            </a:solidFill>
            <a:prstDash val="solid"/>
          </a:ln>
        </p:spPr>
      </p:sp>
      <p:pic>
        <p:nvPicPr>
          <p:cNvPr id="13" name="ico_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046" y="1498702"/>
            <a:ext cx="614477" cy="614477"/>
          </a:xfrm>
          <a:prstGeom prst="rect">
            <a:avLst/>
          </a:prstGeom>
        </p:spPr>
      </p:pic>
      <p:sp>
        <p:nvSpPr>
          <p:cNvPr id="14" name="card_12"/>
          <p:cNvSpPr/>
          <p:nvPr/>
        </p:nvSpPr>
        <p:spPr>
          <a:xfrm>
            <a:off x="8970264" y="2423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4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Nucleic acids</a:t>
            </a:r>
            <a:endParaRPr lang="en-US" sz="19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2EEFF"/>
                </a:solidFill>
              </a:rPr>
              <a:t>Built from: </a:t>
            </a:r>
            <a:r>
              <a:rPr lang="en-US" sz="1500" dirty="0">
                <a:solidFill>
                  <a:srgbClr val="F2EEFF"/>
                </a:solidFill>
              </a:rPr>
              <a:t>Nucleotides</a:t>
            </a:r>
            <a:endParaRPr lang="en-US" sz="19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2EEFF"/>
                </a:solidFill>
              </a:rPr>
              <a:t>Job: </a:t>
            </a:r>
            <a:r>
              <a:rPr lang="en-US" sz="1500" dirty="0">
                <a:solidFill>
                  <a:srgbClr val="F2EEFF"/>
                </a:solidFill>
              </a:rPr>
              <a:t>DNA/RNA (genetic info)</a:t>
            </a:r>
            <a:endParaRPr lang="en-US" sz="1900" dirty="0"/>
          </a:p>
        </p:txBody>
      </p:sp>
      <p:sp>
        <p:nvSpPr>
          <p:cNvPr id="15" name="card_13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Microorganisms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Bacteria (no nucleus; treated with antibiotics) · Viruses (not cells; need a host; antibiotics don't work) · Fungi (yeast, mold) · Protozoa (malaria parasite)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atom: "PEN"</a:t>
            </a:r>
            <a:endParaRPr lang="en-US" sz="3600" dirty="0"/>
          </a:p>
        </p:txBody>
      </p:sp>
      <p:pic>
        <p:nvPicPr>
          <p:cNvPr id="3" name="atom_1" descr="/home/claude/teas-slides/assets/a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4023360" cy="4023360"/>
          </a:xfrm>
          <a:prstGeom prst="rect">
            <a:avLst/>
          </a:prstGeom>
        </p:spPr>
      </p:pic>
      <p:sp>
        <p:nvSpPr>
          <p:cNvPr id="4" name="card_2"/>
          <p:cNvSpPr/>
          <p:nvPr/>
        </p:nvSpPr>
        <p:spPr>
          <a:xfrm>
            <a:off x="4937760" y="1280160"/>
            <a:ext cx="6675120" cy="1078992"/>
          </a:xfrm>
          <a:prstGeom prst="roundRect">
            <a:avLst>
              <a:gd name="adj" fmla="val 1016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6B4A"/>
                </a:solidFill>
              </a:rPr>
              <a:t>P   </a:t>
            </a:r>
            <a:r>
              <a:rPr lang="en-US" sz="1600" b="1" dirty="0">
                <a:solidFill>
                  <a:srgbClr val="F2EEFF"/>
                </a:solidFill>
              </a:rPr>
              <a:t>Protons = Positive, in the nucleus. </a:t>
            </a:r>
            <a:r>
              <a:rPr lang="en-US" sz="1600" dirty="0">
                <a:solidFill>
                  <a:srgbClr val="F2EEFF"/>
                </a:solidFill>
              </a:rPr>
              <a:t>Atomic number = # of protons (identifies the element).</a:t>
            </a:r>
            <a:endParaRPr lang="en-US" sz="2600" dirty="0"/>
          </a:p>
        </p:txBody>
      </p:sp>
      <p:sp>
        <p:nvSpPr>
          <p:cNvPr id="5" name="card_3"/>
          <p:cNvSpPr/>
          <p:nvPr/>
        </p:nvSpPr>
        <p:spPr>
          <a:xfrm>
            <a:off x="4937760" y="2487168"/>
            <a:ext cx="6675120" cy="1078992"/>
          </a:xfrm>
          <a:prstGeom prst="roundRect">
            <a:avLst>
              <a:gd name="adj" fmla="val 1016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6FE0D6"/>
                </a:solidFill>
              </a:rPr>
              <a:t>E   </a:t>
            </a:r>
            <a:r>
              <a:rPr lang="en-US" sz="1600" b="1" dirty="0">
                <a:solidFill>
                  <a:srgbClr val="F2EEFF"/>
                </a:solidFill>
              </a:rPr>
              <a:t>Electrons = negative, orbit the nucleus. </a:t>
            </a:r>
            <a:r>
              <a:rPr lang="en-US" sz="1600" dirty="0">
                <a:solidFill>
                  <a:srgbClr val="F2EEFF"/>
                </a:solidFill>
              </a:rPr>
              <a:t>Neutral atom: electrons = protons.</a:t>
            </a:r>
            <a:endParaRPr lang="en-US" sz="2600" dirty="0"/>
          </a:p>
        </p:txBody>
      </p:sp>
      <p:sp>
        <p:nvSpPr>
          <p:cNvPr id="6" name="card_4"/>
          <p:cNvSpPr/>
          <p:nvPr/>
        </p:nvSpPr>
        <p:spPr>
          <a:xfrm>
            <a:off x="4937760" y="3694176"/>
            <a:ext cx="6675120" cy="1078992"/>
          </a:xfrm>
          <a:prstGeom prst="roundRect">
            <a:avLst>
              <a:gd name="adj" fmla="val 1016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C9C9DE"/>
                </a:solidFill>
              </a:rPr>
              <a:t>N   </a:t>
            </a:r>
            <a:r>
              <a:rPr lang="en-US" sz="1600" b="1" dirty="0">
                <a:solidFill>
                  <a:srgbClr val="F2EEFF"/>
                </a:solidFill>
              </a:rPr>
              <a:t>Neutrons = Neutral, in the nucleus. </a:t>
            </a:r>
            <a:r>
              <a:rPr lang="en-US" sz="1600" dirty="0">
                <a:solidFill>
                  <a:srgbClr val="F2EEFF"/>
                </a:solidFill>
              </a:rPr>
              <a:t>Mass number = protons + neutrons.</a:t>
            </a:r>
            <a:endParaRPr lang="en-US" sz="2600" dirty="0"/>
          </a:p>
        </p:txBody>
      </p:sp>
      <p:sp>
        <p:nvSpPr>
          <p:cNvPr id="7" name="card_5"/>
          <p:cNvSpPr/>
          <p:nvPr/>
        </p:nvSpPr>
        <p:spPr>
          <a:xfrm>
            <a:off x="4937760" y="4937760"/>
            <a:ext cx="6675120" cy="1234440"/>
          </a:xfrm>
          <a:prstGeom prst="roundRect">
            <a:avLst>
              <a:gd name="adj" fmla="val 888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9B949"/>
                </a:solidFill>
              </a:rPr>
              <a:t>Isotope</a:t>
            </a:r>
            <a:r>
              <a:rPr lang="en-US" sz="1600" dirty="0">
                <a:solidFill>
                  <a:srgbClr val="F2EEFF"/>
                </a:solidFill>
              </a:rPr>
              <a:t> = same protons, different neutrons.  </a:t>
            </a:r>
            <a:r>
              <a:rPr lang="en-US" sz="1600" b="1" dirty="0">
                <a:solidFill>
                  <a:srgbClr val="E9B949"/>
                </a:solidFill>
              </a:rPr>
              <a:t>Ion</a:t>
            </a:r>
            <a:r>
              <a:rPr lang="en-US" sz="1600" dirty="0">
                <a:solidFill>
                  <a:srgbClr val="F2EEFF"/>
                </a:solidFill>
              </a:rPr>
              <a:t> = gained/lost electrons.  </a:t>
            </a:r>
            <a:r>
              <a:rPr lang="en-US" sz="1600" b="1" dirty="0">
                <a:solidFill>
                  <a:srgbClr val="E9B949"/>
                </a:solidFill>
              </a:rPr>
              <a:t>Valence electrons</a:t>
            </a:r>
            <a:r>
              <a:rPr lang="en-US" sz="1600" dirty="0">
                <a:solidFill>
                  <a:srgbClr val="F2EEFF"/>
                </a:solidFill>
              </a:rPr>
              <a:t> = outer shell; decide bonding.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Bonds &amp; reaction types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280160"/>
            <a:ext cx="4937760" cy="1078992"/>
          </a:xfrm>
          <a:prstGeom prst="roundRect">
            <a:avLst>
              <a:gd name="adj" fmla="val 1016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= electrons GIVEN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Metal + nonmetal (NaCl). "Ionic = I give."</a:t>
            </a:r>
            <a:endParaRPr lang="en-US" sz="1700" dirty="0"/>
          </a:p>
        </p:txBody>
      </p:sp>
      <p:sp>
        <p:nvSpPr>
          <p:cNvPr id="4" name="card_2"/>
          <p:cNvSpPr/>
          <p:nvPr/>
        </p:nvSpPr>
        <p:spPr>
          <a:xfrm>
            <a:off x="548640" y="2487168"/>
            <a:ext cx="4937760" cy="1078992"/>
          </a:xfrm>
          <a:prstGeom prst="roundRect">
            <a:avLst>
              <a:gd name="adj" fmla="val 1016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Covalent = electrons SHARED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Nonmetal + nonmetal (H₂O). "Co = cooperate."</a:t>
            </a:r>
            <a:endParaRPr lang="en-US" sz="1700" dirty="0"/>
          </a:p>
        </p:txBody>
      </p:sp>
      <p:sp>
        <p:nvSpPr>
          <p:cNvPr id="5" name="card_3"/>
          <p:cNvSpPr/>
          <p:nvPr/>
        </p:nvSpPr>
        <p:spPr>
          <a:xfrm>
            <a:off x="548640" y="3694176"/>
            <a:ext cx="4937760" cy="1078992"/>
          </a:xfrm>
          <a:prstGeom prst="roundRect">
            <a:avLst>
              <a:gd name="adj" fmla="val 1016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4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bonds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Weak attractions between water molecules (high surface tension, boiling point).</a:t>
            </a:r>
            <a:endParaRPr lang="en-US" sz="1700" dirty="0"/>
          </a:p>
        </p:txBody>
      </p:sp>
      <p:sp>
        <p:nvSpPr>
          <p:cNvPr id="6" name="card_4"/>
          <p:cNvSpPr/>
          <p:nvPr/>
        </p:nvSpPr>
        <p:spPr>
          <a:xfrm>
            <a:off x="548640" y="4901184"/>
            <a:ext cx="4937760" cy="1078992"/>
          </a:xfrm>
          <a:prstGeom prst="roundRect">
            <a:avLst>
              <a:gd name="adj" fmla="val 10169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Electronegativity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Rises UP and to the RIGHT on the periodic table (fluorine highest).</a:t>
            </a:r>
            <a:endParaRPr lang="en-US" sz="1700" dirty="0"/>
          </a:p>
        </p:txBody>
      </p:sp>
      <p:graphicFrame>
        <p:nvGraphicFramePr>
          <p:cNvPr id="65" name="rx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80160"/>
          <a:ext cx="5897880" cy="9144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Pattern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Hook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Synthesis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A + B → AB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Marriage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Decomposition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AB → A + B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Divorce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Single replacement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A + BC → AC + B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Someone cuts in on the dance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Double replacement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AB + CD → AD + CB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Partner swap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Combustion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Fuel + O₂ → CO₂ + H₂O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Fire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card_5"/>
          <p:cNvSpPr/>
          <p:nvPr/>
        </p:nvSpPr>
        <p:spPr>
          <a:xfrm>
            <a:off x="5760720" y="4754880"/>
            <a:ext cx="5897880" cy="1417320"/>
          </a:xfrm>
          <a:prstGeom prst="roundRect">
            <a:avLst>
              <a:gd name="adj" fmla="val 7742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9B949"/>
                </a:solidFill>
              </a:rPr>
              <a:t>Balancing: </a:t>
            </a:r>
            <a:r>
              <a:rPr lang="en-US" sz="1500" dirty="0">
                <a:solidFill>
                  <a:srgbClr val="F2EEFF"/>
                </a:solidFill>
              </a:rPr>
              <a:t>same number of each atom on both sides; change only the coefficients.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9B949"/>
                </a:solidFill>
              </a:rPr>
              <a:t>Catalyst/enzyme: </a:t>
            </a:r>
            <a:r>
              <a:rPr lang="en-US" sz="1500" dirty="0">
                <a:solidFill>
                  <a:srgbClr val="F2EEFF"/>
                </a:solidFill>
              </a:rPr>
              <a:t>speeds a reaction by lowering activation energy; not used 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Graphic spid="65" grpId="0">
        <p:bldAsOne/>
      </p:bldGraphic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pH, solutions &amp; states of matter</a:t>
            </a:r>
            <a:endParaRPr lang="en-US" sz="3600" dirty="0"/>
          </a:p>
        </p:txBody>
      </p:sp>
      <p:sp>
        <p:nvSpPr>
          <p:cNvPr id="3" name="ph_1"/>
          <p:cNvSpPr/>
          <p:nvPr/>
        </p:nvSpPr>
        <p:spPr>
          <a:xfrm>
            <a:off x="548640" y="1280160"/>
            <a:ext cx="737921" cy="640080"/>
          </a:xfrm>
          <a:prstGeom prst="rect">
            <a:avLst/>
          </a:prstGeom>
          <a:solidFill>
            <a:srgbClr val="E5484D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0</a:t>
            </a:r>
            <a:endParaRPr lang="en-US" sz="1500" dirty="0"/>
          </a:p>
        </p:txBody>
      </p:sp>
      <p:sp>
        <p:nvSpPr>
          <p:cNvPr id="4" name="ph_2"/>
          <p:cNvSpPr/>
          <p:nvPr/>
        </p:nvSpPr>
        <p:spPr>
          <a:xfrm>
            <a:off x="1286561" y="1280160"/>
            <a:ext cx="737921" cy="640080"/>
          </a:xfrm>
          <a:prstGeom prst="rect">
            <a:avLst/>
          </a:prstGeom>
          <a:solidFill>
            <a:srgbClr val="EF6A3B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ph_3"/>
          <p:cNvSpPr/>
          <p:nvPr/>
        </p:nvSpPr>
        <p:spPr>
          <a:xfrm>
            <a:off x="2024482" y="1280160"/>
            <a:ext cx="737921" cy="640080"/>
          </a:xfrm>
          <a:prstGeom prst="rect">
            <a:avLst/>
          </a:prstGeom>
          <a:solidFill>
            <a:srgbClr val="F2A13A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2</a:t>
            </a:r>
            <a:endParaRPr lang="en-US" sz="1500" dirty="0"/>
          </a:p>
        </p:txBody>
      </p:sp>
      <p:sp>
        <p:nvSpPr>
          <p:cNvPr id="6" name="ph_4"/>
          <p:cNvSpPr/>
          <p:nvPr/>
        </p:nvSpPr>
        <p:spPr>
          <a:xfrm>
            <a:off x="2762402" y="1280160"/>
            <a:ext cx="737921" cy="640080"/>
          </a:xfrm>
          <a:prstGeom prst="rect">
            <a:avLst/>
          </a:prstGeom>
          <a:solidFill>
            <a:srgbClr val="F6D04D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ph_5"/>
          <p:cNvSpPr/>
          <p:nvPr/>
        </p:nvSpPr>
        <p:spPr>
          <a:xfrm>
            <a:off x="3500323" y="1280160"/>
            <a:ext cx="737921" cy="640080"/>
          </a:xfrm>
          <a:prstGeom prst="rect">
            <a:avLst/>
          </a:prstGeom>
          <a:solidFill>
            <a:srgbClr val="CDE05A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4</a:t>
            </a:r>
            <a:endParaRPr lang="en-US" sz="1500" dirty="0"/>
          </a:p>
        </p:txBody>
      </p:sp>
      <p:sp>
        <p:nvSpPr>
          <p:cNvPr id="8" name="ph_6"/>
          <p:cNvSpPr/>
          <p:nvPr/>
        </p:nvSpPr>
        <p:spPr>
          <a:xfrm>
            <a:off x="4238244" y="1280160"/>
            <a:ext cx="737921" cy="640080"/>
          </a:xfrm>
          <a:prstGeom prst="rect">
            <a:avLst/>
          </a:prstGeom>
          <a:solidFill>
            <a:srgbClr val="8FD660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5</a:t>
            </a:r>
            <a:endParaRPr lang="en-US" sz="1500" dirty="0"/>
          </a:p>
        </p:txBody>
      </p:sp>
      <p:sp>
        <p:nvSpPr>
          <p:cNvPr id="9" name="ph_7"/>
          <p:cNvSpPr/>
          <p:nvPr/>
        </p:nvSpPr>
        <p:spPr>
          <a:xfrm>
            <a:off x="4976165" y="1280160"/>
            <a:ext cx="737921" cy="640080"/>
          </a:xfrm>
          <a:prstGeom prst="rect">
            <a:avLst/>
          </a:prstGeom>
          <a:solidFill>
            <a:srgbClr val="5CC97A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6</a:t>
            </a:r>
            <a:endParaRPr lang="en-US" sz="1500" dirty="0"/>
          </a:p>
        </p:txBody>
      </p:sp>
      <p:sp>
        <p:nvSpPr>
          <p:cNvPr id="10" name="ph_8"/>
          <p:cNvSpPr/>
          <p:nvPr/>
        </p:nvSpPr>
        <p:spPr>
          <a:xfrm>
            <a:off x="5714086" y="1280160"/>
            <a:ext cx="737921" cy="640080"/>
          </a:xfrm>
          <a:prstGeom prst="rect">
            <a:avLst/>
          </a:prstGeom>
          <a:solidFill>
            <a:srgbClr val="3FBF73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ph_9"/>
          <p:cNvSpPr/>
          <p:nvPr/>
        </p:nvSpPr>
        <p:spPr>
          <a:xfrm>
            <a:off x="6452006" y="1280160"/>
            <a:ext cx="737921" cy="640080"/>
          </a:xfrm>
          <a:prstGeom prst="rect">
            <a:avLst/>
          </a:prstGeom>
          <a:solidFill>
            <a:srgbClr val="3BB3A3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8</a:t>
            </a:r>
            <a:endParaRPr lang="en-US" sz="1500" dirty="0"/>
          </a:p>
        </p:txBody>
      </p:sp>
      <p:sp>
        <p:nvSpPr>
          <p:cNvPr id="12" name="ph_10"/>
          <p:cNvSpPr/>
          <p:nvPr/>
        </p:nvSpPr>
        <p:spPr>
          <a:xfrm>
            <a:off x="7189927" y="1280160"/>
            <a:ext cx="737921" cy="640080"/>
          </a:xfrm>
          <a:prstGeom prst="rect">
            <a:avLst/>
          </a:prstGeom>
          <a:solidFill>
            <a:srgbClr val="3A9BD1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9</a:t>
            </a:r>
            <a:endParaRPr lang="en-US" sz="1500" dirty="0"/>
          </a:p>
        </p:txBody>
      </p:sp>
      <p:sp>
        <p:nvSpPr>
          <p:cNvPr id="13" name="ph_11"/>
          <p:cNvSpPr/>
          <p:nvPr/>
        </p:nvSpPr>
        <p:spPr>
          <a:xfrm>
            <a:off x="7927848" y="1280160"/>
            <a:ext cx="737921" cy="640080"/>
          </a:xfrm>
          <a:prstGeom prst="rect">
            <a:avLst/>
          </a:prstGeom>
          <a:solidFill>
            <a:srgbClr val="4F7FE0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10</a:t>
            </a:r>
            <a:endParaRPr lang="en-US" sz="1500" dirty="0"/>
          </a:p>
        </p:txBody>
      </p:sp>
      <p:sp>
        <p:nvSpPr>
          <p:cNvPr id="14" name="ph_12"/>
          <p:cNvSpPr/>
          <p:nvPr/>
        </p:nvSpPr>
        <p:spPr>
          <a:xfrm>
            <a:off x="8665769" y="1280160"/>
            <a:ext cx="737921" cy="640080"/>
          </a:xfrm>
          <a:prstGeom prst="rect">
            <a:avLst/>
          </a:prstGeom>
          <a:solidFill>
            <a:srgbClr val="6D66E0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11</a:t>
            </a:r>
            <a:endParaRPr lang="en-US" sz="1500" dirty="0"/>
          </a:p>
        </p:txBody>
      </p:sp>
      <p:sp>
        <p:nvSpPr>
          <p:cNvPr id="15" name="ph_13"/>
          <p:cNvSpPr/>
          <p:nvPr/>
        </p:nvSpPr>
        <p:spPr>
          <a:xfrm>
            <a:off x="9403690" y="1280160"/>
            <a:ext cx="737921" cy="640080"/>
          </a:xfrm>
          <a:prstGeom prst="rect">
            <a:avLst/>
          </a:prstGeom>
          <a:solidFill>
            <a:srgbClr val="8A55D8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12</a:t>
            </a:r>
            <a:endParaRPr lang="en-US" sz="1500" dirty="0"/>
          </a:p>
        </p:txBody>
      </p:sp>
      <p:sp>
        <p:nvSpPr>
          <p:cNvPr id="16" name="ph_14"/>
          <p:cNvSpPr/>
          <p:nvPr/>
        </p:nvSpPr>
        <p:spPr>
          <a:xfrm>
            <a:off x="10141610" y="1280160"/>
            <a:ext cx="737921" cy="640080"/>
          </a:xfrm>
          <a:prstGeom prst="rect">
            <a:avLst/>
          </a:prstGeom>
          <a:solidFill>
            <a:srgbClr val="9F48C8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13</a:t>
            </a:r>
            <a:endParaRPr lang="en-US" sz="1500" dirty="0"/>
          </a:p>
        </p:txBody>
      </p:sp>
      <p:sp>
        <p:nvSpPr>
          <p:cNvPr id="17" name="ph_15"/>
          <p:cNvSpPr/>
          <p:nvPr/>
        </p:nvSpPr>
        <p:spPr>
          <a:xfrm>
            <a:off x="10879531" y="1280160"/>
            <a:ext cx="737921" cy="640080"/>
          </a:xfrm>
          <a:prstGeom prst="rect">
            <a:avLst/>
          </a:prstGeom>
          <a:solidFill>
            <a:srgbClr val="A93CB4"/>
          </a:solidFill>
          <a:ln w="6350">
            <a:solidFill>
              <a:srgbClr val="0B0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D1C"/>
                </a:solidFill>
              </a:rPr>
              <a:t>14</a:t>
            </a:r>
            <a:endParaRPr lang="en-US" sz="1500" dirty="0"/>
          </a:p>
        </p:txBody>
      </p:sp>
      <p:sp>
        <p:nvSpPr>
          <p:cNvPr id="18" name="pl_16"/>
          <p:cNvSpPr txBox="1"/>
          <p:nvPr/>
        </p:nvSpPr>
        <p:spPr>
          <a:xfrm>
            <a:off x="54864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4A"/>
                </a:solidFill>
              </a:rPr>
              <a:t>ACID (more H⁺)</a:t>
            </a:r>
            <a:endParaRPr lang="en-US" sz="1600" dirty="0"/>
          </a:p>
        </p:txBody>
      </p:sp>
      <p:sp>
        <p:nvSpPr>
          <p:cNvPr id="19" name="pl_17"/>
          <p:cNvSpPr txBox="1"/>
          <p:nvPr/>
        </p:nvSpPr>
        <p:spPr>
          <a:xfrm>
            <a:off x="420624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F73"/>
                </a:solidFill>
              </a:rPr>
              <a:t>7 = NEUTRAL (water)</a:t>
            </a:r>
            <a:endParaRPr lang="en-US" sz="1600" dirty="0"/>
          </a:p>
        </p:txBody>
      </p:sp>
      <p:sp>
        <p:nvSpPr>
          <p:cNvPr id="20" name="pl_18"/>
          <p:cNvSpPr txBox="1"/>
          <p:nvPr/>
        </p:nvSpPr>
        <p:spPr>
          <a:xfrm>
            <a:off x="795528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55D8"/>
                </a:solidFill>
              </a:rPr>
              <a:t>BASE (more OH⁻)</a:t>
            </a:r>
            <a:endParaRPr lang="en-US" sz="1600" dirty="0"/>
          </a:p>
        </p:txBody>
      </p:sp>
      <p:sp>
        <p:nvSpPr>
          <p:cNvPr id="21" name="card_19"/>
          <p:cNvSpPr/>
          <p:nvPr/>
        </p:nvSpPr>
        <p:spPr>
          <a:xfrm>
            <a:off x="548640" y="251460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9B949"/>
                </a:solidFill>
              </a:rPr>
              <a:t>Each step = 10×. </a:t>
            </a:r>
            <a:r>
              <a:rPr lang="en-US" sz="1600" dirty="0">
                <a:solidFill>
                  <a:srgbClr val="F2EEFF"/>
                </a:solidFill>
              </a:rPr>
              <a:t>pH 3 is 10× more acidic than pH 4.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2EEFF"/>
                </a:solidFill>
              </a:rPr>
              <a:t>"Acids Are low; Bases are Big numbers."</a:t>
            </a:r>
            <a:endParaRPr lang="en-US" sz="1600" dirty="0"/>
          </a:p>
        </p:txBody>
      </p:sp>
      <p:sp>
        <p:nvSpPr>
          <p:cNvPr id="22" name="card_20"/>
          <p:cNvSpPr/>
          <p:nvPr/>
        </p:nvSpPr>
        <p:spPr>
          <a:xfrm>
            <a:off x="6172200" y="251460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FE0D6"/>
                </a:solidFill>
              </a:rPr>
              <a:t>Solute </a:t>
            </a:r>
            <a:r>
              <a:rPr lang="en-US" sz="1500" dirty="0">
                <a:solidFill>
                  <a:srgbClr val="F2EEFF"/>
                </a:solidFill>
              </a:rPr>
              <a:t>(dissolved, e.g. salt) + </a:t>
            </a:r>
            <a:r>
              <a:rPr lang="en-US" sz="1500" b="1" dirty="0">
                <a:solidFill>
                  <a:srgbClr val="6FE0D6"/>
                </a:solidFill>
              </a:rPr>
              <a:t>solvent </a:t>
            </a:r>
            <a:r>
              <a:rPr lang="en-US" sz="1500" dirty="0">
                <a:solidFill>
                  <a:srgbClr val="F2EEFF"/>
                </a:solidFill>
              </a:rPr>
              <a:t>(does the dissolving, e.g. water) = solution. Water = the "universal solvent."</a:t>
            </a:r>
            <a:endParaRPr lang="en-US" sz="1500" dirty="0"/>
          </a:p>
        </p:txBody>
      </p:sp>
      <p:sp>
        <p:nvSpPr>
          <p:cNvPr id="23" name="chip_21"/>
          <p:cNvSpPr/>
          <p:nvPr/>
        </p:nvSpPr>
        <p:spPr>
          <a:xfrm>
            <a:off x="548640" y="393192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→ liquid  =  Melting</a:t>
            </a:r>
            <a:endParaRPr lang="en-US" sz="1500" dirty="0"/>
          </a:p>
        </p:txBody>
      </p:sp>
      <p:sp>
        <p:nvSpPr>
          <p:cNvPr id="24" name="chip_22"/>
          <p:cNvSpPr/>
          <p:nvPr/>
        </p:nvSpPr>
        <p:spPr>
          <a:xfrm>
            <a:off x="4297680" y="393192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19050">
            <a:solidFill>
              <a:srgbClr val="6FE0D6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→ gas  =  Vaporization</a:t>
            </a:r>
            <a:endParaRPr lang="en-US" sz="1500" dirty="0"/>
          </a:p>
        </p:txBody>
      </p:sp>
      <p:sp>
        <p:nvSpPr>
          <p:cNvPr id="25" name="chip_23"/>
          <p:cNvSpPr/>
          <p:nvPr/>
        </p:nvSpPr>
        <p:spPr>
          <a:xfrm>
            <a:off x="8046720" y="393192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19050">
            <a:solidFill>
              <a:srgbClr val="8FA2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→ liquid  =  Condensation</a:t>
            </a:r>
            <a:endParaRPr lang="en-US" sz="1500" dirty="0"/>
          </a:p>
        </p:txBody>
      </p:sp>
      <p:sp>
        <p:nvSpPr>
          <p:cNvPr id="26" name="chip_24"/>
          <p:cNvSpPr/>
          <p:nvPr/>
        </p:nvSpPr>
        <p:spPr>
          <a:xfrm>
            <a:off x="548640" y="480060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19050">
            <a:solidFill>
              <a:srgbClr val="B48C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→ solid  =  Freezing</a:t>
            </a:r>
            <a:endParaRPr lang="en-US" sz="1500" dirty="0"/>
          </a:p>
        </p:txBody>
      </p:sp>
      <p:sp>
        <p:nvSpPr>
          <p:cNvPr id="27" name="chip_25"/>
          <p:cNvSpPr/>
          <p:nvPr/>
        </p:nvSpPr>
        <p:spPr>
          <a:xfrm>
            <a:off x="4297680" y="480060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19050">
            <a:solidFill>
              <a:srgbClr val="FF6B4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→ gas  =  Sublimation (dry ice)</a:t>
            </a:r>
            <a:endParaRPr lang="en-US" sz="1500" dirty="0"/>
          </a:p>
        </p:txBody>
      </p:sp>
      <p:sp>
        <p:nvSpPr>
          <p:cNvPr id="28" name="chip_26"/>
          <p:cNvSpPr/>
          <p:nvPr/>
        </p:nvSpPr>
        <p:spPr>
          <a:xfrm>
            <a:off x="8046720" y="480060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19050">
            <a:solidFill>
              <a:srgbClr val="7FE0A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→ solid  =  Deposition (frost)</a:t>
            </a:r>
            <a:endParaRPr lang="en-US" sz="1500" dirty="0"/>
          </a:p>
        </p:txBody>
      </p:sp>
      <p:sp>
        <p:nvSpPr>
          <p:cNvPr id="29" name="card_27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Triple point = solid, liquid and gas coexist.  Critical point = liquid and gas become indistinguishable.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7 · Question 1 of 4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166"/>
                </a:solidFill>
              </a:rPr>
              <a:t>The Mad Alchemist's Lab  </a:t>
            </a:r>
            <a:r>
              <a:rPr lang="en-US" sz="1400" dirty="0">
                <a:solidFill>
                  <a:srgbClr val="B9B5D6"/>
                </a:solidFill>
              </a:rPr>
              <a:t>vs Professor Fizzwick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Q19.  Which organelle makes ATP?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Ribosome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Golgi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Mitochondria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Lysosome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Mitochondria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Power plant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7 · Question 2 of 4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166"/>
                </a:solidFill>
              </a:rPr>
              <a:t>The Mad Alchemist's Lab  </a:t>
            </a:r>
            <a:r>
              <a:rPr lang="en-US" sz="1400" dirty="0">
                <a:solidFill>
                  <a:srgbClr val="B9B5D6"/>
                </a:solidFill>
              </a:rPr>
              <a:t>vs Professor Fizzwick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Q20.  Bb × Bb: what percent of offspring show the recessive trait?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0%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25%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50%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75%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ok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1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B: 25%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Only bb (1 of 4)</a:t>
            </a:r>
            <a:endParaRPr lang="en-US" sz="2000" dirty="0"/>
          </a:p>
        </p:txBody>
      </p:sp>
      <p:sp>
        <p:nvSpPr>
          <p:cNvPr id="12" name="no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7 · Question 3 of 4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166"/>
                </a:solidFill>
              </a:rPr>
              <a:t>The Mad Alchemist's Lab  </a:t>
            </a:r>
            <a:r>
              <a:rPr lang="en-US" sz="1400" dirty="0">
                <a:solidFill>
                  <a:srgbClr val="B9B5D6"/>
                </a:solidFill>
              </a:rPr>
              <a:t>vs Professor Fizzwick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Q21.  Which particle determines the atomic number?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Neutron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Electron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Proton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Isotope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Proton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Protons = atomic number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7 · Question 4 of 4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166"/>
                </a:solidFill>
              </a:rPr>
              <a:t>The Mad Alchemist's Lab  </a:t>
            </a:r>
            <a:r>
              <a:rPr lang="en-US" sz="1400" dirty="0">
                <a:solidFill>
                  <a:srgbClr val="B9B5D6"/>
                </a:solidFill>
              </a:rPr>
              <a:t>vs Professor Fizzwick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Q22.  A solution with pH 3 is: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Basic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Neutral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Acidic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FD166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A salt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Acidic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Below 7 = acid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Sandglass Archive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Scientific reasoning + timed quiz + cram sheet</a:t>
            </a:r>
            <a:endParaRPr lang="en-US" sz="2400" dirty="0"/>
          </a:p>
        </p:txBody>
      </p:sp>
      <p:sp>
        <p:nvSpPr>
          <p:cNvPr id="4" name="tag_1"/>
          <p:cNvSpPr txBox="1"/>
          <p:nvPr/>
        </p:nvSpPr>
        <p:spPr>
          <a:xfrm>
            <a:off x="73152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0A35E"/>
                </a:solidFill>
              </a:rPr>
              <a:t>DAY 2  ·  HOUR 8</a:t>
            </a:r>
            <a:endParaRPr lang="en-US" sz="2000" dirty="0"/>
          </a:p>
        </p:txBody>
      </p:sp>
      <p:sp>
        <p:nvSpPr>
          <p:cNvPr id="5" name="boss_2"/>
          <p:cNvSpPr txBox="1"/>
          <p:nvPr/>
        </p:nvSpPr>
        <p:spPr>
          <a:xfrm>
            <a:off x="73152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B5D6"/>
                </a:solidFill>
              </a:rPr>
              <a:t>Boss: </a:t>
            </a:r>
            <a:r>
              <a:rPr lang="en-US" sz="2000" b="1" dirty="0">
                <a:solidFill>
                  <a:srgbClr val="F2EEFF"/>
                </a:solidFill>
              </a:rPr>
              <a:t>The Riddling Sphinx</a:t>
            </a:r>
            <a:endParaRPr lang="en-US" sz="2000" dirty="0"/>
          </a:p>
        </p:txBody>
      </p:sp>
      <p:sp>
        <p:nvSpPr>
          <p:cNvPr id="6" name="card_3"/>
          <p:cNvSpPr/>
          <p:nvPr/>
        </p:nvSpPr>
        <p:spPr>
          <a:xfrm>
            <a:off x="731520" y="4800600"/>
            <a:ext cx="7498080" cy="960120"/>
          </a:xfrm>
          <a:prstGeom prst="roundRect">
            <a:avLst>
              <a:gd name="adj" fmla="val 11429"/>
            </a:avLst>
          </a:prstGeom>
          <a:solidFill>
            <a:srgbClr val="0B0D1C">
              <a:alpha val="70000"/>
            </a:srgbClr>
          </a:solidFill>
          <a:ln w="127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able to…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Identify variables; score 75%+ on the timed quiz</a:t>
            </a:r>
            <a:endParaRPr lang="en-US" sz="1600" dirty="0"/>
          </a:p>
        </p:txBody>
      </p:sp>
      <p:sp>
        <p:nvSpPr>
          <p:cNvPr id="7" name="emblem_4c"/>
          <p:cNvSpPr/>
          <p:nvPr/>
        </p:nvSpPr>
        <p:spPr>
          <a:xfrm>
            <a:off x="8823960" y="1508760"/>
            <a:ext cx="2834640" cy="2834640"/>
          </a:xfrm>
          <a:prstGeom prst="ellipse">
            <a:avLst/>
          </a:prstGeom>
          <a:solidFill>
            <a:srgbClr val="0B0D1C">
              <a:alpha val="70000"/>
            </a:srgbClr>
          </a:solidFill>
          <a:ln w="38100">
            <a:solidFill>
              <a:srgbClr val="F0A35E"/>
            </a:solidFill>
            <a:prstDash val="solid"/>
          </a:ln>
        </p:spPr>
      </p:sp>
      <p:pic>
        <p:nvPicPr>
          <p:cNvPr id="8" name="emblem_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1965960"/>
            <a:ext cx="1920240" cy="1920240"/>
          </a:xfrm>
          <a:prstGeom prst="rect">
            <a:avLst/>
          </a:prstGeom>
        </p:spPr>
      </p:pic>
      <p:sp>
        <p:nvSpPr>
          <p:cNvPr id="9" name="home_5"/>
          <p:cNvSpPr txBox="1"/>
          <p:nvPr/>
        </p:nvSpPr>
        <p:spPr>
          <a:xfrm>
            <a:off x="10058400" y="6172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u="sng" dirty="0">
                <a:solidFill>
                  <a:srgbClr val="6FE0D6"/>
                </a:solidFill>
                <a:hlinkClick r:id="rId8" action="ppaction://hlinksldjump" tooltip="Back to the bootcamp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Realm map</a:t>
            </a:r>
            <a:endParaRPr lang="en-US" sz="1300" dirty="0"/>
          </a:p>
        </p:txBody>
      </p:sp>
      <p:pic>
        <p:nvPicPr>
          <p:cNvPr id="12" name="bg_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097280" y="182880"/>
            <a:ext cx="548640" cy="548640"/>
          </a:xfrm>
          <a:prstGeom prst="rect">
            <a:avLst/>
          </a:prstGeom>
        </p:spPr>
      </p:pic>
      <p:sp>
        <p:nvSpPr>
          <p:cNvPr id="11" name="music_btn"/>
          <p:cNvSpPr/>
          <p:nvPr/>
        </p:nvSpPr>
        <p:spPr>
          <a:xfrm>
            <a:off x="320040" y="61722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0B0D1C">
              <a:alpha val="75000"/>
            </a:srgbClr>
          </a:solidFill>
          <a:ln w="15875">
            <a:solidFill>
              <a:srgbClr val="E9B94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949"/>
                </a:solidFill>
              </a:rPr>
              <a:t>♪  Music on / off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  <p:sndAc>
          <p:stSnd>
            <p:snd r:embed="rId5" name="boom.wav"/>
          </p:stSnd>
        </p:sndAc>
      </p:transition>
    </mc:Choice>
    <mc:Fallback xmlns="">
      <p:transition spd="slow">
        <p:fade/>
        <p:sndAc>
          <p:stSnd>
            <p:snd r:embed="rIdFx1" name="boom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45000" numSld="999" showWhenStopped="0">
                <p:cTn id="3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method: "Only Quiet Hippos Eat All Cake"</a:t>
            </a:r>
            <a:endParaRPr lang="en-US" sz="3600" dirty="0"/>
          </a:p>
        </p:txBody>
      </p:sp>
      <p:sp>
        <p:nvSpPr>
          <p:cNvPr id="3" name="chip_1"/>
          <p:cNvSpPr/>
          <p:nvPr/>
        </p:nvSpPr>
        <p:spPr>
          <a:xfrm>
            <a:off x="548640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600" dirty="0"/>
          </a:p>
        </p:txBody>
      </p:sp>
      <p:sp>
        <p:nvSpPr>
          <p:cNvPr id="4" name="arr_2"/>
          <p:cNvSpPr/>
          <p:nvPr/>
        </p:nvSpPr>
        <p:spPr>
          <a:xfrm>
            <a:off x="2185416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5" name="chip_3"/>
          <p:cNvSpPr/>
          <p:nvPr/>
        </p:nvSpPr>
        <p:spPr>
          <a:xfrm>
            <a:off x="2441448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6" name="arr_4"/>
          <p:cNvSpPr/>
          <p:nvPr/>
        </p:nvSpPr>
        <p:spPr>
          <a:xfrm>
            <a:off x="4078224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7" name="chip_5"/>
          <p:cNvSpPr/>
          <p:nvPr/>
        </p:nvSpPr>
        <p:spPr>
          <a:xfrm>
            <a:off x="4334256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600" dirty="0"/>
          </a:p>
        </p:txBody>
      </p:sp>
      <p:sp>
        <p:nvSpPr>
          <p:cNvPr id="8" name="arr_6"/>
          <p:cNvSpPr/>
          <p:nvPr/>
        </p:nvSpPr>
        <p:spPr>
          <a:xfrm>
            <a:off x="5971032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9" name="chip_7"/>
          <p:cNvSpPr/>
          <p:nvPr/>
        </p:nvSpPr>
        <p:spPr>
          <a:xfrm>
            <a:off x="6227064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600" dirty="0"/>
          </a:p>
        </p:txBody>
      </p:sp>
      <p:sp>
        <p:nvSpPr>
          <p:cNvPr id="10" name="arr_8"/>
          <p:cNvSpPr/>
          <p:nvPr/>
        </p:nvSpPr>
        <p:spPr>
          <a:xfrm>
            <a:off x="7863840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1" name="chip_9"/>
          <p:cNvSpPr/>
          <p:nvPr/>
        </p:nvSpPr>
        <p:spPr>
          <a:xfrm>
            <a:off x="8119872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12" name="arr_10"/>
          <p:cNvSpPr/>
          <p:nvPr/>
        </p:nvSpPr>
        <p:spPr>
          <a:xfrm>
            <a:off x="9756648" y="1641348"/>
            <a:ext cx="219456" cy="237744"/>
          </a:xfrm>
          <a:prstGeom prst="rightArrow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3" name="chip_11"/>
          <p:cNvSpPr/>
          <p:nvPr/>
        </p:nvSpPr>
        <p:spPr>
          <a:xfrm>
            <a:off x="10012680" y="137160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</a:t>
            </a:r>
            <a:endParaRPr lang="en-US" sz="1600" dirty="0"/>
          </a:p>
        </p:txBody>
      </p:sp>
      <p:sp>
        <p:nvSpPr>
          <p:cNvPr id="14" name="card_12"/>
          <p:cNvSpPr/>
          <p:nvPr/>
        </p:nvSpPr>
        <p:spPr>
          <a:xfrm>
            <a:off x="548640" y="24231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9B949"/>
                </a:solidFill>
              </a:rPr>
              <a:t>Independent = </a:t>
            </a:r>
            <a:r>
              <a:rPr lang="en-US" sz="1800" dirty="0">
                <a:solidFill>
                  <a:srgbClr val="F2EEFF"/>
                </a:solidFill>
              </a:rPr>
              <a:t>What I change.</a:t>
            </a:r>
            <a:endParaRPr lang="en-US" sz="1800" dirty="0"/>
          </a:p>
        </p:txBody>
      </p:sp>
      <p:sp>
        <p:nvSpPr>
          <p:cNvPr id="15" name="card_13"/>
          <p:cNvSpPr/>
          <p:nvPr/>
        </p:nvSpPr>
        <p:spPr>
          <a:xfrm>
            <a:off x="6172200" y="24231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6FE0D6"/>
                </a:solidFill>
              </a:rPr>
              <a:t>Dependent = </a:t>
            </a:r>
            <a:r>
              <a:rPr lang="en-US" sz="1800" dirty="0">
                <a:solidFill>
                  <a:srgbClr val="F2EEFF"/>
                </a:solidFill>
              </a:rPr>
              <a:t>What I measure (it DEPENDS on the independent).</a:t>
            </a:r>
            <a:endParaRPr lang="en-US" sz="1800" dirty="0"/>
          </a:p>
        </p:txBody>
      </p:sp>
      <p:sp>
        <p:nvSpPr>
          <p:cNvPr id="16" name="card_14"/>
          <p:cNvSpPr/>
          <p:nvPr/>
        </p:nvSpPr>
        <p:spPr>
          <a:xfrm>
            <a:off x="548640" y="36118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B48CFF"/>
                </a:solidFill>
              </a:rPr>
              <a:t>Control group = </a:t>
            </a:r>
            <a:r>
              <a:rPr lang="en-US" sz="1800" dirty="0">
                <a:solidFill>
                  <a:srgbClr val="F2EEFF"/>
                </a:solidFill>
              </a:rPr>
              <a:t>Gets no treatment (for comparison).</a:t>
            </a:r>
            <a:endParaRPr lang="en-US" sz="1800" dirty="0"/>
          </a:p>
        </p:txBody>
      </p:sp>
      <p:sp>
        <p:nvSpPr>
          <p:cNvPr id="17" name="card_15"/>
          <p:cNvSpPr/>
          <p:nvPr/>
        </p:nvSpPr>
        <p:spPr>
          <a:xfrm>
            <a:off x="6172200" y="36118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7FE0A8"/>
                </a:solidFill>
              </a:rPr>
              <a:t>Constants = </a:t>
            </a:r>
            <a:r>
              <a:rPr lang="en-US" sz="1800" dirty="0">
                <a:solidFill>
                  <a:srgbClr val="F2EEFF"/>
                </a:solidFill>
              </a:rPr>
              <a:t>Kept the same.</a:t>
            </a:r>
            <a:endParaRPr lang="en-US" sz="1800" dirty="0"/>
          </a:p>
        </p:txBody>
      </p:sp>
      <p:sp>
        <p:nvSpPr>
          <p:cNvPr id="18" name="card_16"/>
          <p:cNvSpPr/>
          <p:nvPr/>
        </p:nvSpPr>
        <p:spPr>
          <a:xfrm>
            <a:off x="548640" y="489204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"Does caffeine raise heart rate?"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F2EEFF"/>
                </a:solidFill>
              </a:rPr>
              <a:t>Caffeine dose = independent. Heart rate = dependent.</a:t>
            </a:r>
            <a:endParaRPr lang="en-US" sz="1700" dirty="0"/>
          </a:p>
        </p:txBody>
      </p:sp>
      <p:sp>
        <p:nvSpPr>
          <p:cNvPr id="19" name="card_17"/>
          <p:cNvSpPr/>
          <p:nvPr/>
        </p:nvSpPr>
        <p:spPr>
          <a:xfrm>
            <a:off x="7498080" y="489204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evidence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Large sample, repeated trials, one variable at a time. Correlation ≠ causation.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staircase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669280" y="1234440"/>
            <a:ext cx="5943600" cy="731520"/>
          </a:xfrm>
          <a:prstGeom prst="roundRect">
            <a:avLst>
              <a:gd name="adj" fmla="val 15000"/>
            </a:avLst>
          </a:prstGeom>
          <a:solidFill>
            <a:srgbClr val="0B0D1C">
              <a:alpha val="92000"/>
            </a:srgbClr>
          </a:solidFill>
          <a:ln w="12700">
            <a:solidFill>
              <a:srgbClr val="E9B949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9B949"/>
                </a:solidFill>
              </a:rPr>
              <a:t>"King Henry Died By Drinking Chocolate Milk"</a:t>
            </a:r>
            <a:endParaRPr lang="en-US" sz="1800" dirty="0"/>
          </a:p>
        </p:txBody>
      </p:sp>
      <p:sp>
        <p:nvSpPr>
          <p:cNvPr id="4" name="stair_2"/>
          <p:cNvSpPr/>
          <p:nvPr/>
        </p:nvSpPr>
        <p:spPr>
          <a:xfrm>
            <a:off x="548640" y="1325880"/>
            <a:ext cx="1481328" cy="1005840"/>
          </a:xfrm>
          <a:prstGeom prst="roundRect">
            <a:avLst>
              <a:gd name="adj" fmla="val 9091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B949"/>
                </a:solidFill>
              </a:rPr>
              <a:t>K </a:t>
            </a:r>
            <a:r>
              <a:rPr lang="en-US" sz="1500" b="1" dirty="0">
                <a:solidFill>
                  <a:srgbClr val="F2EEFF"/>
                </a:solidFill>
              </a:rPr>
              <a:t>kilo</a:t>
            </a:r>
            <a:endParaRPr lang="en-US" sz="2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9B5D6"/>
                </a:solidFill>
              </a:rPr>
              <a:t>× 1,000</a:t>
            </a:r>
            <a:endParaRPr lang="en-US" sz="2400" dirty="0"/>
          </a:p>
        </p:txBody>
      </p:sp>
      <p:sp>
        <p:nvSpPr>
          <p:cNvPr id="5" name="stair_3"/>
          <p:cNvSpPr/>
          <p:nvPr/>
        </p:nvSpPr>
        <p:spPr>
          <a:xfrm>
            <a:off x="2121408" y="1691640"/>
            <a:ext cx="1481328" cy="1005840"/>
          </a:xfrm>
          <a:prstGeom prst="roundRect">
            <a:avLst>
              <a:gd name="adj" fmla="val 9091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B949"/>
                </a:solidFill>
              </a:rPr>
              <a:t>H </a:t>
            </a:r>
            <a:r>
              <a:rPr lang="en-US" sz="1500" b="1" dirty="0">
                <a:solidFill>
                  <a:srgbClr val="F2EEFF"/>
                </a:solidFill>
              </a:rPr>
              <a:t>hecto</a:t>
            </a:r>
            <a:endParaRPr lang="en-US" sz="2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9B5D6"/>
                </a:solidFill>
              </a:rPr>
              <a:t>× 100</a:t>
            </a:r>
            <a:endParaRPr lang="en-US" sz="2400" dirty="0"/>
          </a:p>
        </p:txBody>
      </p:sp>
      <p:sp>
        <p:nvSpPr>
          <p:cNvPr id="6" name="stair_4"/>
          <p:cNvSpPr/>
          <p:nvPr/>
        </p:nvSpPr>
        <p:spPr>
          <a:xfrm>
            <a:off x="3694176" y="2057400"/>
            <a:ext cx="1481328" cy="1005840"/>
          </a:xfrm>
          <a:prstGeom prst="roundRect">
            <a:avLst>
              <a:gd name="adj" fmla="val 9091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B949"/>
                </a:solidFill>
              </a:rPr>
              <a:t>D </a:t>
            </a:r>
            <a:r>
              <a:rPr lang="en-US" sz="1500" b="1" dirty="0">
                <a:solidFill>
                  <a:srgbClr val="F2EEFF"/>
                </a:solidFill>
              </a:rPr>
              <a:t>deka</a:t>
            </a:r>
            <a:endParaRPr lang="en-US" sz="2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9B5D6"/>
                </a:solidFill>
              </a:rPr>
              <a:t>× 10</a:t>
            </a:r>
            <a:endParaRPr lang="en-US" sz="2400" dirty="0"/>
          </a:p>
        </p:txBody>
      </p:sp>
      <p:sp>
        <p:nvSpPr>
          <p:cNvPr id="7" name="stair_5"/>
          <p:cNvSpPr/>
          <p:nvPr/>
        </p:nvSpPr>
        <p:spPr>
          <a:xfrm>
            <a:off x="5266944" y="2423160"/>
            <a:ext cx="1481328" cy="1005840"/>
          </a:xfrm>
          <a:prstGeom prst="roundRect">
            <a:avLst>
              <a:gd name="adj" fmla="val 9091"/>
            </a:avLst>
          </a:prstGeom>
          <a:solidFill>
            <a:srgbClr val="3A2E10"/>
          </a:solidFill>
          <a:ln w="19050">
            <a:solidFill>
              <a:srgbClr val="E9B94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B949"/>
                </a:solidFill>
              </a:rPr>
              <a:t>B </a:t>
            </a:r>
            <a:r>
              <a:rPr lang="en-US" sz="1500" b="1" dirty="0">
                <a:solidFill>
                  <a:srgbClr val="F2EEFF"/>
                </a:solidFill>
              </a:rPr>
              <a:t>BASE (m, L, g)</a:t>
            </a:r>
            <a:endParaRPr lang="en-US" sz="2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9B5D6"/>
                </a:solidFill>
              </a:rPr>
              <a:t>× 1</a:t>
            </a:r>
            <a:endParaRPr lang="en-US" sz="2400" dirty="0"/>
          </a:p>
        </p:txBody>
      </p:sp>
      <p:sp>
        <p:nvSpPr>
          <p:cNvPr id="8" name="stair_6"/>
          <p:cNvSpPr/>
          <p:nvPr/>
        </p:nvSpPr>
        <p:spPr>
          <a:xfrm>
            <a:off x="6839712" y="2788920"/>
            <a:ext cx="1481328" cy="1005840"/>
          </a:xfrm>
          <a:prstGeom prst="roundRect">
            <a:avLst>
              <a:gd name="adj" fmla="val 9091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B949"/>
                </a:solidFill>
              </a:rPr>
              <a:t>D </a:t>
            </a:r>
            <a:r>
              <a:rPr lang="en-US" sz="1500" b="1" dirty="0">
                <a:solidFill>
                  <a:srgbClr val="F2EEFF"/>
                </a:solidFill>
              </a:rPr>
              <a:t>deci</a:t>
            </a:r>
            <a:endParaRPr lang="en-US" sz="2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9B5D6"/>
                </a:solidFill>
              </a:rPr>
              <a:t>× 0.1</a:t>
            </a:r>
            <a:endParaRPr lang="en-US" sz="2400" dirty="0"/>
          </a:p>
        </p:txBody>
      </p:sp>
      <p:sp>
        <p:nvSpPr>
          <p:cNvPr id="9" name="stair_7"/>
          <p:cNvSpPr/>
          <p:nvPr/>
        </p:nvSpPr>
        <p:spPr>
          <a:xfrm>
            <a:off x="8412480" y="3154680"/>
            <a:ext cx="1481328" cy="1005840"/>
          </a:xfrm>
          <a:prstGeom prst="roundRect">
            <a:avLst>
              <a:gd name="adj" fmla="val 9091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B949"/>
                </a:solidFill>
              </a:rPr>
              <a:t>C </a:t>
            </a:r>
            <a:r>
              <a:rPr lang="en-US" sz="1500" b="1" dirty="0">
                <a:solidFill>
                  <a:srgbClr val="F2EEFF"/>
                </a:solidFill>
              </a:rPr>
              <a:t>centi</a:t>
            </a:r>
            <a:endParaRPr lang="en-US" sz="2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9B5D6"/>
                </a:solidFill>
              </a:rPr>
              <a:t>× 0.01</a:t>
            </a:r>
            <a:endParaRPr lang="en-US" sz="2400" dirty="0"/>
          </a:p>
        </p:txBody>
      </p:sp>
      <p:sp>
        <p:nvSpPr>
          <p:cNvPr id="10" name="stair_8"/>
          <p:cNvSpPr/>
          <p:nvPr/>
        </p:nvSpPr>
        <p:spPr>
          <a:xfrm>
            <a:off x="9985248" y="3520440"/>
            <a:ext cx="1481328" cy="1005840"/>
          </a:xfrm>
          <a:prstGeom prst="roundRect">
            <a:avLst>
              <a:gd name="adj" fmla="val 9091"/>
            </a:avLst>
          </a:prstGeom>
          <a:solidFill>
            <a:srgbClr val="22275A"/>
          </a:solidFill>
          <a:ln w="19050">
            <a:solidFill>
              <a:srgbClr val="F0A35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B949"/>
                </a:solidFill>
              </a:rPr>
              <a:t>M </a:t>
            </a:r>
            <a:r>
              <a:rPr lang="en-US" sz="1500" b="1" dirty="0">
                <a:solidFill>
                  <a:srgbClr val="F2EEFF"/>
                </a:solidFill>
              </a:rPr>
              <a:t>milli</a:t>
            </a:r>
            <a:endParaRPr lang="en-US" sz="2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9B5D6"/>
                </a:solidFill>
              </a:rPr>
              <a:t>× 0.001</a:t>
            </a:r>
            <a:endParaRPr lang="en-US" sz="2400" dirty="0"/>
          </a:p>
        </p:txBody>
      </p:sp>
      <p:sp>
        <p:nvSpPr>
          <p:cNvPr id="11" name="card_9"/>
          <p:cNvSpPr/>
          <p:nvPr/>
        </p:nvSpPr>
        <p:spPr>
          <a:xfrm>
            <a:off x="548640" y="470916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one step = × or ÷ 10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2EEFF"/>
                </a:solidFill>
              </a:rPr>
              <a:t>Down the stairs (bigger → smaller unit): multiply. Up the stairs: divide.</a:t>
            </a:r>
            <a:endParaRPr lang="en-US" sz="1800" dirty="0"/>
          </a:p>
        </p:txBody>
      </p:sp>
      <p:sp>
        <p:nvSpPr>
          <p:cNvPr id="12" name="card_10"/>
          <p:cNvSpPr/>
          <p:nvPr/>
        </p:nvSpPr>
        <p:spPr>
          <a:xfrm>
            <a:off x="5897880" y="4709160"/>
            <a:ext cx="5715000" cy="1463040"/>
          </a:xfrm>
          <a:prstGeom prst="roundRect">
            <a:avLst>
              <a:gd name="adj" fmla="val 7500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Must-knows</a:t>
            </a:r>
            <a:endParaRPr lang="en-US" sz="1800" dirty="0"/>
          </a:p>
          <a:p>
            <a:pPr marL="203200" indent="-2032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2EEFF"/>
                </a:solidFill>
              </a:rPr>
              <a:t>1 kg = 1,000 g · 1 L = 1,000 mL · 1 m = 100 cm</a:t>
            </a:r>
            <a:endParaRPr lang="en-US" sz="1800" dirty="0"/>
          </a:p>
          <a:p>
            <a:pPr marL="203200" indent="-2032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2EEFF"/>
                </a:solidFill>
              </a:rPr>
              <a:t>Tools: graduated cylinder (volume), balance (mass), thermometer (°C)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8 · Question 1 of 2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A35E"/>
                </a:solidFill>
              </a:rPr>
              <a:t>The Sandglass Archive  </a:t>
            </a:r>
            <a:r>
              <a:rPr lang="en-US" sz="1400" dirty="0">
                <a:solidFill>
                  <a:srgbClr val="B9B5D6"/>
                </a:solidFill>
              </a:rPr>
              <a:t>vs The Riddling Sphinx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Q23.  Students give plants different amounts of fertilizer and measure height. The dependent variable is:</a:t>
            </a:r>
            <a:endParaRPr lang="en-US" sz="24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Fertilizer amount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Plant height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Type of plant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Sunlight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ok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1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B: Plant height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Height depends on fertilizer</a:t>
            </a:r>
            <a:endParaRPr lang="en-US" sz="2000" dirty="0"/>
          </a:p>
        </p:txBody>
      </p:sp>
      <p:sp>
        <p:nvSpPr>
          <p:cNvPr id="12" name="no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 battle · Hour 8 · Question 2 of 2</a:t>
            </a:r>
            <a:endParaRPr lang="en-US" sz="3000" dirty="0"/>
          </a:p>
        </p:txBody>
      </p:sp>
      <p:sp>
        <p:nvSpPr>
          <p:cNvPr id="3" name="boss_1"/>
          <p:cNvSpPr txBox="1"/>
          <p:nvPr/>
        </p:nvSpPr>
        <p:spPr>
          <a:xfrm>
            <a:off x="8138160" y="34747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A35E"/>
                </a:solidFill>
              </a:rPr>
              <a:t>The Sandglass Archive  </a:t>
            </a:r>
            <a:r>
              <a:rPr lang="en-US" sz="1400" dirty="0">
                <a:solidFill>
                  <a:srgbClr val="B9B5D6"/>
                </a:solidFill>
              </a:rPr>
              <a:t>vs The Riddling Sphinx</a:t>
            </a:r>
            <a:endParaRPr lang="en-US" sz="1400" dirty="0"/>
          </a:p>
        </p:txBody>
      </p:sp>
      <p:sp>
        <p:nvSpPr>
          <p:cNvPr id="4" name="q_2"/>
          <p:cNvSpPr txBox="1"/>
          <p:nvPr/>
        </p:nvSpPr>
        <p:spPr>
          <a:xfrm>
            <a:off x="548640" y="118872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Q24.  How many milliliters are in 2.5 liters?</a:t>
            </a:r>
            <a:endParaRPr lang="en-US" sz="2800" dirty="0"/>
          </a:p>
        </p:txBody>
      </p:sp>
      <p:sp>
        <p:nvSpPr>
          <p:cNvPr id="5" name="opt_0"/>
          <p:cNvSpPr/>
          <p:nvPr/>
        </p:nvSpPr>
        <p:spPr>
          <a:xfrm>
            <a:off x="54864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A   </a:t>
            </a:r>
            <a:r>
              <a:rPr lang="en-US" sz="2100" b="1" dirty="0">
                <a:solidFill>
                  <a:srgbClr val="F2EEFF"/>
                </a:solidFill>
              </a:rPr>
              <a:t>25</a:t>
            </a:r>
            <a:endParaRPr lang="en-US" sz="2400" dirty="0"/>
          </a:p>
        </p:txBody>
      </p:sp>
      <p:sp>
        <p:nvSpPr>
          <p:cNvPr id="6" name="opt_1"/>
          <p:cNvSpPr/>
          <p:nvPr/>
        </p:nvSpPr>
        <p:spPr>
          <a:xfrm>
            <a:off x="6172200" y="269748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B   </a:t>
            </a:r>
            <a:r>
              <a:rPr lang="en-US" sz="2100" b="1" dirty="0">
                <a:solidFill>
                  <a:srgbClr val="F2EEFF"/>
                </a:solidFill>
              </a:rPr>
              <a:t>250</a:t>
            </a:r>
            <a:endParaRPr lang="en-US" sz="2400" dirty="0"/>
          </a:p>
        </p:txBody>
      </p:sp>
      <p:sp>
        <p:nvSpPr>
          <p:cNvPr id="7" name="opt_2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C   </a:t>
            </a:r>
            <a:r>
              <a:rPr lang="en-US" sz="2100" b="1" dirty="0">
                <a:solidFill>
                  <a:srgbClr val="F2EEFF"/>
                </a:solidFill>
              </a:rPr>
              <a:t>2,500</a:t>
            </a:r>
            <a:endParaRPr lang="en-US" sz="2400" dirty="0"/>
          </a:p>
        </p:txBody>
      </p:sp>
      <p:sp>
        <p:nvSpPr>
          <p:cNvPr id="8" name="opt_3"/>
          <p:cNvSpPr/>
          <p:nvPr/>
        </p:nvSpPr>
        <p:spPr>
          <a:xfrm>
            <a:off x="6172200" y="3931920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22275A"/>
          </a:solidFill>
          <a:ln w="254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B949"/>
                </a:solidFill>
              </a:rPr>
              <a:t>D   </a:t>
            </a:r>
            <a:r>
              <a:rPr lang="en-US" sz="2100" b="1" dirty="0">
                <a:solidFill>
                  <a:srgbClr val="F2EEFF"/>
                </a:solidFill>
              </a:rPr>
              <a:t>25,000</a:t>
            </a:r>
            <a:endParaRPr lang="en-US" sz="2400" dirty="0"/>
          </a:p>
        </p:txBody>
      </p:sp>
      <p:sp>
        <p:nvSpPr>
          <p:cNvPr id="9" name="no_0"/>
          <p:cNvSpPr/>
          <p:nvPr/>
        </p:nvSpPr>
        <p:spPr>
          <a:xfrm>
            <a:off x="438912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0" name="no_1"/>
          <p:cNvSpPr/>
          <p:nvPr/>
        </p:nvSpPr>
        <p:spPr>
          <a:xfrm>
            <a:off x="10012680" y="350215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11" name="ok_2"/>
          <p:cNvSpPr/>
          <p:nvPr/>
        </p:nvSpPr>
        <p:spPr>
          <a:xfrm>
            <a:off x="438912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3FBF7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Correct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548640" y="5138928"/>
            <a:ext cx="11064240" cy="1024128"/>
          </a:xfrm>
          <a:prstGeom prst="roundRect">
            <a:avLst>
              <a:gd name="adj" fmla="val 12500"/>
            </a:avLst>
          </a:prstGeom>
          <a:solidFill>
            <a:srgbClr val="17402C"/>
          </a:solidFill>
          <a:ln w="25400">
            <a:solidFill>
              <a:srgbClr val="3FBF73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 Correct!  C: 2,500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1 L = 1,000 mL</a:t>
            </a:r>
            <a:endParaRPr lang="en-US" sz="2000" dirty="0"/>
          </a:p>
        </p:txBody>
      </p:sp>
      <p:sp>
        <p:nvSpPr>
          <p:cNvPr id="13" name="no_3"/>
          <p:cNvSpPr/>
          <p:nvPr/>
        </p:nvSpPr>
        <p:spPr>
          <a:xfrm>
            <a:off x="10012680" y="4736592"/>
            <a:ext cx="1417320" cy="402336"/>
          </a:xfrm>
          <a:prstGeom prst="roundRect">
            <a:avLst>
              <a:gd name="adj" fmla="val 22727"/>
            </a:avLst>
          </a:prstGeom>
          <a:solidFill>
            <a:srgbClr val="E5484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 Try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Fx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orr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Next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boss: the timed practice quiz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32588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F0A35E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9B9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questions</a:t>
            </a:r>
            <a:endParaRPr lang="en-US" sz="5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000" dirty="0">
                <a:solidFill>
                  <a:srgbClr val="F2EEFF"/>
                </a:solidFill>
              </a:rPr>
              <a:t>24 minutes · about 1 minute each</a:t>
            </a:r>
            <a:endParaRPr lang="en-US" sz="5400" dirty="0"/>
          </a:p>
        </p:txBody>
      </p:sp>
      <p:sp>
        <p:nvSpPr>
          <p:cNvPr id="4" name="dot_2"/>
          <p:cNvSpPr/>
          <p:nvPr/>
        </p:nvSpPr>
        <p:spPr>
          <a:xfrm>
            <a:off x="6035040" y="1417320"/>
            <a:ext cx="868680" cy="86868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F0A35E"/>
            </a:solidFill>
            <a:prstDash val="solid"/>
          </a:ln>
        </p:spPr>
      </p:sp>
      <p:pic>
        <p:nvPicPr>
          <p:cNvPr id="5" name="ico_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402" y="1573682"/>
            <a:ext cx="555955" cy="555955"/>
          </a:xfrm>
          <a:prstGeom prst="rect">
            <a:avLst/>
          </a:prstGeom>
        </p:spPr>
      </p:pic>
      <p:sp>
        <p:nvSpPr>
          <p:cNvPr id="6" name="card_4"/>
          <p:cNvSpPr/>
          <p:nvPr/>
        </p:nvSpPr>
        <p:spPr>
          <a:xfrm>
            <a:off x="7086600" y="1325880"/>
            <a:ext cx="452628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7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Hour 8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15 min scientific reasoning, 30 min timed quiz, 15 min cram-sheet review.</a:t>
            </a:r>
            <a:endParaRPr lang="en-US" sz="1700" dirty="0"/>
          </a:p>
        </p:txBody>
      </p:sp>
      <p:sp>
        <p:nvSpPr>
          <p:cNvPr id="7" name="dot_5"/>
          <p:cNvSpPr/>
          <p:nvPr/>
        </p:nvSpPr>
        <p:spPr>
          <a:xfrm>
            <a:off x="6035040" y="2624328"/>
            <a:ext cx="868680" cy="86868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F0A35E"/>
            </a:solidFill>
            <a:prstDash val="solid"/>
          </a:ln>
        </p:spPr>
      </p:sp>
      <p:pic>
        <p:nvPicPr>
          <p:cNvPr id="8" name="ico_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402" y="2780690"/>
            <a:ext cx="555955" cy="555955"/>
          </a:xfrm>
          <a:prstGeom prst="rect">
            <a:avLst/>
          </a:prstGeom>
        </p:spPr>
      </p:pic>
      <p:sp>
        <p:nvSpPr>
          <p:cNvPr id="9" name="card_7"/>
          <p:cNvSpPr/>
          <p:nvPr/>
        </p:nvSpPr>
        <p:spPr>
          <a:xfrm>
            <a:off x="7086600" y="2532888"/>
            <a:ext cx="452628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7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Score 75%+ on the quiz.</a:t>
            </a:r>
            <a:endParaRPr lang="en-US" sz="1700" dirty="0"/>
          </a:p>
        </p:txBody>
      </p:sp>
      <p:sp>
        <p:nvSpPr>
          <p:cNvPr id="10" name="dot_8"/>
          <p:cNvSpPr/>
          <p:nvPr/>
        </p:nvSpPr>
        <p:spPr>
          <a:xfrm>
            <a:off x="6035040" y="3831336"/>
            <a:ext cx="868680" cy="86868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F0A35E"/>
            </a:solidFill>
            <a:prstDash val="solid"/>
          </a:ln>
        </p:spPr>
      </p:sp>
      <p:pic>
        <p:nvPicPr>
          <p:cNvPr id="11" name="ico_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402" y="3987698"/>
            <a:ext cx="555955" cy="555955"/>
          </a:xfrm>
          <a:prstGeom prst="rect">
            <a:avLst/>
          </a:prstGeom>
        </p:spPr>
      </p:pic>
      <p:sp>
        <p:nvSpPr>
          <p:cNvPr id="12" name="card_10"/>
          <p:cNvSpPr/>
          <p:nvPr/>
        </p:nvSpPr>
        <p:spPr>
          <a:xfrm>
            <a:off x="7086600" y="3739896"/>
            <a:ext cx="4526280" cy="1051560"/>
          </a:xfrm>
          <a:prstGeom prst="roundRect">
            <a:avLst>
              <a:gd name="adj" fmla="val 10435"/>
            </a:avLst>
          </a:prstGeom>
          <a:solidFill>
            <a:srgbClr val="181C40">
              <a:alpha val="7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game</a:t>
            </a:r>
            <a:endParaRPr lang="en-US" sz="17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2EEFF"/>
                </a:solidFill>
              </a:rPr>
              <a:t>Every quiz question in this deck comes from the bootcamp practice quiz; the game has 400 more.</a:t>
            </a:r>
            <a:endParaRPr lang="en-US" sz="1700" dirty="0"/>
          </a:p>
        </p:txBody>
      </p:sp>
      <p:sp>
        <p:nvSpPr>
          <p:cNvPr id="13" name="play_11"/>
          <p:cNvSpPr/>
          <p:nvPr/>
        </p:nvSpPr>
        <p:spPr>
          <a:xfrm>
            <a:off x="548640" y="4434840"/>
            <a:ext cx="5120640" cy="777240"/>
          </a:xfrm>
          <a:prstGeom prst="roundRect">
            <a:avLst>
              <a:gd name="adj" fmla="val 16471"/>
            </a:avLst>
          </a:prstGeom>
          <a:solidFill>
            <a:srgbClr val="E9B949"/>
          </a:solidFill>
          <a:ln>
            <a:solidFill>
              <a:srgbClr val="E9B94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0B0D1C"/>
                </a:solidFill>
                <a:hlinkClick r:id="rId7" tooltip="Open the ga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Play Realms of Anatomica</a:t>
            </a:r>
            <a:endParaRPr lang="en-US" sz="2000" dirty="0"/>
          </a:p>
        </p:txBody>
      </p:sp>
      <p:sp>
        <p:nvSpPr>
          <p:cNvPr id="14" name="key_12"/>
          <p:cNvSpPr txBox="1"/>
          <p:nvPr/>
        </p:nvSpPr>
        <p:spPr>
          <a:xfrm>
            <a:off x="548640" y="5394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B5D6"/>
                </a:solidFill>
              </a:rPr>
              <a:t>The answer key is on the next two slides.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  <p:sndAc>
          <p:stSnd>
            <p:snd r:embed="rId3" name="boom.wav"/>
          </p:stSnd>
        </p:sndAc>
      </p:transition>
    </mc:Choice>
    <mc:Fallback xmlns="">
      <p:transition spd="slow">
        <p:fade/>
        <p:sndAc>
          <p:stSnd>
            <p:snd r:embed="rIdFx1" name="boom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(1–12)</a:t>
            </a:r>
            <a:endParaRPr lang="en-US" sz="3600" dirty="0"/>
          </a:p>
        </p:txBody>
      </p:sp>
      <p:graphicFrame>
        <p:nvGraphicFramePr>
          <p:cNvPr id="77" name="ke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9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9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9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Sagittal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Sagittal = left/right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 · Distal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Farther from where the arm attaches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D · Contractions during labor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Labor amplifies until birth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 · Pulmonary artery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Right ventricle → pulmonary artery → lungs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Pulmonary vein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Pulmonary veins bring O₂-rich blood from the lungs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 · Respiratory alkalosis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Fast breathing blows off CO₂ → pH rises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Dilated pupils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Fight or flight: big pupils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 · Hypothalamus, posterior pituitary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Hypothalamus makes, posterior pituitary releases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Parathyroid hormone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PTH pulls calcium up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 · Stomach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Pepsin + acid in the stomach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Liver, gallbladder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Liver makes, gallbladder stores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Glomerulus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Filtering happens at the glomerulus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7" grpId="0">
        <p:bldAsOne/>
      </p:bldGraphic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(13–24)</a:t>
            </a:r>
            <a:endParaRPr lang="en-US" sz="3600" dirty="0"/>
          </a:p>
        </p:txBody>
      </p:sp>
      <p:graphicFrame>
        <p:nvGraphicFramePr>
          <p:cNvPr id="78" name="ke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9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9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0D1C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B9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 · Osteoclast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Clast = crush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Tendons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Tendon = tug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Sebaceous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Sebaceous = sebum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Natural passive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Borrowed from mom = natural passive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17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 · B cells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B cells → antibodies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Fallopian tube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Fallopian tube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Mitochondria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Power plant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 · 25%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Only bb (1 of 4)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Proton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Protons = atomic number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22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Acidic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Below 7 = acid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B · Plant height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Height depends on fertilizer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EEFF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B949"/>
                          </a:solidFill>
                        </a:rPr>
                        <a:t>C · 2,500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EEFF"/>
                          </a:solidFill>
                        </a:rPr>
                        <a:t>1 L = 1,000 mL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8" grpId="0">
        <p:bldAsOne/>
      </p:bldGraphic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Cram sheet: 20 facts to know cold (1–10)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28016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  </a:t>
            </a:r>
            <a:r>
              <a:rPr lang="en-US" sz="1500" dirty="0">
                <a:solidFill>
                  <a:srgbClr val="F2EEFF"/>
                </a:solidFill>
              </a:rPr>
              <a:t>Blood flow: RA → tricuspid → RV → pulmonary artery → lungs → pulmonary vein → LA → mitral → LV → aorta.</a:t>
            </a:r>
            <a:endParaRPr lang="en-US" sz="2000" dirty="0"/>
          </a:p>
        </p:txBody>
      </p:sp>
      <p:sp>
        <p:nvSpPr>
          <p:cNvPr id="4" name="card_2"/>
          <p:cNvSpPr/>
          <p:nvPr/>
        </p:nvSpPr>
        <p:spPr>
          <a:xfrm>
            <a:off x="6172200" y="128016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2  </a:t>
            </a:r>
            <a:r>
              <a:rPr lang="en-US" sz="1500" dirty="0">
                <a:solidFill>
                  <a:srgbClr val="F2EEFF"/>
                </a:solidFill>
              </a:rPr>
              <a:t>Pulmonary vein = the only vein with oxygenated blood.</a:t>
            </a:r>
            <a:endParaRPr lang="en-US" sz="2000" dirty="0"/>
          </a:p>
        </p:txBody>
      </p:sp>
      <p:sp>
        <p:nvSpPr>
          <p:cNvPr id="5" name="card_3"/>
          <p:cNvSpPr/>
          <p:nvPr/>
        </p:nvSpPr>
        <p:spPr>
          <a:xfrm>
            <a:off x="548640" y="2267712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3  </a:t>
            </a:r>
            <a:r>
              <a:rPr lang="en-US" sz="1500" dirty="0">
                <a:solidFill>
                  <a:srgbClr val="F2EEFF"/>
                </a:solidFill>
              </a:rPr>
              <a:t>Air path: Pharynx, Larynx, Trachea, Bronchi, Bronchioles, Alveoli.</a:t>
            </a:r>
            <a:endParaRPr lang="en-US" sz="2000" dirty="0"/>
          </a:p>
        </p:txBody>
      </p:sp>
      <p:sp>
        <p:nvSpPr>
          <p:cNvPr id="6" name="card_4"/>
          <p:cNvSpPr/>
          <p:nvPr/>
        </p:nvSpPr>
        <p:spPr>
          <a:xfrm>
            <a:off x="6172200" y="2267712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4  </a:t>
            </a:r>
            <a:r>
              <a:rPr lang="en-US" sz="1500" dirty="0">
                <a:solidFill>
                  <a:srgbClr val="F2EEFF"/>
                </a:solidFill>
              </a:rPr>
              <a:t>Blood pH 7.35–7.45. Slow breathing → acidosis; fast → alkalosis.</a:t>
            </a:r>
            <a:endParaRPr lang="en-US" sz="2000" dirty="0"/>
          </a:p>
        </p:txBody>
      </p:sp>
      <p:sp>
        <p:nvSpPr>
          <p:cNvPr id="7" name="card_5"/>
          <p:cNvSpPr/>
          <p:nvPr/>
        </p:nvSpPr>
        <p:spPr>
          <a:xfrm>
            <a:off x="548640" y="3255264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5  </a:t>
            </a:r>
            <a:r>
              <a:rPr lang="en-US" sz="1500" dirty="0">
                <a:solidFill>
                  <a:srgbClr val="F2EEFF"/>
                </a:solidFill>
              </a:rPr>
              <a:t>Sympathetic = fight or flight; parasympathetic = rest and digest.</a:t>
            </a:r>
            <a:endParaRPr lang="en-US" sz="2000" dirty="0"/>
          </a:p>
        </p:txBody>
      </p:sp>
      <p:sp>
        <p:nvSpPr>
          <p:cNvPr id="8" name="card_6"/>
          <p:cNvSpPr/>
          <p:nvPr/>
        </p:nvSpPr>
        <p:spPr>
          <a:xfrm>
            <a:off x="6172200" y="3255264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6  </a:t>
            </a:r>
            <a:r>
              <a:rPr lang="en-US" sz="1500" dirty="0">
                <a:solidFill>
                  <a:srgbClr val="F2EEFF"/>
                </a:solidFill>
              </a:rPr>
              <a:t>SAME: Sensory Afferent, Motor Efferent.</a:t>
            </a:r>
            <a:endParaRPr lang="en-US" sz="2000" dirty="0"/>
          </a:p>
        </p:txBody>
      </p:sp>
      <p:sp>
        <p:nvSpPr>
          <p:cNvPr id="9" name="card_7"/>
          <p:cNvSpPr/>
          <p:nvPr/>
        </p:nvSpPr>
        <p:spPr>
          <a:xfrm>
            <a:off x="548640" y="4242816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7  </a:t>
            </a:r>
            <a:r>
              <a:rPr lang="en-US" sz="1500" dirty="0">
                <a:solidFill>
                  <a:srgbClr val="F2EEFF"/>
                </a:solidFill>
              </a:rPr>
              <a:t>Cerebellum = balance; medulla = breathing and heart rate.</a:t>
            </a:r>
            <a:endParaRPr lang="en-US" sz="2000" dirty="0"/>
          </a:p>
        </p:txBody>
      </p:sp>
      <p:sp>
        <p:nvSpPr>
          <p:cNvPr id="10" name="card_8"/>
          <p:cNvSpPr/>
          <p:nvPr/>
        </p:nvSpPr>
        <p:spPr>
          <a:xfrm>
            <a:off x="6172200" y="4242816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8  </a:t>
            </a:r>
            <a:r>
              <a:rPr lang="en-US" sz="1500" dirty="0">
                <a:solidFill>
                  <a:srgbClr val="F2EEFF"/>
                </a:solidFill>
              </a:rPr>
              <a:t>Hypothalamus makes ADH; posterior pituitary releases it; ADH holds water.</a:t>
            </a:r>
            <a:endParaRPr lang="en-US" sz="2000" dirty="0"/>
          </a:p>
        </p:txBody>
      </p:sp>
      <p:sp>
        <p:nvSpPr>
          <p:cNvPr id="11" name="card_9"/>
          <p:cNvSpPr/>
          <p:nvPr/>
        </p:nvSpPr>
        <p:spPr>
          <a:xfrm>
            <a:off x="548640" y="5230368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9  </a:t>
            </a:r>
            <a:r>
              <a:rPr lang="en-US" sz="1500" dirty="0">
                <a:solidFill>
                  <a:srgbClr val="F2EEFF"/>
                </a:solidFill>
              </a:rPr>
              <a:t>Calcitonin tones calcium down; PTH pulls it up.</a:t>
            </a:r>
            <a:endParaRPr lang="en-US" sz="2000" dirty="0"/>
          </a:p>
        </p:txBody>
      </p:sp>
      <p:sp>
        <p:nvSpPr>
          <p:cNvPr id="12" name="card_10"/>
          <p:cNvSpPr/>
          <p:nvPr/>
        </p:nvSpPr>
        <p:spPr>
          <a:xfrm>
            <a:off x="6172200" y="5230368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10  </a:t>
            </a:r>
            <a:r>
              <a:rPr lang="en-US" sz="1500" dirty="0">
                <a:solidFill>
                  <a:srgbClr val="F2EEFF"/>
                </a:solidFill>
              </a:rPr>
              <a:t>Insulin lowers sugar; glucagon raises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78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Cram sheet: 20 facts to know cold (11–20)</a:t>
            </a:r>
            <a:endParaRPr lang="en-US" sz="3600" dirty="0"/>
          </a:p>
        </p:txBody>
      </p:sp>
      <p:sp>
        <p:nvSpPr>
          <p:cNvPr id="3" name="card_1"/>
          <p:cNvSpPr/>
          <p:nvPr/>
        </p:nvSpPr>
        <p:spPr>
          <a:xfrm>
            <a:off x="548640" y="128016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11  </a:t>
            </a:r>
            <a:r>
              <a:rPr lang="en-US" sz="1500" dirty="0">
                <a:solidFill>
                  <a:srgbClr val="F2EEFF"/>
                </a:solidFill>
              </a:rPr>
              <a:t>Liver makes bile, gallbladder stores it; bile emulsifies fat.</a:t>
            </a:r>
            <a:endParaRPr lang="en-US" sz="2000" dirty="0"/>
          </a:p>
        </p:txBody>
      </p:sp>
      <p:sp>
        <p:nvSpPr>
          <p:cNvPr id="4" name="card_2"/>
          <p:cNvSpPr/>
          <p:nvPr/>
        </p:nvSpPr>
        <p:spPr>
          <a:xfrm>
            <a:off x="6172200" y="128016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12  </a:t>
            </a:r>
            <a:r>
              <a:rPr lang="en-US" sz="1500" dirty="0">
                <a:solidFill>
                  <a:srgbClr val="F2EEFF"/>
                </a:solidFill>
              </a:rPr>
              <a:t>Small intestine absorbs nutrients; large intestine absorbs water.</a:t>
            </a:r>
            <a:endParaRPr lang="en-US" sz="2000" dirty="0"/>
          </a:p>
        </p:txBody>
      </p:sp>
      <p:sp>
        <p:nvSpPr>
          <p:cNvPr id="5" name="card_3"/>
          <p:cNvSpPr/>
          <p:nvPr/>
        </p:nvSpPr>
        <p:spPr>
          <a:xfrm>
            <a:off x="548640" y="2267712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13  </a:t>
            </a:r>
            <a:r>
              <a:rPr lang="en-US" sz="1500" dirty="0">
                <a:solidFill>
                  <a:srgbClr val="F2EEFF"/>
                </a:solidFill>
              </a:rPr>
              <a:t>Kidney → ureter → bladder → urethra; filtering at the glomerulus.</a:t>
            </a:r>
            <a:endParaRPr lang="en-US" sz="2000" dirty="0"/>
          </a:p>
        </p:txBody>
      </p:sp>
      <p:sp>
        <p:nvSpPr>
          <p:cNvPr id="6" name="card_4"/>
          <p:cNvSpPr/>
          <p:nvPr/>
        </p:nvSpPr>
        <p:spPr>
          <a:xfrm>
            <a:off x="6172200" y="2267712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14  </a:t>
            </a:r>
            <a:r>
              <a:rPr lang="en-US" sz="1500" dirty="0">
                <a:solidFill>
                  <a:srgbClr val="F2EEFF"/>
                </a:solidFill>
              </a:rPr>
              <a:t>Blast = build, clast = crush. Ligament = bone–bone; tendon = muscle–bone.</a:t>
            </a:r>
            <a:endParaRPr lang="en-US" sz="2000" dirty="0"/>
          </a:p>
        </p:txBody>
      </p:sp>
      <p:sp>
        <p:nvSpPr>
          <p:cNvPr id="7" name="card_5"/>
          <p:cNvSpPr/>
          <p:nvPr/>
        </p:nvSpPr>
        <p:spPr>
          <a:xfrm>
            <a:off x="548640" y="3255264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15  </a:t>
            </a:r>
            <a:r>
              <a:rPr lang="en-US" sz="1500" dirty="0">
                <a:solidFill>
                  <a:srgbClr val="F2EEFF"/>
                </a:solidFill>
              </a:rPr>
              <a:t>Eccrine = cooling sweat; apocrine = odor; sebaceous = oil.</a:t>
            </a:r>
            <a:endParaRPr lang="en-US" sz="2000" dirty="0"/>
          </a:p>
        </p:txBody>
      </p:sp>
      <p:sp>
        <p:nvSpPr>
          <p:cNvPr id="8" name="card_6"/>
          <p:cNvSpPr/>
          <p:nvPr/>
        </p:nvSpPr>
        <p:spPr>
          <a:xfrm>
            <a:off x="6172200" y="3255264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16  </a:t>
            </a:r>
            <a:r>
              <a:rPr lang="en-US" sz="1500" dirty="0">
                <a:solidFill>
                  <a:srgbClr val="F2EEFF"/>
                </a:solidFill>
              </a:rPr>
              <a:t>Active immunity = your body makes it; passive = borrowed.</a:t>
            </a:r>
            <a:endParaRPr lang="en-US" sz="2000" dirty="0"/>
          </a:p>
        </p:txBody>
      </p:sp>
      <p:sp>
        <p:nvSpPr>
          <p:cNvPr id="9" name="card_7"/>
          <p:cNvSpPr/>
          <p:nvPr/>
        </p:nvSpPr>
        <p:spPr>
          <a:xfrm>
            <a:off x="548640" y="4242816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17  </a:t>
            </a:r>
            <a:r>
              <a:rPr lang="en-US" sz="1500" dirty="0">
                <a:solidFill>
                  <a:srgbClr val="F2EEFF"/>
                </a:solidFill>
              </a:rPr>
              <a:t>B cells → antibodies; T cells kill infected cells; IgG crosses placenta.</a:t>
            </a:r>
            <a:endParaRPr lang="en-US" sz="2000" dirty="0"/>
          </a:p>
        </p:txBody>
      </p:sp>
      <p:sp>
        <p:nvSpPr>
          <p:cNvPr id="10" name="card_8"/>
          <p:cNvSpPr/>
          <p:nvPr/>
        </p:nvSpPr>
        <p:spPr>
          <a:xfrm>
            <a:off x="6172200" y="4242816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18  </a:t>
            </a:r>
            <a:r>
              <a:rPr lang="en-US" sz="1500" dirty="0">
                <a:solidFill>
                  <a:srgbClr val="F2EEFF"/>
                </a:solidFill>
              </a:rPr>
              <a:t>Mitosis = 2 identical (46); meiosis = 4 sex cells (23).</a:t>
            </a:r>
            <a:endParaRPr lang="en-US" sz="2000" dirty="0"/>
          </a:p>
        </p:txBody>
      </p:sp>
      <p:sp>
        <p:nvSpPr>
          <p:cNvPr id="11" name="card_9"/>
          <p:cNvSpPr/>
          <p:nvPr/>
        </p:nvSpPr>
        <p:spPr>
          <a:xfrm>
            <a:off x="548640" y="5230368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19  </a:t>
            </a:r>
            <a:r>
              <a:rPr lang="en-US" sz="1500" dirty="0">
                <a:solidFill>
                  <a:srgbClr val="F2EEFF"/>
                </a:solidFill>
              </a:rPr>
              <a:t>A–T, C–G (RNA: A–U). Ionic = give; covalent = share. pH &lt; 7 acid.</a:t>
            </a:r>
            <a:endParaRPr lang="en-US" sz="2000" dirty="0"/>
          </a:p>
        </p:txBody>
      </p:sp>
      <p:sp>
        <p:nvSpPr>
          <p:cNvPr id="12" name="card_10"/>
          <p:cNvSpPr/>
          <p:nvPr/>
        </p:nvSpPr>
        <p:spPr>
          <a:xfrm>
            <a:off x="6172200" y="5230368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181C40">
              <a:alpha val="80000"/>
            </a:srgbClr>
          </a:solidFill>
          <a:ln w="12700">
            <a:solidFill>
              <a:srgbClr val="2F3566"/>
            </a:solidFill>
          </a:ln>
        </p:spPr>
        <p:txBody>
          <a:bodyPr wrap="square" lIns="127000" tIns="177800" rIns="177800" bIns="1270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949"/>
                </a:solidFill>
              </a:rPr>
              <a:t>20  </a:t>
            </a:r>
            <a:r>
              <a:rPr lang="en-US" sz="1500" dirty="0">
                <a:solidFill>
                  <a:srgbClr val="F2EEFF"/>
                </a:solidFill>
              </a:rPr>
              <a:t>Independent = what I change; dependent = what I measure.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79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Test-day tips</a:t>
            </a:r>
            <a:endParaRPr lang="en-US" sz="3600" dirty="0"/>
          </a:p>
        </p:txBody>
      </p:sp>
      <p:sp>
        <p:nvSpPr>
          <p:cNvPr id="3" name="dot_1"/>
          <p:cNvSpPr/>
          <p:nvPr/>
        </p:nvSpPr>
        <p:spPr>
          <a:xfrm>
            <a:off x="548640" y="1645920"/>
            <a:ext cx="1188720" cy="11887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E9B949"/>
            </a:solidFill>
            <a:prstDash val="solid"/>
          </a:ln>
        </p:spPr>
      </p:sp>
      <p:pic>
        <p:nvPicPr>
          <p:cNvPr id="4" name="ico_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1859890"/>
            <a:ext cx="760781" cy="760781"/>
          </a:xfrm>
          <a:prstGeom prst="rect">
            <a:avLst/>
          </a:prstGeom>
        </p:spPr>
      </p:pic>
      <p:sp>
        <p:nvSpPr>
          <p:cNvPr id="5" name="card_3"/>
          <p:cNvSpPr/>
          <p:nvPr/>
        </p:nvSpPr>
        <p:spPr>
          <a:xfrm>
            <a:off x="1965960" y="137160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minute per question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Flag it and move on; come back later.</a:t>
            </a:r>
            <a:endParaRPr lang="en-US" sz="2000" dirty="0"/>
          </a:p>
        </p:txBody>
      </p:sp>
      <p:sp>
        <p:nvSpPr>
          <p:cNvPr id="6" name="dot_4"/>
          <p:cNvSpPr/>
          <p:nvPr/>
        </p:nvSpPr>
        <p:spPr>
          <a:xfrm>
            <a:off x="6172200" y="1645920"/>
            <a:ext cx="1188720" cy="11887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6FE0D6"/>
            </a:solidFill>
            <a:prstDash val="solid"/>
          </a:ln>
        </p:spPr>
      </p:sp>
      <p:pic>
        <p:nvPicPr>
          <p:cNvPr id="7" name="ico_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170" y="1859890"/>
            <a:ext cx="760781" cy="760781"/>
          </a:xfrm>
          <a:prstGeom prst="rect">
            <a:avLst/>
          </a:prstGeom>
        </p:spPr>
      </p:pic>
      <p:sp>
        <p:nvSpPr>
          <p:cNvPr id="8" name="card_6"/>
          <p:cNvSpPr/>
          <p:nvPr/>
        </p:nvSpPr>
        <p:spPr>
          <a:xfrm>
            <a:off x="7589520" y="137160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"select all that apply" twice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Every right answer must be chosen.</a:t>
            </a:r>
            <a:endParaRPr lang="en-US" sz="2000" dirty="0"/>
          </a:p>
        </p:txBody>
      </p:sp>
      <p:sp>
        <p:nvSpPr>
          <p:cNvPr id="9" name="dot_7"/>
          <p:cNvSpPr/>
          <p:nvPr/>
        </p:nvSpPr>
        <p:spPr>
          <a:xfrm>
            <a:off x="548640" y="3977640"/>
            <a:ext cx="1188720" cy="11887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FF6B4A"/>
            </a:solidFill>
            <a:prstDash val="solid"/>
          </a:ln>
        </p:spPr>
      </p:sp>
      <p:pic>
        <p:nvPicPr>
          <p:cNvPr id="10" name="ico_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10" y="4191610"/>
            <a:ext cx="760781" cy="760781"/>
          </a:xfrm>
          <a:prstGeom prst="rect">
            <a:avLst/>
          </a:prstGeom>
        </p:spPr>
      </p:pic>
      <p:sp>
        <p:nvSpPr>
          <p:cNvPr id="11" name="card_9"/>
          <p:cNvSpPr/>
          <p:nvPr/>
        </p:nvSpPr>
        <p:spPr>
          <a:xfrm>
            <a:off x="1965960" y="370332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two answers first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Then choose between the last two.</a:t>
            </a:r>
            <a:endParaRPr lang="en-US" sz="2000" dirty="0"/>
          </a:p>
        </p:txBody>
      </p:sp>
      <p:sp>
        <p:nvSpPr>
          <p:cNvPr id="12" name="dot_10"/>
          <p:cNvSpPr/>
          <p:nvPr/>
        </p:nvSpPr>
        <p:spPr>
          <a:xfrm>
            <a:off x="6172200" y="3977640"/>
            <a:ext cx="1188720" cy="1188720"/>
          </a:xfrm>
          <a:prstGeom prst="ellipse">
            <a:avLst/>
          </a:prstGeom>
          <a:solidFill>
            <a:srgbClr val="22275A"/>
          </a:solidFill>
          <a:ln w="19050">
            <a:solidFill>
              <a:srgbClr val="7FE0A8"/>
            </a:solidFill>
            <a:prstDash val="solid"/>
          </a:ln>
        </p:spPr>
      </p:sp>
      <p:pic>
        <p:nvPicPr>
          <p:cNvPr id="13" name="ico_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170" y="4191610"/>
            <a:ext cx="760781" cy="760781"/>
          </a:xfrm>
          <a:prstGeom prst="rect">
            <a:avLst/>
          </a:prstGeom>
        </p:spPr>
      </p:pic>
      <p:sp>
        <p:nvSpPr>
          <p:cNvPr id="14" name="card_12"/>
          <p:cNvSpPr/>
          <p:nvPr/>
        </p:nvSpPr>
        <p:spPr>
          <a:xfrm>
            <a:off x="7589520" y="370332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181C40">
              <a:alpha val="92000"/>
            </a:srgbClr>
          </a:solidFill>
          <a:ln w="12700">
            <a:solidFill>
              <a:srgbClr val="2F3566"/>
            </a:solidFill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 wrap="square" lIns="127000" tIns="177800" rIns="177800" bIns="1270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penalty for guessing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F2EEFF"/>
                </a:solidFill>
              </a:rPr>
              <a:t>Never leave a blank.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B5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conquer the realms!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097280" y="32004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Play all 8 realms, lock in your finals, and download your report.</a:t>
            </a:r>
            <a:endParaRPr lang="en-US" sz="2400" dirty="0"/>
          </a:p>
        </p:txBody>
      </p:sp>
      <p:sp>
        <p:nvSpPr>
          <p:cNvPr id="4" name="play_1"/>
          <p:cNvSpPr/>
          <p:nvPr/>
        </p:nvSpPr>
        <p:spPr>
          <a:xfrm>
            <a:off x="4023360" y="4160520"/>
            <a:ext cx="4114800" cy="777240"/>
          </a:xfrm>
          <a:prstGeom prst="roundRect">
            <a:avLst>
              <a:gd name="adj" fmla="val 16471"/>
            </a:avLst>
          </a:prstGeom>
          <a:solidFill>
            <a:srgbClr val="E9B949"/>
          </a:solidFill>
          <a:ln>
            <a:solidFill>
              <a:srgbClr val="E9B94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0B0D1C"/>
                </a:solidFill>
                <a:hlinkClick r:id="rId4" tooltip="Open the ga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Play Realms of Anatomica</a:t>
            </a:r>
            <a:endParaRPr lang="en-US" sz="2000" dirty="0"/>
          </a:p>
        </p:txBody>
      </p:sp>
      <p:sp>
        <p:nvSpPr>
          <p:cNvPr id="5" name="by_2"/>
          <p:cNvSpPr txBox="1"/>
          <p:nvPr/>
        </p:nvSpPr>
        <p:spPr>
          <a:xfrm>
            <a:off x="1097280" y="51663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EEFF"/>
                </a:solidFill>
              </a:rPr>
              <a:t>Dr. Joannes Paulus Tolentino Hernandez  ·  Fall 2026  ·  j.hernandez@amg.edu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3" name="fanfare.wav"/>
          </p:stSnd>
        </p:sndAc>
      </p:transition>
    </mc:Choice>
    <mc:Fallback xmlns="">
      <p:transition spd="slow">
        <p:fade/>
        <p:sndAc>
          <p:stSnd>
            <p:snd r:embed="rIdFx1" name="fanfar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Realms of Anatomica">
  <a:themeElements>
    <a:clrScheme name="Realms of Anatomica">
      <a:dk1>
        <a:srgbClr val="F2EEFF"/>
      </a:dk1>
      <a:lt1>
        <a:srgbClr val="0B0D1C"/>
      </a:lt1>
      <a:dk2>
        <a:srgbClr val="E9B949"/>
      </a:dk2>
      <a:lt2>
        <a:srgbClr val="181C40"/>
      </a:lt2>
      <a:accent1>
        <a:srgbClr val="6FE0D6"/>
      </a:accent1>
      <a:accent2>
        <a:srgbClr val="E9B949"/>
      </a:accent2>
      <a:accent3>
        <a:srgbClr val="B48CFF"/>
      </a:accent3>
      <a:accent4>
        <a:srgbClr val="FF6B4A"/>
      </a:accent4>
      <a:accent5>
        <a:srgbClr val="7FE0A8"/>
      </a:accent5>
      <a:accent6>
        <a:srgbClr val="FF7AC8"/>
      </a:accent6>
      <a:hlink>
        <a:srgbClr val="6FE0D6"/>
      </a:hlink>
      <a:folHlink>
        <a:srgbClr val="B48CFF"/>
      </a:folHlink>
    </a:clrScheme>
    <a:fontScheme name="Realms of Anatomic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9298</Words>
  <Application>Microsoft Office PowerPoint</Application>
  <PresentationFormat>Widescreen</PresentationFormat>
  <Paragraphs>1384</Paragraphs>
  <Slides>81</Slides>
  <Notes>81</Notes>
  <HiddenSlides>0</HiddenSlides>
  <MMClips>13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5" baseType="lpstr">
      <vt:lpstr>Arial</vt:lpstr>
      <vt:lpstr>Calibri</vt:lpstr>
      <vt:lpstr>Cambria</vt:lpstr>
      <vt:lpstr>Realms of Anatomica</vt:lpstr>
      <vt:lpstr>TEAS 7 Science Bootcamp</vt:lpstr>
      <vt:lpstr>TEAS 7 Science Bootcamp</vt:lpstr>
      <vt:lpstr>Your mission: the TEAS science section</vt:lpstr>
      <vt:lpstr>How to win: question types and the study loop</vt:lpstr>
      <vt:lpstr>Bootcamp map: 2 days × 8 realms</vt:lpstr>
      <vt:lpstr>Every hour has the same rhythm</vt:lpstr>
      <vt:lpstr>Play the game: Realms of Anatomica</vt:lpstr>
      <vt:lpstr>Gloomhallow Manor</vt:lpstr>
      <vt:lpstr>Anatomical position &amp; direction pairs</vt:lpstr>
      <vt:lpstr>Planes: "Split Front Top"</vt:lpstr>
      <vt:lpstr>Cavities &amp; the four quadrants</vt:lpstr>
      <vt:lpstr>Levels of organization &amp; the 4 tissues</vt:lpstr>
      <vt:lpstr>Feedback loops</vt:lpstr>
      <vt:lpstr>Boss battle · Hour 1 · Question 1 of 3</vt:lpstr>
      <vt:lpstr>Boss battle · Hour 1 · Question 2 of 3</vt:lpstr>
      <vt:lpstr>Boss battle · Hour 1 · Question 3 of 3</vt:lpstr>
      <vt:lpstr>Emberheart Caldera</vt:lpstr>
      <vt:lpstr>Blood flow: watch the journey</vt:lpstr>
      <vt:lpstr>Blood flow: memorize this order</vt:lpstr>
      <vt:lpstr>Heart must-knows</vt:lpstr>
      <vt:lpstr>What blood carries, and blood pressure</vt:lpstr>
      <vt:lpstr>Lungs: the air path</vt:lpstr>
      <vt:lpstr>Breathing and blood pH</vt:lpstr>
      <vt:lpstr>Boss battle · Hour 2 · Question 1 of 3</vt:lpstr>
      <vt:lpstr>Boss battle · Hour 2 · Question 2 of 3</vt:lpstr>
      <vt:lpstr>Boss battle · Hour 2 · Question 3 of 3</vt:lpstr>
      <vt:lpstr>Stormspire Nexus</vt:lpstr>
      <vt:lpstr>Nervous system: two speeds</vt:lpstr>
      <vt:lpstr>The neuron and the brain map</vt:lpstr>
      <vt:lpstr>Endocrine: gland → hormone</vt:lpstr>
      <vt:lpstr>Mnemonic vault: click to unlock</vt:lpstr>
      <vt:lpstr>Boss battle · Hour 3 · Question 1 of 3</vt:lpstr>
      <vt:lpstr>Boss battle · Hour 3 · Question 2 of 3</vt:lpstr>
      <vt:lpstr>Boss battle · Hour 3 · Question 3 of 3</vt:lpstr>
      <vt:lpstr>The Gumdrop Gut Works</vt:lpstr>
      <vt:lpstr>Digestive system: the food path</vt:lpstr>
      <vt:lpstr>Urinary system: the kidney crew</vt:lpstr>
      <vt:lpstr>Boss battle · Hour 4 · Question 1 of 3</vt:lpstr>
      <vt:lpstr>Boss battle · Hour 4 · Question 2 of 3</vt:lpstr>
      <vt:lpstr>Boss battle · Hour 4 · Question 3 of 3</vt:lpstr>
      <vt:lpstr>Day 1 cleared!</vt:lpstr>
      <vt:lpstr>The Rattling Gymnasium</vt:lpstr>
      <vt:lpstr>Day 2 warm-up: 5-minute rapid recall</vt:lpstr>
      <vt:lpstr>Skeletal system</vt:lpstr>
      <vt:lpstr>Muscular system</vt:lpstr>
      <vt:lpstr>Skin: the integumentary system</vt:lpstr>
      <vt:lpstr>Boss battle · Hour 5 · Question 1 of 3</vt:lpstr>
      <vt:lpstr>Boss battle · Hour 5 · Question 2 of 3</vt:lpstr>
      <vt:lpstr>Boss battle · Hour 5 · Question 3 of 3</vt:lpstr>
      <vt:lpstr>Bastion of Wards</vt:lpstr>
      <vt:lpstr>Immune &amp; lymphatic defenses</vt:lpstr>
      <vt:lpstr>Antibodies: think "G-A-M-E"</vt:lpstr>
      <vt:lpstr>Reproductive system</vt:lpstr>
      <vt:lpstr>Boss battle · Hour 6 · Question 1 of 3</vt:lpstr>
      <vt:lpstr>Boss battle · Hour 6 · Question 2 of 3</vt:lpstr>
      <vt:lpstr>Boss battle · Hour 6 · Question 3 of 3</vt:lpstr>
      <vt:lpstr>The Mad Alchemist's Lab</vt:lpstr>
      <vt:lpstr>The cell is a factory</vt:lpstr>
      <vt:lpstr>Mitosis vs meiosis</vt:lpstr>
      <vt:lpstr>DNA → RNA → protein</vt:lpstr>
      <vt:lpstr>Genetics: the Punnett square</vt:lpstr>
      <vt:lpstr>Macromolecules: "CLiP N"</vt:lpstr>
      <vt:lpstr>The atom: "PEN"</vt:lpstr>
      <vt:lpstr>Bonds &amp; reaction types</vt:lpstr>
      <vt:lpstr>pH, solutions &amp; states of matter</vt:lpstr>
      <vt:lpstr>Boss battle · Hour 7 · Question 1 of 4</vt:lpstr>
      <vt:lpstr>Boss battle · Hour 7 · Question 2 of 4</vt:lpstr>
      <vt:lpstr>Boss battle · Hour 7 · Question 3 of 4</vt:lpstr>
      <vt:lpstr>Boss battle · Hour 7 · Question 4 of 4</vt:lpstr>
      <vt:lpstr>The Sandglass Archive</vt:lpstr>
      <vt:lpstr>Scientific method: "Only Quiet Hippos Eat All Cake"</vt:lpstr>
      <vt:lpstr>The metric staircase</vt:lpstr>
      <vt:lpstr>Boss battle · Hour 8 · Question 1 of 2</vt:lpstr>
      <vt:lpstr>Boss battle · Hour 8 · Question 2 of 2</vt:lpstr>
      <vt:lpstr>Final boss: the timed practice quiz</vt:lpstr>
      <vt:lpstr>Answer key (1–12)</vt:lpstr>
      <vt:lpstr>Answer key (13–24)</vt:lpstr>
      <vt:lpstr>Cram sheet: 20 facts to know cold (1–10)</vt:lpstr>
      <vt:lpstr>Cram sheet: 20 facts to know cold (11–20)</vt:lpstr>
      <vt:lpstr>Test-day tips</vt:lpstr>
      <vt:lpstr>Go conquer the realms!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TEAS 7 Science Bootcamp</dc:title>
  <dc:subject>Anatomy &amp; Physiology + Nursing Science Review</dc:subject>
  <dc:creator>Dr. Joannes Paulus Tolentino Hernandez</dc:creator>
  <cp:lastModifiedBy>JOANNES PAULUS HERNANDEZ</cp:lastModifiedBy>
  <cp:revision>2</cp:revision>
  <dcterms:created xsi:type="dcterms:W3CDTF">2026-10-15T12:43:57Z</dcterms:created>
  <dcterms:modified xsi:type="dcterms:W3CDTF">2026-10-15T12:45:17Z</dcterms:modified>
</cp:coreProperties>
</file>